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71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71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41248" y="1234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EB0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EB00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MENSUAL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77824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1426"/>
                </a:solidFill>
              </a:rPr>
              <a:t>Levantamiento y análisis de plataformas digitales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7824" y="3429000"/>
            <a:ext cx="2468880" cy="347472"/>
          </a:xfrm>
          <a:prstGeom prst="rect">
            <a:avLst/>
          </a:prstGeom>
          <a:solidFill>
            <a:srgbClr val="EB00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Maicao · Marzo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59984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80"/>
                </a:solidFill>
              </a:rPr>
              <a:t>Versión reestructurada para lectura ejecutiva y visual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80960" y="502920"/>
            <a:ext cx="3566160" cy="3566160"/>
          </a:xfrm>
          <a:prstGeom prst="arc">
            <a:avLst/>
          </a:prstGeom>
          <a:noFill/>
          <a:ln w="12700">
            <a:solidFill>
              <a:srgbClr val="EB008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543800" y="1143000"/>
            <a:ext cx="1691640" cy="1691640"/>
          </a:xfrm>
          <a:prstGeom prst="ellipse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616952" y="1616659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16,5M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16952" y="2124151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Visualizaciones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235440" y="2331720"/>
            <a:ext cx="1508760" cy="1508760"/>
          </a:xfrm>
          <a:prstGeom prst="ellipse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308592" y="2754173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8,2M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08592" y="3206801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Alcance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09560" y="3794760"/>
            <a:ext cx="1325880" cy="132588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982712" y="4166006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110,7K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82712" y="456377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Interacciones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195560" y="6080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B008B"/>
                </a:solidFill>
              </a:rPr>
              <a:t>maicao+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9168C"/>
          </a:solidFill>
          <a:ln w="12700">
            <a:solidFill>
              <a:srgbClr val="E916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73152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E9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E9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maicao+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4048" y="603504"/>
            <a:ext cx="51206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ejecutivo: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316736"/>
            <a:ext cx="2148840" cy="969264"/>
          </a:xfrm>
          <a:prstGeom prst="roundRect">
            <a:avLst>
              <a:gd name="adj" fmla="val 7547"/>
            </a:avLst>
          </a:prstGeom>
          <a:solidFill>
            <a:srgbClr val="F6F5FA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81328"/>
            <a:ext cx="18196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VISUALIZACIONES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1755648"/>
            <a:ext cx="18196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E9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16.486.179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2121408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2FB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24,5% vs febrero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898648" y="1316736"/>
            <a:ext cx="2148840" cy="969264"/>
          </a:xfrm>
          <a:prstGeom prst="roundRect">
            <a:avLst>
              <a:gd name="adj" fmla="val 7547"/>
            </a:avLst>
          </a:prstGeom>
          <a:solidFill>
            <a:srgbClr val="F6F5FA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481328"/>
            <a:ext cx="18196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63240" y="1755648"/>
            <a:ext cx="18196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8.211.420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63240" y="2121408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2FB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0,2% vs febrero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193792" y="1316736"/>
            <a:ext cx="2148840" cy="969264"/>
          </a:xfrm>
          <a:prstGeom prst="roundRect">
            <a:avLst>
              <a:gd name="adj" fmla="val 7547"/>
            </a:avLst>
          </a:prstGeom>
          <a:solidFill>
            <a:srgbClr val="F6F5FA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481328"/>
            <a:ext cx="18196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58384" y="1755648"/>
            <a:ext cx="18196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C9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58384" y="2121408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C9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−53,5% vs febrero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488936" y="1316736"/>
            <a:ext cx="2148840" cy="969264"/>
          </a:xfrm>
          <a:prstGeom prst="roundRect">
            <a:avLst>
              <a:gd name="adj" fmla="val 7547"/>
            </a:avLst>
          </a:prstGeom>
          <a:solidFill>
            <a:srgbClr val="F6F5FA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3528" y="1481328"/>
            <a:ext cx="18196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53528" y="1755648"/>
            <a:ext cx="18196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6B5C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110.695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53528" y="2121408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C9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−53,0% vs febrero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784080" y="1316736"/>
            <a:ext cx="2148840" cy="969264"/>
          </a:xfrm>
          <a:prstGeom prst="roundRect">
            <a:avLst>
              <a:gd name="adj" fmla="val 7547"/>
            </a:avLst>
          </a:prstGeom>
          <a:solidFill>
            <a:srgbClr val="F6F5FA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8672" y="1481328"/>
            <a:ext cx="181965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948672" y="1755648"/>
            <a:ext cx="18196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E9A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$3.800.400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48672" y="2121408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2FB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78,4% vs febrero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03504" y="2788920"/>
            <a:ext cx="1645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E9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NEGOCIO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3504" y="3054096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Febrero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3877056"/>
            <a:ext cx="658368" cy="1792224"/>
          </a:xfrm>
          <a:prstGeom prst="rect">
            <a:avLst/>
          </a:prstGeom>
          <a:solidFill>
            <a:srgbClr val="DFE2E8"/>
          </a:solidFill>
          <a:ln w="12700">
            <a:solidFill>
              <a:srgbClr val="DFE2E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694176"/>
            <a:ext cx="74980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13,2M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5779008"/>
            <a:ext cx="9326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Feb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03120" y="3429000"/>
            <a:ext cx="658368" cy="2240280"/>
          </a:xfrm>
          <a:prstGeom prst="rect">
            <a:avLst/>
          </a:prstGeom>
          <a:solidFill>
            <a:srgbClr val="E9168C"/>
          </a:solidFill>
          <a:ln w="12700">
            <a:solidFill>
              <a:srgbClr val="E9168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3246120"/>
            <a:ext cx="74980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16,5M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65960" y="5779008"/>
            <a:ext cx="9326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Mar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99232" y="3364992"/>
            <a:ext cx="0" cy="2514600"/>
          </a:xfrm>
          <a:prstGeom prst="line">
            <a:avLst/>
          </a:prstGeom>
          <a:noFill/>
          <a:ln w="12700">
            <a:solidFill>
              <a:srgbClr val="E7E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4142232"/>
            <a:ext cx="539862" cy="1527048"/>
          </a:xfrm>
          <a:prstGeom prst="rect">
            <a:avLst/>
          </a:prstGeom>
          <a:solidFill>
            <a:srgbClr val="DFE2E8"/>
          </a:solidFill>
          <a:ln w="12700">
            <a:solidFill>
              <a:srgbClr val="DFE2E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72968" y="3959352"/>
            <a:ext cx="7680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235,7K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90672" y="5779008"/>
            <a:ext cx="9326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 Feb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51960" y="4893887"/>
            <a:ext cx="539862" cy="775393"/>
          </a:xfrm>
          <a:prstGeom prst="rect">
            <a:avLst/>
          </a:prstGeom>
          <a:solidFill>
            <a:srgbClr val="6B5CEB"/>
          </a:solidFill>
          <a:ln w="12700">
            <a:solidFill>
              <a:srgbClr val="6B5CE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78808" y="4711007"/>
            <a:ext cx="7680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B1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110,7K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96512" y="5779008"/>
            <a:ext cx="9326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dirty="0">
                <a:solidFill>
                  <a:srgbClr val="6E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 Mar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06440" y="3017520"/>
            <a:ext cx="5440680" cy="2468880"/>
          </a:xfrm>
          <a:prstGeom prst="roundRect">
            <a:avLst>
              <a:gd name="adj" fmla="val 2222"/>
            </a:avLst>
          </a:prstGeom>
          <a:solidFill>
            <a:srgbClr val="0B1026"/>
          </a:solidFill>
          <a:ln w="6350">
            <a:solidFill>
              <a:srgbClr val="0B10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493008"/>
            <a:ext cx="46634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inversión amplificó la visibilidad, pero el</a:t>
            </a:r>
            <a:endParaRPr lang="en-US" sz="15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cayó por cambio de contexto: de</a:t>
            </a:r>
            <a:endParaRPr lang="en-US" sz="15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festivales/verano a vuelta a la rutina. La prioridad</a:t>
            </a:r>
            <a:endParaRPr lang="en-US" sz="15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es retención y conversación, no solo alcance.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44768" y="4818888"/>
            <a:ext cx="1691640" cy="484632"/>
          </a:xfrm>
          <a:prstGeom prst="roundRect">
            <a:avLst>
              <a:gd name="adj" fmla="val 11321"/>
            </a:avLst>
          </a:prstGeom>
          <a:solidFill>
            <a:srgbClr val="E9A400"/>
          </a:solidFill>
          <a:ln w="6350">
            <a:solidFill>
              <a:srgbClr val="E9A4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4946904"/>
            <a:ext cx="1600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alcance pagado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01000" y="4818888"/>
            <a:ext cx="1874520" cy="484632"/>
          </a:xfrm>
          <a:prstGeom prst="roundRect">
            <a:avLst>
              <a:gd name="adj" fmla="val 11321"/>
            </a:avLst>
          </a:prstGeom>
          <a:solidFill>
            <a:srgbClr val="C94A63"/>
          </a:solidFill>
          <a:ln w="6350">
            <a:solidFill>
              <a:srgbClr val="C94A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4946904"/>
            <a:ext cx="1783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chispa orgánica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040112" y="4818888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E9168C"/>
          </a:solidFill>
          <a:ln w="6350">
            <a:solidFill>
              <a:srgbClr val="E916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85832" y="4946904"/>
            <a:ext cx="868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motor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cambió: de volumen a profundidad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</a:rPr>
              <a:t>CAUSA → EFECTO → DECISIÓN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880360" cy="3383280"/>
          </a:xfrm>
          <a:prstGeom prst="roundRect">
            <a:avLst>
              <a:gd name="adj" fmla="val 254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008B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426"/>
                </a:solidFill>
              </a:rPr>
              <a:t>Cambio de temporada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La conversación espontánea bajó al salir de hitos de alto interés como festivales/verano.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1426"/>
                </a:solidFill>
              </a:rPr>
              <a:t>ER Feb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94560" y="381304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194560" y="381304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01122" y="3776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7280"/>
                </a:solidFill>
              </a:rPr>
              <a:t>2.9%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0120" y="4142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1426"/>
                </a:solidFill>
              </a:rPr>
              <a:t>ER Mar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94560" y="417880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194560" y="4178808"/>
            <a:ext cx="614855" cy="118872"/>
          </a:xfrm>
          <a:prstGeom prst="rect">
            <a:avLst/>
          </a:prstGeom>
          <a:solidFill>
            <a:srgbClr val="C74363"/>
          </a:solidFill>
          <a:ln w="12700">
            <a:solidFill>
              <a:srgbClr val="C743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01124" y="41422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/>
              <a:t>1.3%</a:t>
            </a:r>
          </a:p>
        </p:txBody>
      </p:sp>
      <p:sp>
        <p:nvSpPr>
          <p:cNvPr id="20" name="Shape 18"/>
          <p:cNvSpPr/>
          <p:nvPr/>
        </p:nvSpPr>
        <p:spPr>
          <a:xfrm>
            <a:off x="3840480" y="1600200"/>
            <a:ext cx="2880360" cy="3383280"/>
          </a:xfrm>
          <a:prstGeom prst="roundRect">
            <a:avLst>
              <a:gd name="adj" fmla="val 254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069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008B"/>
                </a:solidFill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26280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426"/>
                </a:solidFill>
              </a:rPr>
              <a:t>Inversión crece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El paid empuja visibilidad (+24,5% views), pero diluye la tasa al abrir públicos menos fidelizados.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69080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1426"/>
                </a:solidFill>
              </a:rPr>
              <a:t>Ppto Feb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0" y="381304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303520" y="3813048"/>
            <a:ext cx="768737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64760" y="3776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7280"/>
                </a:solidFill>
              </a:rPr>
              <a:t>2.130.000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69080" y="4142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1426"/>
                </a:solidFill>
              </a:rPr>
              <a:t>Ppto Mar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03520" y="417880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303520" y="4178808"/>
            <a:ext cx="1371600" cy="118872"/>
          </a:xfrm>
          <a:prstGeom prst="rect">
            <a:avLst/>
          </a:prstGeom>
          <a:solidFill>
            <a:srgbClr val="E9A300"/>
          </a:solidFill>
          <a:ln w="12700">
            <a:solidFill>
              <a:srgbClr val="E9A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53605" y="41422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/>
              <a:t>3.800.400</a:t>
            </a:r>
          </a:p>
        </p:txBody>
      </p:sp>
      <p:sp>
        <p:nvSpPr>
          <p:cNvPr id="32" name="Shape 30"/>
          <p:cNvSpPr/>
          <p:nvPr/>
        </p:nvSpPr>
        <p:spPr>
          <a:xfrm>
            <a:off x="6949440" y="1600200"/>
            <a:ext cx="2880360" cy="3383280"/>
          </a:xfrm>
          <a:prstGeom prst="roundRect">
            <a:avLst>
              <a:gd name="adj" fmla="val 254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1780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008B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35240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426"/>
                </a:solidFill>
              </a:rPr>
              <a:t>Nuevo mix creativo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514600"/>
            <a:ext cx="2331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EGC, UGC y creators acercan la marca. Los contenidos útiles y auténticos son los que más se guardan/comentan.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78040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1426"/>
                </a:solidFill>
              </a:rPr>
              <a:t>Cont Feb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412480" y="381304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412480" y="3813048"/>
            <a:ext cx="1230923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9574438" y="3776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7280"/>
                </a:solidFill>
              </a:rPr>
              <a:t>140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4142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1426"/>
                </a:solidFill>
              </a:rPr>
              <a:t>Cont Mar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12480" y="4178808"/>
            <a:ext cx="1371600" cy="118872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412480" y="4178808"/>
            <a:ext cx="1371600" cy="118872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585591" y="41422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/>
              <a:t>156</a:t>
            </a:r>
          </a:p>
        </p:txBody>
      </p:sp>
      <p:sp>
        <p:nvSpPr>
          <p:cNvPr id="44" name="Shape 42"/>
          <p:cNvSpPr/>
          <p:nvPr/>
        </p:nvSpPr>
        <p:spPr>
          <a:xfrm>
            <a:off x="594360" y="553212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8680" y="5705856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Decisión recomendada: mantener escala, pero rediseñar el contenido para retener: hooks de 3 segundos + contenido útil + CTA conversacional.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Portafolio de canales: rol claro por plataforma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021455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Visualizaciones por canal</a:t>
            </a:r>
            <a:endParaRPr lang="en-US" sz="950" dirty="0"/>
          </a:p>
        </p:txBody>
      </p:sp>
      <p:sp>
        <p:nvSpPr>
          <p:cNvPr id="8" name="bar_channel_views_ig"/>
          <p:cNvSpPr/>
          <p:nvPr/>
        </p:nvSpPr>
        <p:spPr>
          <a:xfrm>
            <a:off x="928116" y="1417320"/>
            <a:ext cx="704088" cy="192024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0956" y="341071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Instagram</a:t>
            </a:r>
            <a:endParaRPr lang="en-US" sz="750" dirty="0"/>
          </a:p>
        </p:txBody>
      </p:sp>
      <p:sp>
        <p:nvSpPr>
          <p:cNvPr id="10" name="label_channel_views_ig"/>
          <p:cNvSpPr/>
          <p:nvPr/>
        </p:nvSpPr>
        <p:spPr>
          <a:xfrm>
            <a:off x="745236" y="119944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8,2M</a:t>
            </a:r>
            <a:endParaRPr lang="en-US" sz="750" dirty="0"/>
          </a:p>
        </p:txBody>
      </p:sp>
      <p:sp>
        <p:nvSpPr>
          <p:cNvPr id="11" name="bar_channel_views_fb"/>
          <p:cNvSpPr/>
          <p:nvPr/>
        </p:nvSpPr>
        <p:spPr>
          <a:xfrm>
            <a:off x="2208276" y="2585595"/>
            <a:ext cx="704088" cy="751965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071116" y="341071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Facebook</a:t>
            </a:r>
            <a:endParaRPr lang="en-US" sz="750" dirty="0"/>
          </a:p>
        </p:txBody>
      </p:sp>
      <p:sp>
        <p:nvSpPr>
          <p:cNvPr id="13" name="label_channel_views_fb"/>
          <p:cNvSpPr/>
          <p:nvPr/>
        </p:nvSpPr>
        <p:spPr>
          <a:xfrm>
            <a:off x="2025396" y="2367715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3,2M</a:t>
            </a:r>
            <a:endParaRPr lang="en-US" sz="750" dirty="0"/>
          </a:p>
        </p:txBody>
      </p:sp>
      <p:sp>
        <p:nvSpPr>
          <p:cNvPr id="14" name="bar_channel_views_tt"/>
          <p:cNvSpPr/>
          <p:nvPr/>
        </p:nvSpPr>
        <p:spPr>
          <a:xfrm>
            <a:off x="3488436" y="2282508"/>
            <a:ext cx="704088" cy="105505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51276" y="341071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TikTok</a:t>
            </a:r>
            <a:endParaRPr lang="en-US" sz="750" dirty="0"/>
          </a:p>
        </p:txBody>
      </p:sp>
      <p:sp>
        <p:nvSpPr>
          <p:cNvPr id="16" name="label_channel_views_tt"/>
          <p:cNvSpPr/>
          <p:nvPr/>
        </p:nvSpPr>
        <p:spPr>
          <a:xfrm>
            <a:off x="3305556" y="206462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4,5M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0" y="1021455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Alcance por canal</a:t>
            </a:r>
            <a:endParaRPr lang="en-US" sz="950" dirty="0"/>
          </a:p>
        </p:txBody>
      </p:sp>
      <p:sp>
        <p:nvSpPr>
          <p:cNvPr id="18" name="bar_channel_reach_ig"/>
          <p:cNvSpPr/>
          <p:nvPr/>
        </p:nvSpPr>
        <p:spPr>
          <a:xfrm>
            <a:off x="4818888" y="1417320"/>
            <a:ext cx="603504" cy="192024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81728" y="341071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Instagram</a:t>
            </a:r>
            <a:endParaRPr lang="en-US" sz="750" dirty="0"/>
          </a:p>
        </p:txBody>
      </p:sp>
      <p:sp>
        <p:nvSpPr>
          <p:cNvPr id="20" name="label_channel_reach_ig"/>
          <p:cNvSpPr/>
          <p:nvPr/>
        </p:nvSpPr>
        <p:spPr>
          <a:xfrm>
            <a:off x="4636008" y="119944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4,0M</a:t>
            </a:r>
            <a:endParaRPr lang="en-US" sz="750" dirty="0"/>
          </a:p>
        </p:txBody>
      </p:sp>
      <p:sp>
        <p:nvSpPr>
          <p:cNvPr id="21" name="bar_channel_reach_fb"/>
          <p:cNvSpPr/>
          <p:nvPr/>
        </p:nvSpPr>
        <p:spPr>
          <a:xfrm>
            <a:off x="5916168" y="2414187"/>
            <a:ext cx="603504" cy="923373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779008" y="341071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Facebook</a:t>
            </a:r>
            <a:endParaRPr lang="en-US" sz="750" dirty="0"/>
          </a:p>
        </p:txBody>
      </p:sp>
      <p:sp>
        <p:nvSpPr>
          <p:cNvPr id="23" name="label_channel_reach_fb"/>
          <p:cNvSpPr/>
          <p:nvPr/>
        </p:nvSpPr>
        <p:spPr>
          <a:xfrm>
            <a:off x="5733288" y="2196307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1,9M</a:t>
            </a:r>
            <a:endParaRPr lang="en-US" sz="750" dirty="0"/>
          </a:p>
        </p:txBody>
      </p:sp>
      <p:sp>
        <p:nvSpPr>
          <p:cNvPr id="24" name="bar_channel_reach_tt"/>
          <p:cNvSpPr/>
          <p:nvPr/>
        </p:nvSpPr>
        <p:spPr>
          <a:xfrm>
            <a:off x="7013448" y="2414500"/>
            <a:ext cx="603504" cy="9230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76288" y="341071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TikTok</a:t>
            </a:r>
            <a:endParaRPr lang="en-US" sz="750" dirty="0"/>
          </a:p>
        </p:txBody>
      </p:sp>
      <p:sp>
        <p:nvSpPr>
          <p:cNvPr id="26" name="label_channel_reach_tt"/>
          <p:cNvSpPr/>
          <p:nvPr/>
        </p:nvSpPr>
        <p:spPr>
          <a:xfrm>
            <a:off x="6830568" y="219662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1,9M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138160" y="1021455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E.R. por canal</a:t>
            </a:r>
            <a:endParaRPr lang="en-US" sz="950" dirty="0"/>
          </a:p>
        </p:txBody>
      </p:sp>
      <p:sp>
        <p:nvSpPr>
          <p:cNvPr id="28" name="bar_channel_er_ig"/>
          <p:cNvSpPr/>
          <p:nvPr/>
        </p:nvSpPr>
        <p:spPr>
          <a:xfrm>
            <a:off x="8350758" y="1417320"/>
            <a:ext cx="519684" cy="192024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13598" y="3410712"/>
            <a:ext cx="794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Instagram</a:t>
            </a:r>
            <a:endParaRPr lang="en-US" sz="750" dirty="0"/>
          </a:p>
        </p:txBody>
      </p:sp>
      <p:sp>
        <p:nvSpPr>
          <p:cNvPr id="30" name="label_channel_er_ig"/>
          <p:cNvSpPr/>
          <p:nvPr/>
        </p:nvSpPr>
        <p:spPr>
          <a:xfrm>
            <a:off x="8167878" y="1199440"/>
            <a:ext cx="8854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1,4%</a:t>
            </a:r>
            <a:endParaRPr lang="en-US" sz="750" dirty="0"/>
          </a:p>
        </p:txBody>
      </p:sp>
      <p:sp>
        <p:nvSpPr>
          <p:cNvPr id="31" name="bar_channel_er_fb"/>
          <p:cNvSpPr/>
          <p:nvPr/>
        </p:nvSpPr>
        <p:spPr>
          <a:xfrm>
            <a:off x="9295638" y="3063240"/>
            <a:ext cx="519684" cy="274320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58478" y="3410712"/>
            <a:ext cx="794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Facebook</a:t>
            </a:r>
            <a:endParaRPr lang="en-US" sz="750" dirty="0"/>
          </a:p>
        </p:txBody>
      </p:sp>
      <p:sp>
        <p:nvSpPr>
          <p:cNvPr id="33" name="label_channel_er_fb"/>
          <p:cNvSpPr/>
          <p:nvPr/>
        </p:nvSpPr>
        <p:spPr>
          <a:xfrm>
            <a:off x="9112758" y="2845360"/>
            <a:ext cx="8854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0,2%</a:t>
            </a:r>
            <a:endParaRPr lang="en-US" sz="750" dirty="0"/>
          </a:p>
        </p:txBody>
      </p:sp>
      <p:sp>
        <p:nvSpPr>
          <p:cNvPr id="34" name="bar_channel_er_tt"/>
          <p:cNvSpPr/>
          <p:nvPr/>
        </p:nvSpPr>
        <p:spPr>
          <a:xfrm>
            <a:off x="10240518" y="2103120"/>
            <a:ext cx="519684" cy="12344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103358" y="3410712"/>
            <a:ext cx="794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TikTok</a:t>
            </a:r>
            <a:endParaRPr lang="en-US" sz="750" dirty="0"/>
          </a:p>
        </p:txBody>
      </p:sp>
      <p:sp>
        <p:nvSpPr>
          <p:cNvPr id="36" name="label_channel_er_tt"/>
          <p:cNvSpPr/>
          <p:nvPr/>
        </p:nvSpPr>
        <p:spPr>
          <a:xfrm>
            <a:off x="10057638" y="1885240"/>
            <a:ext cx="8854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0,9%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7240" y="4041648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60120" y="4251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008B"/>
                </a:solidFill>
              </a:rPr>
              <a:t>Instagram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4553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21426"/>
                </a:solidFill>
              </a:rPr>
              <a:t>Inspiración + cultura pop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49011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E7280"/>
                </a:solidFill>
              </a:rPr>
              <a:t>332.382 seguidores · 58.723 interacciones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3400" y="4041648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526280" y="4251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4A"/>
                </a:solidFill>
              </a:rPr>
              <a:t>Facebook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26280" y="4553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21426"/>
                </a:solidFill>
              </a:rPr>
              <a:t>Comunidad masiva + ofertas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26280" y="49011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E7280"/>
                </a:solidFill>
              </a:rPr>
              <a:t>565.501 seguidores · 4.656 interacciones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09560" y="4041648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092440" y="4251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</a:rPr>
              <a:t>TikTok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092440" y="4553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21426"/>
                </a:solidFill>
              </a:rPr>
              <a:t>Descubrimiento + contenido útil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92440" y="49011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E7280"/>
                </a:solidFill>
              </a:rPr>
              <a:t>30.120 seguidores · 17.148 interacciones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7240" y="577900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426"/>
                </a:solidFill>
              </a:rPr>
              <a:t>Lectura: IG concentra visibilidad e interacción; Facebook sostiene comunidad y alcance eficiente; TikTok es la apuesta de crecimiento cualitativo por autenticidad.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Instagram: visibilidad alta con engagement moderado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SEGUIDORES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B008B"/>
                </a:solidFill>
              </a:rPr>
              <a:t>332.382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841249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A37A"/>
                </a:solidFill>
              </a:rPr>
              <a:t>+1.389 vs mes anterior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816352" y="128930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CONTENIDOS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16352" y="155448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B008B"/>
                </a:solidFill>
              </a:rPr>
              <a:t>92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1844142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A37A"/>
                </a:solidFill>
              </a:rPr>
              <a:t>+10 vs febrero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5196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16552" y="128930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16552" y="155448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C74363"/>
                </a:solidFill>
              </a:rPr>
              <a:t>1,4%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16552" y="1840193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74363"/>
                </a:solidFill>
              </a:rPr>
              <a:t>antes 3,2%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5216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01675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PRESUPUESTO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1675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9A300"/>
                </a:solidFill>
              </a:rPr>
              <a:t>$1.670.000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16752" y="1840193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A37A"/>
                </a:solidFill>
              </a:rPr>
              <a:t>antes $850.000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118735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Mix de formatos</a:t>
            </a:r>
            <a:endParaRPr lang="en-US" sz="950" dirty="0"/>
          </a:p>
        </p:txBody>
      </p:sp>
      <p:sp>
        <p:nvSpPr>
          <p:cNvPr id="24" name="bar_ig_mix_stories"/>
          <p:cNvSpPr/>
          <p:nvPr/>
        </p:nvSpPr>
        <p:spPr>
          <a:xfrm>
            <a:off x="859536" y="2514600"/>
            <a:ext cx="536448" cy="1554480"/>
          </a:xfrm>
          <a:prstGeom prst="rect">
            <a:avLst/>
          </a:prstGeom>
          <a:solidFill>
            <a:srgbClr val="FF6BBF"/>
          </a:solidFill>
          <a:ln w="12700">
            <a:solidFill>
              <a:srgbClr val="FF6B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22376" y="4142232"/>
            <a:ext cx="810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Stories</a:t>
            </a:r>
            <a:endParaRPr lang="en-US" sz="750" dirty="0"/>
          </a:p>
        </p:txBody>
      </p:sp>
      <p:sp>
        <p:nvSpPr>
          <p:cNvPr id="26" name="label_ig_mix_stories"/>
          <p:cNvSpPr/>
          <p:nvPr/>
        </p:nvSpPr>
        <p:spPr>
          <a:xfrm>
            <a:off x="676656" y="2296720"/>
            <a:ext cx="902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68</a:t>
            </a:r>
            <a:endParaRPr lang="en-US" sz="750" dirty="0"/>
          </a:p>
        </p:txBody>
      </p:sp>
      <p:sp>
        <p:nvSpPr>
          <p:cNvPr id="27" name="bar_ig_mix_reels"/>
          <p:cNvSpPr/>
          <p:nvPr/>
        </p:nvSpPr>
        <p:spPr>
          <a:xfrm>
            <a:off x="1834896" y="3771900"/>
            <a:ext cx="536448" cy="29718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697736" y="4142232"/>
            <a:ext cx="810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Reels</a:t>
            </a:r>
            <a:endParaRPr lang="en-US" sz="750" dirty="0"/>
          </a:p>
        </p:txBody>
      </p:sp>
      <p:sp>
        <p:nvSpPr>
          <p:cNvPr id="29" name="label_ig_mix_reels"/>
          <p:cNvSpPr/>
          <p:nvPr/>
        </p:nvSpPr>
        <p:spPr>
          <a:xfrm>
            <a:off x="1652016" y="3554020"/>
            <a:ext cx="902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13</a:t>
            </a:r>
            <a:endParaRPr lang="en-US" sz="750" dirty="0"/>
          </a:p>
        </p:txBody>
      </p:sp>
      <p:sp>
        <p:nvSpPr>
          <p:cNvPr id="30" name="bar_ig_mix_carousels"/>
          <p:cNvSpPr/>
          <p:nvPr/>
        </p:nvSpPr>
        <p:spPr>
          <a:xfrm>
            <a:off x="2810256" y="3840480"/>
            <a:ext cx="536448" cy="228600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673096" y="4142232"/>
            <a:ext cx="810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Carruseles</a:t>
            </a:r>
            <a:endParaRPr lang="en-US" sz="750" dirty="0"/>
          </a:p>
        </p:txBody>
      </p:sp>
      <p:sp>
        <p:nvSpPr>
          <p:cNvPr id="32" name="label_ig_mix_carousels"/>
          <p:cNvSpPr/>
          <p:nvPr/>
        </p:nvSpPr>
        <p:spPr>
          <a:xfrm>
            <a:off x="2627376" y="3622600"/>
            <a:ext cx="902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977640" y="2107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Top 3 contenido / views</a:t>
            </a:r>
            <a:endParaRPr lang="en-US" sz="950" dirty="0"/>
          </a:p>
        </p:txBody>
      </p:sp>
      <p:sp>
        <p:nvSpPr>
          <p:cNvPr id="34" name="bar_ig_top_1"/>
          <p:cNvSpPr/>
          <p:nvPr/>
        </p:nvSpPr>
        <p:spPr>
          <a:xfrm>
            <a:off x="4251960" y="2680166"/>
            <a:ext cx="670560" cy="1388914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114800" y="4142232"/>
            <a:ext cx="94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Bubble Maybelline</a:t>
            </a:r>
            <a:endParaRPr lang="en-US" sz="750" dirty="0"/>
          </a:p>
        </p:txBody>
      </p:sp>
      <p:sp>
        <p:nvSpPr>
          <p:cNvPr id="36" name="label_ig_top_1"/>
          <p:cNvSpPr/>
          <p:nvPr/>
        </p:nvSpPr>
        <p:spPr>
          <a:xfrm>
            <a:off x="4069080" y="246228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1,51M</a:t>
            </a:r>
            <a:endParaRPr lang="en-US" sz="750" dirty="0"/>
          </a:p>
        </p:txBody>
      </p:sp>
      <p:sp>
        <p:nvSpPr>
          <p:cNvPr id="37" name="bar_ig_top_2"/>
          <p:cNvSpPr/>
          <p:nvPr/>
        </p:nvSpPr>
        <p:spPr>
          <a:xfrm>
            <a:off x="5471160" y="3367265"/>
            <a:ext cx="670560" cy="701815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334000" y="4142232"/>
            <a:ext cx="94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Check Bienvenida</a:t>
            </a:r>
            <a:endParaRPr lang="en-US" sz="750" dirty="0"/>
          </a:p>
        </p:txBody>
      </p:sp>
      <p:sp>
        <p:nvSpPr>
          <p:cNvPr id="39" name="label_ig_top_2"/>
          <p:cNvSpPr/>
          <p:nvPr/>
        </p:nvSpPr>
        <p:spPr>
          <a:xfrm>
            <a:off x="5288280" y="3149385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763K</a:t>
            </a:r>
            <a:endParaRPr lang="en-US" sz="750" dirty="0"/>
          </a:p>
        </p:txBody>
      </p:sp>
      <p:sp>
        <p:nvSpPr>
          <p:cNvPr id="40" name="bar_ig_top_3"/>
          <p:cNvSpPr/>
          <p:nvPr/>
        </p:nvSpPr>
        <p:spPr>
          <a:xfrm>
            <a:off x="6690360" y="2514600"/>
            <a:ext cx="670560" cy="15544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553200" y="4142232"/>
            <a:ext cx="94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Make up SAMY</a:t>
            </a:r>
            <a:endParaRPr lang="en-US" sz="750" dirty="0"/>
          </a:p>
        </p:txBody>
      </p:sp>
      <p:sp>
        <p:nvSpPr>
          <p:cNvPr id="42" name="label_ig_top_3"/>
          <p:cNvSpPr/>
          <p:nvPr/>
        </p:nvSpPr>
        <p:spPr>
          <a:xfrm>
            <a:off x="6507480" y="2296720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1,69M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38160" y="1143000"/>
            <a:ext cx="2880360" cy="4023360"/>
          </a:xfrm>
          <a:prstGeom prst="roundRect">
            <a:avLst>
              <a:gd name="adj" fmla="val 254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412480" y="1417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426"/>
                </a:solidFill>
              </a:rPr>
              <a:t>Qué funcionó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412480" y="1828800"/>
            <a:ext cx="23317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• Colaboraciones con creadoras: empujan comentarios desde sus comunidades.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• Cultura pop y educativo: contenido tipo “Te enseño a…” genera valor y conversión.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• Audiencia femenina dominante: 92,3% mujeres; mayor foco 25-34.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412480" y="3611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008B"/>
                </a:solidFill>
              </a:rPr>
              <a:t>Optimización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12480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Pasar de piezas aisladas a series guardables: tutoriales, comparativas, hacks y CTA de conversación.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5712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Facebook: liderazgo comunitario y respuesta a ofertas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SEGUIDORES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294A"/>
                </a:solidFill>
              </a:rPr>
              <a:t>565.501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4826" y="1874227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A37A"/>
                </a:solidFill>
              </a:rPr>
              <a:t>+430 vs mes anterior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81635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VIEWS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1635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294A"/>
                </a:solidFill>
              </a:rPr>
              <a:t>3.223.306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04350" y="1878045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A37A"/>
                </a:solidFill>
              </a:rPr>
              <a:t>69,2% aprox vs febrero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2803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ALCANCE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294A"/>
                </a:solidFill>
              </a:rPr>
              <a:t>1.905.477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50892" y="187534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A37A"/>
                </a:solidFill>
              </a:rPr>
              <a:t>70,1% aprox vs febrero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39712" y="128930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39712" y="155448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C74363"/>
                </a:solidFill>
              </a:rPr>
              <a:t>0,2%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0570" y="1874227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74363"/>
                </a:solidFill>
              </a:rPr>
              <a:t>antes 0,3%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118735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Top 3: views</a:t>
            </a:r>
            <a:endParaRPr lang="en-US" sz="950" dirty="0"/>
          </a:p>
        </p:txBody>
      </p:sp>
      <p:sp>
        <p:nvSpPr>
          <p:cNvPr id="24" name="bar_fb_top_1"/>
          <p:cNvSpPr/>
          <p:nvPr/>
        </p:nvSpPr>
        <p:spPr>
          <a:xfrm>
            <a:off x="897255" y="2530099"/>
            <a:ext cx="628650" cy="1630421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60095" y="4233672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Prod. $1.000</a:t>
            </a:r>
            <a:endParaRPr lang="en-US" sz="750" dirty="0"/>
          </a:p>
        </p:txBody>
      </p:sp>
      <p:sp>
        <p:nvSpPr>
          <p:cNvPr id="26" name="label_fb_top_1"/>
          <p:cNvSpPr/>
          <p:nvPr/>
        </p:nvSpPr>
        <p:spPr>
          <a:xfrm>
            <a:off x="714375" y="2312219"/>
            <a:ext cx="994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526K</a:t>
            </a:r>
            <a:endParaRPr lang="en-US" sz="750" dirty="0"/>
          </a:p>
        </p:txBody>
      </p:sp>
      <p:sp>
        <p:nvSpPr>
          <p:cNvPr id="27" name="bar_fb_top_2"/>
          <p:cNvSpPr/>
          <p:nvPr/>
        </p:nvSpPr>
        <p:spPr>
          <a:xfrm>
            <a:off x="2040255" y="2585893"/>
            <a:ext cx="628650" cy="1574627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903095" y="4233672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Máscara Bubble</a:t>
            </a:r>
            <a:endParaRPr lang="en-US" sz="750" dirty="0"/>
          </a:p>
        </p:txBody>
      </p:sp>
      <p:sp>
        <p:nvSpPr>
          <p:cNvPr id="29" name="label_fb_top_2"/>
          <p:cNvSpPr/>
          <p:nvPr/>
        </p:nvSpPr>
        <p:spPr>
          <a:xfrm>
            <a:off x="1857375" y="2368013"/>
            <a:ext cx="994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508K</a:t>
            </a:r>
            <a:endParaRPr lang="en-US" sz="750" dirty="0"/>
          </a:p>
        </p:txBody>
      </p:sp>
      <p:sp>
        <p:nvSpPr>
          <p:cNvPr id="30" name="bar_fb_top_3"/>
          <p:cNvSpPr/>
          <p:nvPr/>
        </p:nvSpPr>
        <p:spPr>
          <a:xfrm>
            <a:off x="3183255" y="2514600"/>
            <a:ext cx="628650" cy="16459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046095" y="4233672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SAMY</a:t>
            </a:r>
            <a:endParaRPr lang="en-US" sz="750" dirty="0"/>
          </a:p>
        </p:txBody>
      </p:sp>
      <p:sp>
        <p:nvSpPr>
          <p:cNvPr id="32" name="label_fb_top_3"/>
          <p:cNvSpPr/>
          <p:nvPr/>
        </p:nvSpPr>
        <p:spPr>
          <a:xfrm>
            <a:off x="3000375" y="2296720"/>
            <a:ext cx="994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531K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80560" y="2118735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Formatos publicados</a:t>
            </a:r>
            <a:endParaRPr lang="en-US" sz="950" dirty="0"/>
          </a:p>
        </p:txBody>
      </p:sp>
      <p:sp>
        <p:nvSpPr>
          <p:cNvPr id="34" name="bar_fb_format_stories"/>
          <p:cNvSpPr/>
          <p:nvPr/>
        </p:nvSpPr>
        <p:spPr>
          <a:xfrm>
            <a:off x="4660583" y="2514600"/>
            <a:ext cx="440055" cy="1645920"/>
          </a:xfrm>
          <a:prstGeom prst="rect">
            <a:avLst/>
          </a:prstGeom>
          <a:solidFill>
            <a:srgbClr val="FF6BBF"/>
          </a:solidFill>
          <a:ln w="12700">
            <a:solidFill>
              <a:srgbClr val="FF6B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523423" y="4233672"/>
            <a:ext cx="7143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Stories</a:t>
            </a:r>
            <a:endParaRPr lang="en-US" sz="750" dirty="0"/>
          </a:p>
        </p:txBody>
      </p:sp>
      <p:sp>
        <p:nvSpPr>
          <p:cNvPr id="36" name="label_fb_format_stories"/>
          <p:cNvSpPr/>
          <p:nvPr/>
        </p:nvSpPr>
        <p:spPr>
          <a:xfrm>
            <a:off x="4477703" y="2296720"/>
            <a:ext cx="8058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19</a:t>
            </a:r>
            <a:endParaRPr lang="en-US" sz="750" dirty="0"/>
          </a:p>
        </p:txBody>
      </p:sp>
      <p:sp>
        <p:nvSpPr>
          <p:cNvPr id="37" name="bar_fb_format_reels"/>
          <p:cNvSpPr/>
          <p:nvPr/>
        </p:nvSpPr>
        <p:spPr>
          <a:xfrm>
            <a:off x="5460683" y="3380874"/>
            <a:ext cx="440055" cy="779646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323523" y="4233672"/>
            <a:ext cx="7143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Reels</a:t>
            </a:r>
            <a:endParaRPr lang="en-US" sz="750" dirty="0"/>
          </a:p>
        </p:txBody>
      </p:sp>
      <p:sp>
        <p:nvSpPr>
          <p:cNvPr id="39" name="label_fb_format_reels"/>
          <p:cNvSpPr/>
          <p:nvPr/>
        </p:nvSpPr>
        <p:spPr>
          <a:xfrm>
            <a:off x="5277803" y="3162994"/>
            <a:ext cx="8058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9</a:t>
            </a:r>
            <a:endParaRPr lang="en-US" sz="750" dirty="0"/>
          </a:p>
        </p:txBody>
      </p:sp>
      <p:sp>
        <p:nvSpPr>
          <p:cNvPr id="40" name="bar_fb_format_carousels"/>
          <p:cNvSpPr/>
          <p:nvPr/>
        </p:nvSpPr>
        <p:spPr>
          <a:xfrm>
            <a:off x="6260783" y="3987266"/>
            <a:ext cx="440055" cy="17325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123623" y="4233672"/>
            <a:ext cx="7143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Carruseles</a:t>
            </a:r>
            <a:endParaRPr lang="en-US" sz="750" dirty="0"/>
          </a:p>
        </p:txBody>
      </p:sp>
      <p:sp>
        <p:nvSpPr>
          <p:cNvPr id="42" name="label_fb_format_carousels"/>
          <p:cNvSpPr/>
          <p:nvPr/>
        </p:nvSpPr>
        <p:spPr>
          <a:xfrm>
            <a:off x="6077903" y="3769386"/>
            <a:ext cx="8058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2</a:t>
            </a:r>
            <a:endParaRPr lang="en-US" sz="750" dirty="0"/>
          </a:p>
        </p:txBody>
      </p:sp>
      <p:sp>
        <p:nvSpPr>
          <p:cNvPr id="43" name="bar_fb_format_post"/>
          <p:cNvSpPr/>
          <p:nvPr/>
        </p:nvSpPr>
        <p:spPr>
          <a:xfrm>
            <a:off x="7060883" y="4073893"/>
            <a:ext cx="440055" cy="86627"/>
          </a:xfrm>
          <a:prstGeom prst="rect">
            <a:avLst/>
          </a:prstGeom>
          <a:solidFill>
            <a:srgbClr val="E9A300"/>
          </a:solidFill>
          <a:ln w="12700">
            <a:solidFill>
              <a:srgbClr val="E9A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923723" y="4233672"/>
            <a:ext cx="7143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Post</a:t>
            </a:r>
            <a:endParaRPr lang="en-US" sz="750" dirty="0"/>
          </a:p>
        </p:txBody>
      </p:sp>
      <p:sp>
        <p:nvSpPr>
          <p:cNvPr id="45" name="label_fb_format_post"/>
          <p:cNvSpPr/>
          <p:nvPr/>
        </p:nvSpPr>
        <p:spPr>
          <a:xfrm>
            <a:off x="6878003" y="3856013"/>
            <a:ext cx="8058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138160" y="1508760"/>
            <a:ext cx="2834640" cy="3611880"/>
          </a:xfrm>
          <a:prstGeom prst="roundRect">
            <a:avLst>
              <a:gd name="adj" fmla="val 2581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366760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426"/>
                </a:solidFill>
              </a:rPr>
              <a:t>Lectura visual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36676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Facebook sigue siendo el canal de comunidad más grande. Las piezas de oferta generan mayor reacción y conversación, especialmente cuando el beneficio es directo.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66760" y="36758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008B"/>
                </a:solidFill>
              </a:rPr>
              <a:t>Nota de data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366760" y="4041648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Las stories no tienen totales completos por error de plataforma antes del 20 de marzo.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TikTok: motor de visibilidad y autenticidad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SEGUIDORES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</a:rPr>
              <a:t>30.120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881759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A37A"/>
                </a:solidFill>
              </a:rPr>
              <a:t>+2.768 vs mes anterior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81635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VIEWS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1635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</a:rPr>
              <a:t>4.522.490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1874903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A37A"/>
                </a:solidFill>
              </a:rPr>
              <a:t>15,7% vs febrero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2803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INTERACCIONES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</a:rPr>
              <a:t>17.148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18888" y="1877193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A37A"/>
                </a:solidFill>
              </a:rPr>
              <a:t>7,8% vs febrero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39712" y="128930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39712" y="155448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A37A"/>
                </a:solidFill>
              </a:rPr>
              <a:t>0,9%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21043" y="1881759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A37A"/>
                </a:solidFill>
              </a:rPr>
              <a:t>antes 0,7%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11873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Público por edad</a:t>
            </a:r>
            <a:endParaRPr lang="en-US" sz="950" dirty="0"/>
          </a:p>
        </p:txBody>
      </p:sp>
      <p:sp>
        <p:nvSpPr>
          <p:cNvPr id="24" name="bar_tt_age_18_24"/>
          <p:cNvSpPr/>
          <p:nvPr/>
        </p:nvSpPr>
        <p:spPr>
          <a:xfrm>
            <a:off x="804672" y="2514600"/>
            <a:ext cx="402336" cy="16002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7512" y="41879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18-24</a:t>
            </a:r>
            <a:endParaRPr lang="en-US" sz="750" dirty="0"/>
          </a:p>
        </p:txBody>
      </p:sp>
      <p:sp>
        <p:nvSpPr>
          <p:cNvPr id="26" name="label_tt_age_18_24"/>
          <p:cNvSpPr/>
          <p:nvPr/>
        </p:nvSpPr>
        <p:spPr>
          <a:xfrm>
            <a:off x="621792" y="229672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36%</a:t>
            </a:r>
            <a:endParaRPr lang="en-US" sz="750" dirty="0"/>
          </a:p>
        </p:txBody>
      </p:sp>
      <p:sp>
        <p:nvSpPr>
          <p:cNvPr id="27" name="bar_tt_age_25_34"/>
          <p:cNvSpPr/>
          <p:nvPr/>
        </p:nvSpPr>
        <p:spPr>
          <a:xfrm>
            <a:off x="1536192" y="2692400"/>
            <a:ext cx="402336" cy="142240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399032" y="41879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25-34</a:t>
            </a:r>
            <a:endParaRPr lang="en-US" sz="750" dirty="0"/>
          </a:p>
        </p:txBody>
      </p:sp>
      <p:sp>
        <p:nvSpPr>
          <p:cNvPr id="29" name="label_tt_age_25_34"/>
          <p:cNvSpPr/>
          <p:nvPr/>
        </p:nvSpPr>
        <p:spPr>
          <a:xfrm>
            <a:off x="1353312" y="247452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32%</a:t>
            </a:r>
            <a:endParaRPr lang="en-US" sz="750" dirty="0"/>
          </a:p>
        </p:txBody>
      </p:sp>
      <p:sp>
        <p:nvSpPr>
          <p:cNvPr id="30" name="bar_tt_age_35_44"/>
          <p:cNvSpPr/>
          <p:nvPr/>
        </p:nvSpPr>
        <p:spPr>
          <a:xfrm>
            <a:off x="2267712" y="3536950"/>
            <a:ext cx="402336" cy="577850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130552" y="41879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35-44</a:t>
            </a:r>
            <a:endParaRPr lang="en-US" sz="750" dirty="0"/>
          </a:p>
        </p:txBody>
      </p:sp>
      <p:sp>
        <p:nvSpPr>
          <p:cNvPr id="32" name="label_tt_age_35_44"/>
          <p:cNvSpPr/>
          <p:nvPr/>
        </p:nvSpPr>
        <p:spPr>
          <a:xfrm>
            <a:off x="2084832" y="331907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13%</a:t>
            </a:r>
            <a:endParaRPr lang="en-US" sz="750" dirty="0"/>
          </a:p>
        </p:txBody>
      </p:sp>
      <p:sp>
        <p:nvSpPr>
          <p:cNvPr id="33" name="bar_tt_age_45_54"/>
          <p:cNvSpPr/>
          <p:nvPr/>
        </p:nvSpPr>
        <p:spPr>
          <a:xfrm>
            <a:off x="2999232" y="3759200"/>
            <a:ext cx="402336" cy="355600"/>
          </a:xfrm>
          <a:prstGeom prst="rect">
            <a:avLst/>
          </a:prstGeom>
          <a:solidFill>
            <a:srgbClr val="E6E7EB"/>
          </a:solidFill>
          <a:ln w="12700">
            <a:solidFill>
              <a:srgbClr val="E6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862072" y="41879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45-54</a:t>
            </a:r>
            <a:endParaRPr lang="en-US" sz="750" dirty="0"/>
          </a:p>
        </p:txBody>
      </p:sp>
      <p:sp>
        <p:nvSpPr>
          <p:cNvPr id="35" name="label_tt_age_45_54"/>
          <p:cNvSpPr/>
          <p:nvPr/>
        </p:nvSpPr>
        <p:spPr>
          <a:xfrm>
            <a:off x="2816352" y="354132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8%</a:t>
            </a:r>
            <a:endParaRPr lang="en-US" sz="750" dirty="0"/>
          </a:p>
        </p:txBody>
      </p:sp>
      <p:sp>
        <p:nvSpPr>
          <p:cNvPr id="36" name="bar_tt_age_55"/>
          <p:cNvSpPr/>
          <p:nvPr/>
        </p:nvSpPr>
        <p:spPr>
          <a:xfrm>
            <a:off x="3730752" y="3670300"/>
            <a:ext cx="402336" cy="444500"/>
          </a:xfrm>
          <a:prstGeom prst="rect">
            <a:avLst/>
          </a:prstGeom>
          <a:solidFill>
            <a:srgbClr val="E9A300"/>
          </a:solidFill>
          <a:ln w="12700">
            <a:solidFill>
              <a:srgbClr val="E9A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593592" y="41879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55+</a:t>
            </a:r>
            <a:endParaRPr lang="en-US" sz="750" dirty="0"/>
          </a:p>
        </p:txBody>
      </p:sp>
      <p:sp>
        <p:nvSpPr>
          <p:cNvPr id="38" name="label_tt_age_55"/>
          <p:cNvSpPr/>
          <p:nvPr/>
        </p:nvSpPr>
        <p:spPr>
          <a:xfrm>
            <a:off x="3547872" y="345242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10%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09160" y="2118735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Top 3: interacciones</a:t>
            </a:r>
            <a:endParaRPr lang="en-US" sz="950" dirty="0"/>
          </a:p>
        </p:txBody>
      </p:sp>
      <p:sp>
        <p:nvSpPr>
          <p:cNvPr id="40" name="bar_tt_top_1"/>
          <p:cNvSpPr/>
          <p:nvPr/>
        </p:nvSpPr>
        <p:spPr>
          <a:xfrm>
            <a:off x="4959477" y="2514600"/>
            <a:ext cx="611886" cy="16002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822317" y="4187952"/>
            <a:ext cx="8862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Maquillaje principiantes</a:t>
            </a:r>
            <a:endParaRPr lang="en-US" sz="750" dirty="0"/>
          </a:p>
        </p:txBody>
      </p:sp>
      <p:sp>
        <p:nvSpPr>
          <p:cNvPr id="42" name="label_tt_top_1"/>
          <p:cNvSpPr/>
          <p:nvPr/>
        </p:nvSpPr>
        <p:spPr>
          <a:xfrm>
            <a:off x="4776597" y="2296720"/>
            <a:ext cx="977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2.880</a:t>
            </a:r>
            <a:endParaRPr lang="en-US" sz="750" dirty="0"/>
          </a:p>
        </p:txBody>
      </p:sp>
      <p:sp>
        <p:nvSpPr>
          <p:cNvPr id="43" name="bar_tt_top_2"/>
          <p:cNvSpPr/>
          <p:nvPr/>
        </p:nvSpPr>
        <p:spPr>
          <a:xfrm>
            <a:off x="6071997" y="3764757"/>
            <a:ext cx="611886" cy="350043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934837" y="4187952"/>
            <a:ext cx="8862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EGC Garnier</a:t>
            </a:r>
            <a:endParaRPr lang="en-US" sz="750" dirty="0"/>
          </a:p>
        </p:txBody>
      </p:sp>
      <p:sp>
        <p:nvSpPr>
          <p:cNvPr id="45" name="label_tt_top_2"/>
          <p:cNvSpPr/>
          <p:nvPr/>
        </p:nvSpPr>
        <p:spPr>
          <a:xfrm>
            <a:off x="5889117" y="3546877"/>
            <a:ext cx="977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630</a:t>
            </a:r>
            <a:endParaRPr lang="en-US" sz="750" dirty="0"/>
          </a:p>
        </p:txBody>
      </p:sp>
      <p:sp>
        <p:nvSpPr>
          <p:cNvPr id="46" name="bar_tt_top_3"/>
          <p:cNvSpPr/>
          <p:nvPr/>
        </p:nvSpPr>
        <p:spPr>
          <a:xfrm>
            <a:off x="7184517" y="3344149"/>
            <a:ext cx="611886" cy="770651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047357" y="4187952"/>
            <a:ext cx="8862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UGC hábitos piel</a:t>
            </a:r>
            <a:endParaRPr lang="en-US" sz="750" dirty="0"/>
          </a:p>
        </p:txBody>
      </p:sp>
      <p:sp>
        <p:nvSpPr>
          <p:cNvPr id="48" name="label_tt_top_3"/>
          <p:cNvSpPr/>
          <p:nvPr/>
        </p:nvSpPr>
        <p:spPr>
          <a:xfrm>
            <a:off x="7001637" y="3126269"/>
            <a:ext cx="977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1.387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366760" y="114300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59536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426"/>
                </a:solidFill>
              </a:rPr>
              <a:t>Principio de contenido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95360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Funciona cuando habla el lenguaje de la plataforma: auténtico, real, educativo y menos publicitario.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595360" y="3127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Oportunidad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595360" y="3502152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Replicar contenidos de trabajadoras y formatos con datos, precios y beneficios concretos. Potenciar CTA a comentar, guardar y seguir.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TikTok: mix creativo por objetivo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373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426"/>
                </a:solidFill>
              </a:rPr>
              <a:t>Volumen para alcance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68796" y="1234440"/>
            <a:ext cx="4649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426"/>
                </a:solidFill>
              </a:rPr>
              <a:t>Profundidad para interacción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2926080" cy="3840480"/>
          </a:xfrm>
          <a:prstGeom prst="roundRect">
            <a:avLst>
              <a:gd name="adj" fmla="val 25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CE7"/>
                </a:solidFill>
              </a:rPr>
              <a:t>UGC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</a:rPr>
              <a:t>3,1M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2953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views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</a:rPr>
              <a:t>7.222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2953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interacciones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2588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</a:rPr>
              <a:t>0,5%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40507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2331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Volumen, frecuencia y exposición continua.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691640"/>
            <a:ext cx="2926080" cy="3840480"/>
          </a:xfrm>
          <a:prstGeom prst="roundRect">
            <a:avLst>
              <a:gd name="adj" fmla="val 25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43484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B008B"/>
                </a:solidFill>
              </a:rPr>
              <a:t>EGC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008B"/>
                </a:solidFill>
              </a:rPr>
              <a:t>1,2M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0" y="2953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views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4924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008B"/>
                </a:solidFill>
              </a:rPr>
              <a:t>2.166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2953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interacciones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008B"/>
                </a:solidFill>
              </a:rPr>
              <a:t>0,6%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0" y="40507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26280" y="4709160"/>
            <a:ext cx="2331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Cercanía, confianza y conversación con consejeras.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1691640"/>
            <a:ext cx="2926080" cy="3840480"/>
          </a:xfrm>
          <a:prstGeom prst="roundRect">
            <a:avLst>
              <a:gd name="adj" fmla="val 25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95528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94A"/>
                </a:solidFill>
              </a:rPr>
              <a:t>Extras y campañas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1812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94A"/>
                </a:solidFill>
              </a:rPr>
              <a:t>0,3M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818120" y="2953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views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6968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94A"/>
                </a:solidFill>
              </a:rPr>
              <a:t>7.760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0" y="29535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interacciones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6676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94A"/>
                </a:solidFill>
              </a:rPr>
              <a:t>3,0%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66760" y="40507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709160"/>
            <a:ext cx="2331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1426"/>
                </a:solidFill>
              </a:rPr>
              <a:t>Menor volumen, mayor engagement por oportunidad cultural.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58978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426"/>
                </a:solidFill>
              </a:rPr>
              <a:t>Lectura: UGC debe seguir alimentando volumen; EGC debe usarse para confianza; campañas deben seleccionarse por oportunidad de conversación, no solo por calendario.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41503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Squad: menos volumen de perfiles grandes, buen amortiguador con Disley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VIEWS SQUAD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B008B"/>
                </a:solidFill>
              </a:rPr>
              <a:t>4.637.075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85598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74363"/>
                </a:solidFill>
              </a:rPr>
              <a:t>antes 5.568.079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81635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ALCANCE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1635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B008B"/>
                </a:solidFill>
              </a:rPr>
              <a:t>2.020.826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18516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74363"/>
                </a:solidFill>
              </a:rPr>
              <a:t>antes 3.768.390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28032" y="128930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INTERACCIONES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15544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</a:rPr>
              <a:t>60.146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28032" y="185598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7280"/>
                </a:solidFill>
              </a:rPr>
              <a:t>alta concentración Skar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39712" y="128930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E7280"/>
                </a:solidFill>
              </a:rPr>
              <a:t>E.R.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39712" y="155448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C74363"/>
                </a:solidFill>
              </a:rPr>
              <a:t>3,0%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9712" y="1822679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74363"/>
                </a:solidFill>
              </a:rPr>
              <a:t>antes 4,4%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1214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Views por integrante</a:t>
            </a:r>
            <a:endParaRPr lang="en-US" sz="950" dirty="0"/>
          </a:p>
        </p:txBody>
      </p:sp>
      <p:sp>
        <p:nvSpPr>
          <p:cNvPr id="24" name="bar_squad_views_skar"/>
          <p:cNvSpPr/>
          <p:nvPr/>
        </p:nvSpPr>
        <p:spPr>
          <a:xfrm>
            <a:off x="858679" y="2514600"/>
            <a:ext cx="534353" cy="173736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21519" y="4325112"/>
            <a:ext cx="8086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Skarleth</a:t>
            </a:r>
            <a:endParaRPr lang="en-US" sz="750" dirty="0"/>
          </a:p>
        </p:txBody>
      </p:sp>
      <p:sp>
        <p:nvSpPr>
          <p:cNvPr id="26" name="label_squad_views_skar"/>
          <p:cNvSpPr/>
          <p:nvPr/>
        </p:nvSpPr>
        <p:spPr>
          <a:xfrm>
            <a:off x="675799" y="2296720"/>
            <a:ext cx="9001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2,1M</a:t>
            </a:r>
            <a:endParaRPr lang="en-US" sz="750" dirty="0"/>
          </a:p>
        </p:txBody>
      </p:sp>
      <p:sp>
        <p:nvSpPr>
          <p:cNvPr id="27" name="bar_squad_views_busquilla"/>
          <p:cNvSpPr/>
          <p:nvPr/>
        </p:nvSpPr>
        <p:spPr>
          <a:xfrm>
            <a:off x="1830229" y="4177566"/>
            <a:ext cx="534353" cy="74394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693069" y="4325112"/>
            <a:ext cx="8086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Busquilla</a:t>
            </a:r>
            <a:endParaRPr lang="en-US" sz="750" dirty="0"/>
          </a:p>
        </p:txBody>
      </p:sp>
      <p:sp>
        <p:nvSpPr>
          <p:cNvPr id="29" name="label_squad_views_busquilla"/>
          <p:cNvSpPr/>
          <p:nvPr/>
        </p:nvSpPr>
        <p:spPr>
          <a:xfrm>
            <a:off x="1647349" y="3959686"/>
            <a:ext cx="9001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88K</a:t>
            </a:r>
            <a:endParaRPr lang="en-US" sz="750" dirty="0"/>
          </a:p>
        </p:txBody>
      </p:sp>
      <p:sp>
        <p:nvSpPr>
          <p:cNvPr id="30" name="bar_squad_views_cami"/>
          <p:cNvSpPr/>
          <p:nvPr/>
        </p:nvSpPr>
        <p:spPr>
          <a:xfrm>
            <a:off x="2801779" y="3565078"/>
            <a:ext cx="534353" cy="68688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664619" y="4325112"/>
            <a:ext cx="8086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Cami</a:t>
            </a:r>
            <a:endParaRPr lang="en-US" sz="750" dirty="0"/>
          </a:p>
        </p:txBody>
      </p:sp>
      <p:sp>
        <p:nvSpPr>
          <p:cNvPr id="32" name="label_squad_views_cami"/>
          <p:cNvSpPr/>
          <p:nvPr/>
        </p:nvSpPr>
        <p:spPr>
          <a:xfrm>
            <a:off x="2618899" y="3347198"/>
            <a:ext cx="9001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811K</a:t>
            </a:r>
            <a:endParaRPr lang="en-US" sz="750" dirty="0"/>
          </a:p>
        </p:txBody>
      </p:sp>
      <p:sp>
        <p:nvSpPr>
          <p:cNvPr id="33" name="bar_squad_views_disley"/>
          <p:cNvSpPr/>
          <p:nvPr/>
        </p:nvSpPr>
        <p:spPr>
          <a:xfrm>
            <a:off x="3773329" y="2824896"/>
            <a:ext cx="534353" cy="1427064"/>
          </a:xfrm>
          <a:prstGeom prst="rect">
            <a:avLst/>
          </a:prstGeom>
          <a:solidFill>
            <a:srgbClr val="E9A300"/>
          </a:solidFill>
          <a:ln w="12700">
            <a:solidFill>
              <a:srgbClr val="E9A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636169" y="4325112"/>
            <a:ext cx="8086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Disley</a:t>
            </a:r>
            <a:endParaRPr lang="en-US" sz="750" dirty="0"/>
          </a:p>
        </p:txBody>
      </p:sp>
      <p:sp>
        <p:nvSpPr>
          <p:cNvPr id="35" name="label_squad_views_disley"/>
          <p:cNvSpPr/>
          <p:nvPr/>
        </p:nvSpPr>
        <p:spPr>
          <a:xfrm>
            <a:off x="3590449" y="2607016"/>
            <a:ext cx="9001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1,7M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76334" y="2121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426"/>
                </a:solidFill>
              </a:rPr>
              <a:t>E.R. por integrante</a:t>
            </a:r>
            <a:endParaRPr lang="en-US" sz="950" dirty="0"/>
          </a:p>
        </p:txBody>
      </p:sp>
      <p:sp>
        <p:nvSpPr>
          <p:cNvPr id="37" name="bar_squad_er_skar"/>
          <p:cNvSpPr/>
          <p:nvPr/>
        </p:nvSpPr>
        <p:spPr>
          <a:xfrm>
            <a:off x="5082350" y="2514600"/>
            <a:ext cx="465201" cy="1737360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945189" y="4325112"/>
            <a:ext cx="7395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Skarleth</a:t>
            </a:r>
            <a:endParaRPr lang="en-US" sz="750" dirty="0"/>
          </a:p>
        </p:txBody>
      </p:sp>
      <p:sp>
        <p:nvSpPr>
          <p:cNvPr id="39" name="label_squad_er_skar"/>
          <p:cNvSpPr/>
          <p:nvPr/>
        </p:nvSpPr>
        <p:spPr>
          <a:xfrm>
            <a:off x="4899469" y="2296720"/>
            <a:ext cx="83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4,5%</a:t>
            </a:r>
            <a:endParaRPr lang="en-US" sz="750" dirty="0"/>
          </a:p>
        </p:txBody>
      </p:sp>
      <p:sp>
        <p:nvSpPr>
          <p:cNvPr id="40" name="bar_squad_er_busquilla"/>
          <p:cNvSpPr/>
          <p:nvPr/>
        </p:nvSpPr>
        <p:spPr>
          <a:xfrm>
            <a:off x="5928169" y="3827272"/>
            <a:ext cx="465201" cy="424688"/>
          </a:xfrm>
          <a:prstGeom prst="rect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791009" y="4325112"/>
            <a:ext cx="7395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Busquilla</a:t>
            </a:r>
            <a:endParaRPr lang="en-US" sz="750" dirty="0"/>
          </a:p>
        </p:txBody>
      </p:sp>
      <p:sp>
        <p:nvSpPr>
          <p:cNvPr id="42" name="label_squad_er_busquilla"/>
          <p:cNvSpPr/>
          <p:nvPr/>
        </p:nvSpPr>
        <p:spPr>
          <a:xfrm>
            <a:off x="5745289" y="3609392"/>
            <a:ext cx="83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1,1%</a:t>
            </a:r>
            <a:endParaRPr lang="en-US" sz="750" dirty="0"/>
          </a:p>
        </p:txBody>
      </p:sp>
      <p:sp>
        <p:nvSpPr>
          <p:cNvPr id="43" name="bar_squad_er_cami"/>
          <p:cNvSpPr/>
          <p:nvPr/>
        </p:nvSpPr>
        <p:spPr>
          <a:xfrm>
            <a:off x="6773989" y="3943096"/>
            <a:ext cx="465201" cy="308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636829" y="4325112"/>
            <a:ext cx="7395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Cami</a:t>
            </a:r>
            <a:endParaRPr lang="en-US" sz="750" dirty="0"/>
          </a:p>
        </p:txBody>
      </p:sp>
      <p:sp>
        <p:nvSpPr>
          <p:cNvPr id="45" name="label_squad_er_cami"/>
          <p:cNvSpPr/>
          <p:nvPr/>
        </p:nvSpPr>
        <p:spPr>
          <a:xfrm>
            <a:off x="6591109" y="3725216"/>
            <a:ext cx="83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0,8%</a:t>
            </a:r>
            <a:endParaRPr lang="en-US" sz="750" dirty="0"/>
          </a:p>
        </p:txBody>
      </p:sp>
      <p:sp>
        <p:nvSpPr>
          <p:cNvPr id="46" name="bar_squad_er_disley"/>
          <p:cNvSpPr/>
          <p:nvPr/>
        </p:nvSpPr>
        <p:spPr>
          <a:xfrm>
            <a:off x="7619810" y="3402584"/>
            <a:ext cx="465201" cy="849376"/>
          </a:xfrm>
          <a:prstGeom prst="rect">
            <a:avLst/>
          </a:prstGeom>
          <a:solidFill>
            <a:srgbClr val="E9A300"/>
          </a:solidFill>
          <a:ln w="12700">
            <a:solidFill>
              <a:srgbClr val="E9A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482650" y="4325112"/>
            <a:ext cx="7395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280"/>
                </a:solidFill>
              </a:rPr>
              <a:t>Disley</a:t>
            </a:r>
            <a:endParaRPr lang="en-US" sz="750" dirty="0"/>
          </a:p>
        </p:txBody>
      </p:sp>
      <p:sp>
        <p:nvSpPr>
          <p:cNvPr id="48" name="label_squad_er_disley"/>
          <p:cNvSpPr/>
          <p:nvPr/>
        </p:nvSpPr>
        <p:spPr>
          <a:xfrm>
            <a:off x="7436930" y="3184704"/>
            <a:ext cx="83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21426"/>
                </a:solidFill>
              </a:rPr>
              <a:t>2,2%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887968" y="1508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Aprendizaje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887968" y="1965960"/>
            <a:ext cx="190195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250" b="0">
                <a:solidFill>
                  <a:srgbClr val="FFFFFF"/>
                </a:solidFill>
                <a:latin typeface="Arial"/>
              </a:rPr>
              <a:t>Skar sostiene interacción alta; Disley abre volumen nuevo con tono humorístico y cercano. Para próximos meses, combinar perfiles de alto alcance con micro-nichos de expertise.</a:t>
            </a:r>
          </a:p>
        </p:txBody>
      </p:sp>
      <p:sp>
        <p:nvSpPr>
          <p:cNvPr id="52" name="Text 50"/>
          <p:cNvSpPr/>
          <p:nvPr/>
        </p:nvSpPr>
        <p:spPr>
          <a:xfrm>
            <a:off x="8887968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887968" y="4526280"/>
            <a:ext cx="1901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87968" y="4160520"/>
            <a:ext cx="19019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Presupuesto Squad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7968" y="4480560"/>
            <a:ext cx="19019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Arial"/>
              </a:rPr>
              <a:t>$400K · antes $700K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7968" y="4800600"/>
            <a:ext cx="19019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Entregables por rostro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7968" y="5056632"/>
            <a:ext cx="1901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FFFFFF"/>
                </a:solidFill>
                <a:latin typeface="Arial"/>
              </a:rPr>
              <a:t>Skar: 3 · Busquilla: 4
Cami: 3 · Disley: 3</a:t>
            </a: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123C4B4A-9DAB-7994-1C66-1690752897D2}"/>
              </a:ext>
            </a:extLst>
          </p:cNvPr>
          <p:cNvGrpSpPr/>
          <p:nvPr/>
        </p:nvGrpSpPr>
        <p:grpSpPr>
          <a:xfrm>
            <a:off x="9098280" y="1115568"/>
            <a:ext cx="2743200" cy="5440680"/>
            <a:chOff x="9098280" y="1115568"/>
            <a:chExt cx="2743200" cy="5440680"/>
          </a:xfrm>
        </p:grpSpPr>
        <p:sp>
          <p:nvSpPr>
            <p:cNvPr id="102" name="Shape 45">
              <a:extLst>
                <a:ext uri="{FF2B5EF4-FFF2-40B4-BE49-F238E27FC236}">
                  <a16:creationId xmlns:a16="http://schemas.microsoft.com/office/drawing/2014/main" id="{0B44E50B-F9ED-475C-DF2B-7E102A28085A}"/>
                </a:ext>
              </a:extLst>
            </p:cNvPr>
            <p:cNvSpPr/>
            <p:nvPr/>
          </p:nvSpPr>
          <p:spPr>
            <a:xfrm>
              <a:off x="9098280" y="1115568"/>
              <a:ext cx="2743200" cy="5440680"/>
            </a:xfrm>
            <a:prstGeom prst="roundRect">
              <a:avLst>
                <a:gd name="adj" fmla="val 5333"/>
              </a:avLst>
            </a:prstGeom>
            <a:solidFill>
              <a:srgbClr val="E9158D"/>
            </a:solidFill>
            <a:ln w="7620">
              <a:solidFill>
                <a:srgbClr val="E9158D"/>
              </a:solidFill>
              <a:prstDash val="solid"/>
            </a:ln>
          </p:spPr>
        </p:sp>
        <p:sp>
          <p:nvSpPr>
            <p:cNvPr id="103" name="Text 46">
              <a:extLst>
                <a:ext uri="{FF2B5EF4-FFF2-40B4-BE49-F238E27FC236}">
                  <a16:creationId xmlns:a16="http://schemas.microsoft.com/office/drawing/2014/main" id="{08D040CE-2174-5771-F6E6-04357941B98C}"/>
                </a:ext>
              </a:extLst>
            </p:cNvPr>
            <p:cNvSpPr/>
            <p:nvPr/>
          </p:nvSpPr>
          <p:spPr>
            <a:xfrm>
              <a:off x="9372600" y="1444752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Aprendizaje</a:t>
              </a:r>
              <a:endParaRPr lang="en-US" sz="1500" dirty="0"/>
            </a:p>
          </p:txBody>
        </p:sp>
        <p:sp>
          <p:nvSpPr>
            <p:cNvPr id="104" name="Text 47">
              <a:extLst>
                <a:ext uri="{FF2B5EF4-FFF2-40B4-BE49-F238E27FC236}">
                  <a16:creationId xmlns:a16="http://schemas.microsoft.com/office/drawing/2014/main" id="{C02D581E-940F-63FA-8546-49A72A6A40AF}"/>
                </a:ext>
              </a:extLst>
            </p:cNvPr>
            <p:cNvSpPr/>
            <p:nvPr/>
          </p:nvSpPr>
          <p:spPr>
            <a:xfrm>
              <a:off x="9372600" y="1847088"/>
              <a:ext cx="2084832" cy="1216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Skar sostiene interacción alta; Disley abre volumen nuevo con tono humorístico y cercano.</a:t>
              </a:r>
              <a:endParaRPr lang="en-US" sz="1050" dirty="0"/>
            </a:p>
            <a:p>
              <a:pPr marL="0" indent="0" algn="l">
                <a:buNone/>
              </a:pPr>
              <a:endParaRPr lang="en-US" sz="1050" dirty="0"/>
            </a:p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Para próximos meses, combinar perfiles de alto alcance con micro-nichos de expertise.</a:t>
              </a:r>
              <a:endParaRPr lang="en-US" sz="1050" dirty="0"/>
            </a:p>
          </p:txBody>
        </p:sp>
        <p:sp>
          <p:nvSpPr>
            <p:cNvPr id="105" name="Shape 48">
              <a:extLst>
                <a:ext uri="{FF2B5EF4-FFF2-40B4-BE49-F238E27FC236}">
                  <a16:creationId xmlns:a16="http://schemas.microsoft.com/office/drawing/2014/main" id="{9EFE219B-CF64-796B-2166-1E1839DB3C7B}"/>
                </a:ext>
              </a:extLst>
            </p:cNvPr>
            <p:cNvSpPr/>
            <p:nvPr/>
          </p:nvSpPr>
          <p:spPr>
            <a:xfrm>
              <a:off x="9308592" y="3227832"/>
              <a:ext cx="2331720" cy="1417320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06" name="Text 49">
              <a:extLst>
                <a:ext uri="{FF2B5EF4-FFF2-40B4-BE49-F238E27FC236}">
                  <a16:creationId xmlns:a16="http://schemas.microsoft.com/office/drawing/2014/main" id="{C5D7D4F1-F458-227D-E9BB-91937C434A61}"/>
                </a:ext>
              </a:extLst>
            </p:cNvPr>
            <p:cNvSpPr/>
            <p:nvPr/>
          </p:nvSpPr>
          <p:spPr>
            <a:xfrm>
              <a:off x="9473184" y="3364992"/>
              <a:ext cx="20025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Presupuesto Squad</a:t>
              </a:r>
              <a:endParaRPr lang="en-US" sz="1300" dirty="0"/>
            </a:p>
          </p:txBody>
        </p:sp>
        <p:sp>
          <p:nvSpPr>
            <p:cNvPr id="107" name="Text 50">
              <a:extLst>
                <a:ext uri="{FF2B5EF4-FFF2-40B4-BE49-F238E27FC236}">
                  <a16:creationId xmlns:a16="http://schemas.microsoft.com/office/drawing/2014/main" id="{322AA198-B57B-39E2-67D8-4563D991A03E}"/>
                </a:ext>
              </a:extLst>
            </p:cNvPr>
            <p:cNvSpPr/>
            <p:nvPr/>
          </p:nvSpPr>
          <p:spPr>
            <a:xfrm>
              <a:off x="9473184" y="3639312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E9158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$400K</a:t>
              </a:r>
              <a:endParaRPr lang="en-US" sz="2100" dirty="0"/>
            </a:p>
          </p:txBody>
        </p:sp>
        <p:sp>
          <p:nvSpPr>
            <p:cNvPr id="108" name="Text 51">
              <a:extLst>
                <a:ext uri="{FF2B5EF4-FFF2-40B4-BE49-F238E27FC236}">
                  <a16:creationId xmlns:a16="http://schemas.microsoft.com/office/drawing/2014/main" id="{6E617523-A8EB-34AE-D27B-7B8662DCA692}"/>
                </a:ext>
              </a:extLst>
            </p:cNvPr>
            <p:cNvSpPr/>
            <p:nvPr/>
          </p:nvSpPr>
          <p:spPr>
            <a:xfrm>
              <a:off x="10451592" y="3703320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9496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↓ -43% vs mes anterior</a:t>
              </a:r>
              <a:endParaRPr lang="en-US" sz="900" dirty="0"/>
            </a:p>
          </p:txBody>
        </p:sp>
        <p:sp>
          <p:nvSpPr>
            <p:cNvPr id="109" name="Text 52">
              <a:extLst>
                <a:ext uri="{FF2B5EF4-FFF2-40B4-BE49-F238E27FC236}">
                  <a16:creationId xmlns:a16="http://schemas.microsoft.com/office/drawing/2014/main" id="{9FB9D85B-555F-993E-CE5B-C264563552D0}"/>
                </a:ext>
              </a:extLst>
            </p:cNvPr>
            <p:cNvSpPr/>
            <p:nvPr/>
          </p:nvSpPr>
          <p:spPr>
            <a:xfrm>
              <a:off x="9473184" y="4096512"/>
              <a:ext cx="65836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50" b="1" dirty="0">
                  <a:solidFill>
                    <a:srgbClr val="74798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Mes anterior</a:t>
              </a:r>
              <a:endParaRPr lang="en-US" sz="650" dirty="0"/>
            </a:p>
          </p:txBody>
        </p:sp>
        <p:sp>
          <p:nvSpPr>
            <p:cNvPr id="110" name="Text 53">
              <a:extLst>
                <a:ext uri="{FF2B5EF4-FFF2-40B4-BE49-F238E27FC236}">
                  <a16:creationId xmlns:a16="http://schemas.microsoft.com/office/drawing/2014/main" id="{35BD5E86-1415-CF95-6670-E2F44B39E1D6}"/>
                </a:ext>
              </a:extLst>
            </p:cNvPr>
            <p:cNvSpPr/>
            <p:nvPr/>
          </p:nvSpPr>
          <p:spPr>
            <a:xfrm>
              <a:off x="9473184" y="4370832"/>
              <a:ext cx="65836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50" b="1" dirty="0">
                  <a:solidFill>
                    <a:srgbClr val="74798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Actual</a:t>
              </a:r>
              <a:endParaRPr lang="en-US" sz="650" dirty="0"/>
            </a:p>
          </p:txBody>
        </p:sp>
        <p:sp>
          <p:nvSpPr>
            <p:cNvPr id="111" name="Shape 54">
              <a:extLst>
                <a:ext uri="{FF2B5EF4-FFF2-40B4-BE49-F238E27FC236}">
                  <a16:creationId xmlns:a16="http://schemas.microsoft.com/office/drawing/2014/main" id="{0836F39E-5FCF-70A7-365D-766A54E1C5E3}"/>
                </a:ext>
              </a:extLst>
            </p:cNvPr>
            <p:cNvSpPr/>
            <p:nvPr/>
          </p:nvSpPr>
          <p:spPr>
            <a:xfrm>
              <a:off x="10222992" y="4123944"/>
              <a:ext cx="1401775" cy="91440"/>
            </a:xfrm>
            <a:prstGeom prst="roundRect">
              <a:avLst>
                <a:gd name="adj" fmla="val 30000"/>
              </a:avLst>
            </a:prstGeom>
            <a:solidFill>
              <a:srgbClr val="E6E6ED"/>
            </a:solidFill>
            <a:ln w="12700">
              <a:solidFill>
                <a:srgbClr val="E6E6ED">
                  <a:alpha val="0"/>
                </a:srgbClr>
              </a:solidFill>
              <a:prstDash val="solid"/>
            </a:ln>
          </p:spPr>
        </p:sp>
        <p:sp>
          <p:nvSpPr>
            <p:cNvPr id="112" name="Shape 55">
              <a:extLst>
                <a:ext uri="{FF2B5EF4-FFF2-40B4-BE49-F238E27FC236}">
                  <a16:creationId xmlns:a16="http://schemas.microsoft.com/office/drawing/2014/main" id="{988DDE82-CEA9-EEFB-7D04-62D90152D813}"/>
                </a:ext>
              </a:extLst>
            </p:cNvPr>
            <p:cNvSpPr/>
            <p:nvPr/>
          </p:nvSpPr>
          <p:spPr>
            <a:xfrm>
              <a:off x="10222992" y="4398264"/>
              <a:ext cx="801014" cy="91440"/>
            </a:xfrm>
            <a:prstGeom prst="roundRect">
              <a:avLst>
                <a:gd name="adj" fmla="val 30000"/>
              </a:avLst>
            </a:prstGeom>
            <a:solidFill>
              <a:srgbClr val="E9158D"/>
            </a:solidFill>
            <a:ln w="12700">
              <a:solidFill>
                <a:srgbClr val="E9158D">
                  <a:alpha val="0"/>
                </a:srgbClr>
              </a:solidFill>
              <a:prstDash val="solid"/>
            </a:ln>
          </p:spPr>
        </p:sp>
        <p:sp>
          <p:nvSpPr>
            <p:cNvPr id="113" name="Text 56">
              <a:extLst>
                <a:ext uri="{FF2B5EF4-FFF2-40B4-BE49-F238E27FC236}">
                  <a16:creationId xmlns:a16="http://schemas.microsoft.com/office/drawing/2014/main" id="{283FE1B2-E86D-EFD1-C734-1F2AAF8B83B4}"/>
                </a:ext>
              </a:extLst>
            </p:cNvPr>
            <p:cNvSpPr/>
            <p:nvPr/>
          </p:nvSpPr>
          <p:spPr>
            <a:xfrm>
              <a:off x="11073384" y="4131436"/>
              <a:ext cx="40233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>
                <a:buNone/>
              </a:pPr>
              <a:r>
                <a:rPr lang="en-US" sz="70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$700K</a:t>
              </a:r>
              <a:endParaRPr lang="en-US" sz="700" dirty="0"/>
            </a:p>
          </p:txBody>
        </p:sp>
        <p:sp>
          <p:nvSpPr>
            <p:cNvPr id="114" name="Text 57">
              <a:extLst>
                <a:ext uri="{FF2B5EF4-FFF2-40B4-BE49-F238E27FC236}">
                  <a16:creationId xmlns:a16="http://schemas.microsoft.com/office/drawing/2014/main" id="{EF94F7FB-F98A-3F18-C55C-7B8516D7F0AF}"/>
                </a:ext>
              </a:extLst>
            </p:cNvPr>
            <p:cNvSpPr/>
            <p:nvPr/>
          </p:nvSpPr>
          <p:spPr>
            <a:xfrm>
              <a:off x="11073384" y="4383722"/>
              <a:ext cx="40233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>
                <a:buNone/>
              </a:pPr>
              <a:r>
                <a:rPr lang="en-US" sz="700" b="1" dirty="0">
                  <a:solidFill>
                    <a:srgbClr val="E9158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$400K</a:t>
              </a:r>
              <a:endParaRPr lang="en-US" sz="700" dirty="0"/>
            </a:p>
          </p:txBody>
        </p:sp>
        <p:sp>
          <p:nvSpPr>
            <p:cNvPr id="115" name="Shape 58">
              <a:extLst>
                <a:ext uri="{FF2B5EF4-FFF2-40B4-BE49-F238E27FC236}">
                  <a16:creationId xmlns:a16="http://schemas.microsoft.com/office/drawing/2014/main" id="{1A32EAEE-F314-1339-244C-2F002F955727}"/>
                </a:ext>
              </a:extLst>
            </p:cNvPr>
            <p:cNvSpPr/>
            <p:nvPr/>
          </p:nvSpPr>
          <p:spPr>
            <a:xfrm>
              <a:off x="9308591" y="4828032"/>
              <a:ext cx="2350010" cy="1627852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6" name="Text 59">
              <a:extLst>
                <a:ext uri="{FF2B5EF4-FFF2-40B4-BE49-F238E27FC236}">
                  <a16:creationId xmlns:a16="http://schemas.microsoft.com/office/drawing/2014/main" id="{B5C6E037-00E2-4D06-D88C-70AE2E942F92}"/>
                </a:ext>
              </a:extLst>
            </p:cNvPr>
            <p:cNvSpPr/>
            <p:nvPr/>
          </p:nvSpPr>
          <p:spPr>
            <a:xfrm>
              <a:off x="9473184" y="4956048"/>
              <a:ext cx="20025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25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Entregables por rostro</a:t>
              </a:r>
              <a:endParaRPr lang="en-US" sz="1250" dirty="0"/>
            </a:p>
          </p:txBody>
        </p:sp>
        <p:sp>
          <p:nvSpPr>
            <p:cNvPr id="117" name="Text 60">
              <a:extLst>
                <a:ext uri="{FF2B5EF4-FFF2-40B4-BE49-F238E27FC236}">
                  <a16:creationId xmlns:a16="http://schemas.microsoft.com/office/drawing/2014/main" id="{8B26FFB6-3A08-B070-5C49-063569728055}"/>
                </a:ext>
              </a:extLst>
            </p:cNvPr>
            <p:cNvSpPr/>
            <p:nvPr/>
          </p:nvSpPr>
          <p:spPr>
            <a:xfrm>
              <a:off x="9473184" y="5175504"/>
              <a:ext cx="200253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74798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Total Squad: 13 piezas</a:t>
              </a:r>
              <a:endParaRPr lang="en-US" sz="800" dirty="0"/>
            </a:p>
          </p:txBody>
        </p:sp>
        <p:sp>
          <p:nvSpPr>
            <p:cNvPr id="118" name="Shape 61">
              <a:extLst>
                <a:ext uri="{FF2B5EF4-FFF2-40B4-BE49-F238E27FC236}">
                  <a16:creationId xmlns:a16="http://schemas.microsoft.com/office/drawing/2014/main" id="{075910A5-8996-4B5C-073D-0585E7BEC769}"/>
                </a:ext>
              </a:extLst>
            </p:cNvPr>
            <p:cNvSpPr/>
            <p:nvPr/>
          </p:nvSpPr>
          <p:spPr>
            <a:xfrm>
              <a:off x="9473184" y="5358384"/>
              <a:ext cx="64008" cy="64008"/>
            </a:xfrm>
            <a:prstGeom prst="ellipse">
              <a:avLst/>
            </a:prstGeom>
            <a:solidFill>
              <a:srgbClr val="E9158D"/>
            </a:solidFill>
            <a:ln w="12700">
              <a:solidFill>
                <a:srgbClr val="E9158D">
                  <a:alpha val="0"/>
                </a:srgbClr>
              </a:solidFill>
              <a:prstDash val="solid"/>
            </a:ln>
          </p:spPr>
        </p:sp>
        <p:sp>
          <p:nvSpPr>
            <p:cNvPr id="119" name="Text 62">
              <a:extLst>
                <a:ext uri="{FF2B5EF4-FFF2-40B4-BE49-F238E27FC236}">
                  <a16:creationId xmlns:a16="http://schemas.microsoft.com/office/drawing/2014/main" id="{EFF7C348-A52D-455C-4055-661867DF2F75}"/>
                </a:ext>
              </a:extLst>
            </p:cNvPr>
            <p:cNvSpPr/>
            <p:nvPr/>
          </p:nvSpPr>
          <p:spPr>
            <a:xfrm>
              <a:off x="9573768" y="5330952"/>
              <a:ext cx="4114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40" b="1" dirty="0">
                  <a:solidFill>
                    <a:srgbClr val="74798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Reels</a:t>
              </a:r>
              <a:endParaRPr lang="en-US" sz="640" dirty="0"/>
            </a:p>
          </p:txBody>
        </p:sp>
        <p:sp>
          <p:nvSpPr>
            <p:cNvPr id="120" name="Shape 63">
              <a:extLst>
                <a:ext uri="{FF2B5EF4-FFF2-40B4-BE49-F238E27FC236}">
                  <a16:creationId xmlns:a16="http://schemas.microsoft.com/office/drawing/2014/main" id="{77053036-A796-9D86-C747-CFBF7AE8F723}"/>
                </a:ext>
              </a:extLst>
            </p:cNvPr>
            <p:cNvSpPr/>
            <p:nvPr/>
          </p:nvSpPr>
          <p:spPr>
            <a:xfrm>
              <a:off x="10003536" y="5358384"/>
              <a:ext cx="64008" cy="64008"/>
            </a:xfrm>
            <a:prstGeom prst="ellipse">
              <a:avLst/>
            </a:prstGeom>
            <a:solidFill>
              <a:srgbClr val="6D5BE7"/>
            </a:solidFill>
            <a:ln w="12700">
              <a:solidFill>
                <a:srgbClr val="6D5BE7">
                  <a:alpha val="0"/>
                </a:srgbClr>
              </a:solidFill>
              <a:prstDash val="solid"/>
            </a:ln>
          </p:spPr>
        </p:sp>
        <p:sp>
          <p:nvSpPr>
            <p:cNvPr id="121" name="Text 64">
              <a:extLst>
                <a:ext uri="{FF2B5EF4-FFF2-40B4-BE49-F238E27FC236}">
                  <a16:creationId xmlns:a16="http://schemas.microsoft.com/office/drawing/2014/main" id="{92E042BC-EB9D-4D3B-30BC-A640B5C773FC}"/>
                </a:ext>
              </a:extLst>
            </p:cNvPr>
            <p:cNvSpPr/>
            <p:nvPr/>
          </p:nvSpPr>
          <p:spPr>
            <a:xfrm>
              <a:off x="10104120" y="5330952"/>
              <a:ext cx="45720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40" b="1" dirty="0">
                  <a:solidFill>
                    <a:srgbClr val="74798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Stories</a:t>
              </a:r>
              <a:endParaRPr lang="en-US" sz="640" dirty="0"/>
            </a:p>
          </p:txBody>
        </p:sp>
        <p:sp>
          <p:nvSpPr>
            <p:cNvPr id="122" name="Text 65">
              <a:extLst>
                <a:ext uri="{FF2B5EF4-FFF2-40B4-BE49-F238E27FC236}">
                  <a16:creationId xmlns:a16="http://schemas.microsoft.com/office/drawing/2014/main" id="{D1197FA5-EFEB-A148-E93A-00D300B8236F}"/>
                </a:ext>
              </a:extLst>
            </p:cNvPr>
            <p:cNvSpPr/>
            <p:nvPr/>
          </p:nvSpPr>
          <p:spPr>
            <a:xfrm>
              <a:off x="9473184" y="5577840"/>
              <a:ext cx="64008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Skar</a:t>
              </a:r>
              <a:endParaRPr lang="en-US" sz="750" dirty="0"/>
            </a:p>
          </p:txBody>
        </p:sp>
        <p:sp>
          <p:nvSpPr>
            <p:cNvPr id="123" name="Text 66">
              <a:extLst>
                <a:ext uri="{FF2B5EF4-FFF2-40B4-BE49-F238E27FC236}">
                  <a16:creationId xmlns:a16="http://schemas.microsoft.com/office/drawing/2014/main" id="{943C3516-7E37-B8F6-84F3-275325290BEE}"/>
                </a:ext>
              </a:extLst>
            </p:cNvPr>
            <p:cNvSpPr/>
            <p:nvPr/>
          </p:nvSpPr>
          <p:spPr>
            <a:xfrm>
              <a:off x="10131552" y="5577840"/>
              <a:ext cx="10058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 reel + 2 stories</a:t>
              </a:r>
              <a:endParaRPr lang="en-US" sz="700" dirty="0"/>
            </a:p>
          </p:txBody>
        </p:sp>
        <p:sp>
          <p:nvSpPr>
            <p:cNvPr id="124" name="Text 70">
              <a:extLst>
                <a:ext uri="{FF2B5EF4-FFF2-40B4-BE49-F238E27FC236}">
                  <a16:creationId xmlns:a16="http://schemas.microsoft.com/office/drawing/2014/main" id="{B6E0DCBF-9C87-D2E3-93D5-DE5E7699BABF}"/>
                </a:ext>
              </a:extLst>
            </p:cNvPr>
            <p:cNvSpPr/>
            <p:nvPr/>
          </p:nvSpPr>
          <p:spPr>
            <a:xfrm>
              <a:off x="9473184" y="5806440"/>
              <a:ext cx="64008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Busquilla</a:t>
              </a:r>
              <a:endParaRPr lang="en-US" sz="750" dirty="0"/>
            </a:p>
          </p:txBody>
        </p:sp>
        <p:sp>
          <p:nvSpPr>
            <p:cNvPr id="125" name="Text 71">
              <a:extLst>
                <a:ext uri="{FF2B5EF4-FFF2-40B4-BE49-F238E27FC236}">
                  <a16:creationId xmlns:a16="http://schemas.microsoft.com/office/drawing/2014/main" id="{4A49275C-DB17-FBFB-4984-5C9B497A6558}"/>
                </a:ext>
              </a:extLst>
            </p:cNvPr>
            <p:cNvSpPr/>
            <p:nvPr/>
          </p:nvSpPr>
          <p:spPr>
            <a:xfrm>
              <a:off x="10131552" y="5806440"/>
              <a:ext cx="10058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 reel + 3 stories</a:t>
              </a:r>
              <a:endParaRPr lang="en-US" sz="700" dirty="0"/>
            </a:p>
          </p:txBody>
        </p:sp>
        <p:sp>
          <p:nvSpPr>
            <p:cNvPr id="126" name="Text 76">
              <a:extLst>
                <a:ext uri="{FF2B5EF4-FFF2-40B4-BE49-F238E27FC236}">
                  <a16:creationId xmlns:a16="http://schemas.microsoft.com/office/drawing/2014/main" id="{AB954A13-2D15-9E15-C637-7D26DC7F4186}"/>
                </a:ext>
              </a:extLst>
            </p:cNvPr>
            <p:cNvSpPr/>
            <p:nvPr/>
          </p:nvSpPr>
          <p:spPr>
            <a:xfrm>
              <a:off x="9473184" y="6035040"/>
              <a:ext cx="64008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Cami</a:t>
              </a:r>
              <a:endParaRPr lang="en-US" sz="750" dirty="0"/>
            </a:p>
          </p:txBody>
        </p:sp>
        <p:sp>
          <p:nvSpPr>
            <p:cNvPr id="127" name="Text 77">
              <a:extLst>
                <a:ext uri="{FF2B5EF4-FFF2-40B4-BE49-F238E27FC236}">
                  <a16:creationId xmlns:a16="http://schemas.microsoft.com/office/drawing/2014/main" id="{5D56EACD-110E-40A6-E48F-A4BE7B21BBB0}"/>
                </a:ext>
              </a:extLst>
            </p:cNvPr>
            <p:cNvSpPr/>
            <p:nvPr/>
          </p:nvSpPr>
          <p:spPr>
            <a:xfrm>
              <a:off x="10131552" y="6035040"/>
              <a:ext cx="10058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 reel + 2 stories</a:t>
              </a:r>
              <a:endParaRPr lang="en-US" sz="700" dirty="0"/>
            </a:p>
          </p:txBody>
        </p:sp>
        <p:sp>
          <p:nvSpPr>
            <p:cNvPr id="128" name="Text 81">
              <a:extLst>
                <a:ext uri="{FF2B5EF4-FFF2-40B4-BE49-F238E27FC236}">
                  <a16:creationId xmlns:a16="http://schemas.microsoft.com/office/drawing/2014/main" id="{B6DDCFCC-8BC5-7D38-7BFA-28AABF1C5F57}"/>
                </a:ext>
              </a:extLst>
            </p:cNvPr>
            <p:cNvSpPr/>
            <p:nvPr/>
          </p:nvSpPr>
          <p:spPr>
            <a:xfrm>
              <a:off x="9473184" y="6263640"/>
              <a:ext cx="64008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Disley</a:t>
              </a:r>
              <a:endParaRPr lang="en-US" sz="750" dirty="0"/>
            </a:p>
          </p:txBody>
        </p:sp>
        <p:sp>
          <p:nvSpPr>
            <p:cNvPr id="129" name="Text 82">
              <a:extLst>
                <a:ext uri="{FF2B5EF4-FFF2-40B4-BE49-F238E27FC236}">
                  <a16:creationId xmlns:a16="http://schemas.microsoft.com/office/drawing/2014/main" id="{8707A945-CC05-BCA1-8062-ED56571EE468}"/>
                </a:ext>
              </a:extLst>
            </p:cNvPr>
            <p:cNvSpPr/>
            <p:nvPr/>
          </p:nvSpPr>
          <p:spPr>
            <a:xfrm>
              <a:off x="10131552" y="6263640"/>
              <a:ext cx="10058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11152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 reel + 2 stories</a:t>
              </a:r>
              <a:endParaRPr lang="en-US" sz="700" dirty="0"/>
            </a:p>
          </p:txBody>
        </p:sp>
        <p:grpSp>
          <p:nvGrpSpPr>
            <p:cNvPr id="130" name="Grupo 129">
              <a:extLst>
                <a:ext uri="{FF2B5EF4-FFF2-40B4-BE49-F238E27FC236}">
                  <a16:creationId xmlns:a16="http://schemas.microsoft.com/office/drawing/2014/main" id="{143D13B3-DD9F-FD38-5150-60DF96322FA3}"/>
                </a:ext>
              </a:extLst>
            </p:cNvPr>
            <p:cNvGrpSpPr/>
            <p:nvPr/>
          </p:nvGrpSpPr>
          <p:grpSpPr>
            <a:xfrm>
              <a:off x="10981864" y="5591556"/>
              <a:ext cx="603504" cy="758952"/>
              <a:chOff x="11155680" y="5591556"/>
              <a:chExt cx="603504" cy="758952"/>
            </a:xfrm>
          </p:grpSpPr>
          <p:sp>
            <p:nvSpPr>
              <p:cNvPr id="131" name="Shape 67">
                <a:extLst>
                  <a:ext uri="{FF2B5EF4-FFF2-40B4-BE49-F238E27FC236}">
                    <a16:creationId xmlns:a16="http://schemas.microsoft.com/office/drawing/2014/main" id="{48F6D71E-1ABF-067D-EBB1-F1CE205131E7}"/>
                  </a:ext>
                </a:extLst>
              </p:cNvPr>
              <p:cNvSpPr/>
              <p:nvPr/>
            </p:nvSpPr>
            <p:spPr>
              <a:xfrm>
                <a:off x="11155680" y="5591556"/>
                <a:ext cx="137160" cy="73152"/>
              </a:xfrm>
              <a:prstGeom prst="rect">
                <a:avLst/>
              </a:prstGeom>
              <a:solidFill>
                <a:srgbClr val="E9158D"/>
              </a:solidFill>
              <a:ln w="12700">
                <a:solidFill>
                  <a:srgbClr val="E9158D">
                    <a:alpha val="0"/>
                  </a:srgbClr>
                </a:solidFill>
                <a:prstDash val="solid"/>
              </a:ln>
            </p:spPr>
          </p:sp>
          <p:sp>
            <p:nvSpPr>
              <p:cNvPr id="132" name="Shape 68">
                <a:extLst>
                  <a:ext uri="{FF2B5EF4-FFF2-40B4-BE49-F238E27FC236}">
                    <a16:creationId xmlns:a16="http://schemas.microsoft.com/office/drawing/2014/main" id="{3116FB72-858D-78CF-5397-7E8F689A447D}"/>
                  </a:ext>
                </a:extLst>
              </p:cNvPr>
              <p:cNvSpPr/>
              <p:nvPr/>
            </p:nvSpPr>
            <p:spPr>
              <a:xfrm>
                <a:off x="11311128" y="55915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33" name="Shape 69">
                <a:extLst>
                  <a:ext uri="{FF2B5EF4-FFF2-40B4-BE49-F238E27FC236}">
                    <a16:creationId xmlns:a16="http://schemas.microsoft.com/office/drawing/2014/main" id="{2B71B5C4-4284-AC2C-7EF6-AAB9933A3F18}"/>
                  </a:ext>
                </a:extLst>
              </p:cNvPr>
              <p:cNvSpPr/>
              <p:nvPr/>
            </p:nvSpPr>
            <p:spPr>
              <a:xfrm>
                <a:off x="11466576" y="55915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34" name="Shape 72">
                <a:extLst>
                  <a:ext uri="{FF2B5EF4-FFF2-40B4-BE49-F238E27FC236}">
                    <a16:creationId xmlns:a16="http://schemas.microsoft.com/office/drawing/2014/main" id="{9A32BA5B-1C82-BE14-17A9-8ED73F4E574F}"/>
                  </a:ext>
                </a:extLst>
              </p:cNvPr>
              <p:cNvSpPr/>
              <p:nvPr/>
            </p:nvSpPr>
            <p:spPr>
              <a:xfrm>
                <a:off x="11155680" y="5820156"/>
                <a:ext cx="137160" cy="73152"/>
              </a:xfrm>
              <a:prstGeom prst="rect">
                <a:avLst/>
              </a:prstGeom>
              <a:solidFill>
                <a:srgbClr val="E9158D"/>
              </a:solidFill>
              <a:ln w="12700">
                <a:solidFill>
                  <a:srgbClr val="E9158D">
                    <a:alpha val="0"/>
                  </a:srgbClr>
                </a:solidFill>
                <a:prstDash val="solid"/>
              </a:ln>
            </p:spPr>
          </p:sp>
          <p:sp>
            <p:nvSpPr>
              <p:cNvPr id="135" name="Shape 73">
                <a:extLst>
                  <a:ext uri="{FF2B5EF4-FFF2-40B4-BE49-F238E27FC236}">
                    <a16:creationId xmlns:a16="http://schemas.microsoft.com/office/drawing/2014/main" id="{C265716F-F760-4330-586F-F58C5C8A698F}"/>
                  </a:ext>
                </a:extLst>
              </p:cNvPr>
              <p:cNvSpPr/>
              <p:nvPr/>
            </p:nvSpPr>
            <p:spPr>
              <a:xfrm>
                <a:off x="11311128" y="58201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36" name="Shape 74">
                <a:extLst>
                  <a:ext uri="{FF2B5EF4-FFF2-40B4-BE49-F238E27FC236}">
                    <a16:creationId xmlns:a16="http://schemas.microsoft.com/office/drawing/2014/main" id="{A0EFAFAA-745C-BA7A-256E-2C187247ACE0}"/>
                  </a:ext>
                </a:extLst>
              </p:cNvPr>
              <p:cNvSpPr/>
              <p:nvPr/>
            </p:nvSpPr>
            <p:spPr>
              <a:xfrm>
                <a:off x="11466576" y="58201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37" name="Shape 75">
                <a:extLst>
                  <a:ext uri="{FF2B5EF4-FFF2-40B4-BE49-F238E27FC236}">
                    <a16:creationId xmlns:a16="http://schemas.microsoft.com/office/drawing/2014/main" id="{EAFAA774-4116-8057-C1D1-00494B08E20D}"/>
                  </a:ext>
                </a:extLst>
              </p:cNvPr>
              <p:cNvSpPr/>
              <p:nvPr/>
            </p:nvSpPr>
            <p:spPr>
              <a:xfrm>
                <a:off x="11622024" y="58201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38" name="Shape 78">
                <a:extLst>
                  <a:ext uri="{FF2B5EF4-FFF2-40B4-BE49-F238E27FC236}">
                    <a16:creationId xmlns:a16="http://schemas.microsoft.com/office/drawing/2014/main" id="{63659F9F-F003-CF16-B267-17C649BDA52D}"/>
                  </a:ext>
                </a:extLst>
              </p:cNvPr>
              <p:cNvSpPr/>
              <p:nvPr/>
            </p:nvSpPr>
            <p:spPr>
              <a:xfrm>
                <a:off x="11155680" y="6048756"/>
                <a:ext cx="137160" cy="73152"/>
              </a:xfrm>
              <a:prstGeom prst="rect">
                <a:avLst/>
              </a:prstGeom>
              <a:solidFill>
                <a:srgbClr val="E9158D"/>
              </a:solidFill>
              <a:ln w="12700">
                <a:solidFill>
                  <a:srgbClr val="E9158D">
                    <a:alpha val="0"/>
                  </a:srgbClr>
                </a:solidFill>
                <a:prstDash val="solid"/>
              </a:ln>
            </p:spPr>
          </p:sp>
          <p:sp>
            <p:nvSpPr>
              <p:cNvPr id="139" name="Shape 79">
                <a:extLst>
                  <a:ext uri="{FF2B5EF4-FFF2-40B4-BE49-F238E27FC236}">
                    <a16:creationId xmlns:a16="http://schemas.microsoft.com/office/drawing/2014/main" id="{D7477F3C-E784-3156-E510-E5424623DDDD}"/>
                  </a:ext>
                </a:extLst>
              </p:cNvPr>
              <p:cNvSpPr/>
              <p:nvPr/>
            </p:nvSpPr>
            <p:spPr>
              <a:xfrm>
                <a:off x="11311128" y="60487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40" name="Shape 80">
                <a:extLst>
                  <a:ext uri="{FF2B5EF4-FFF2-40B4-BE49-F238E27FC236}">
                    <a16:creationId xmlns:a16="http://schemas.microsoft.com/office/drawing/2014/main" id="{6BBB1376-2E0B-6F3C-3AC9-4F366192131F}"/>
                  </a:ext>
                </a:extLst>
              </p:cNvPr>
              <p:cNvSpPr/>
              <p:nvPr/>
            </p:nvSpPr>
            <p:spPr>
              <a:xfrm>
                <a:off x="11466576" y="60487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41" name="Shape 83">
                <a:extLst>
                  <a:ext uri="{FF2B5EF4-FFF2-40B4-BE49-F238E27FC236}">
                    <a16:creationId xmlns:a16="http://schemas.microsoft.com/office/drawing/2014/main" id="{487EC865-5158-835D-A2BB-D8DEB76CBC10}"/>
                  </a:ext>
                </a:extLst>
              </p:cNvPr>
              <p:cNvSpPr/>
              <p:nvPr/>
            </p:nvSpPr>
            <p:spPr>
              <a:xfrm>
                <a:off x="11155680" y="6277356"/>
                <a:ext cx="137160" cy="73152"/>
              </a:xfrm>
              <a:prstGeom prst="rect">
                <a:avLst/>
              </a:prstGeom>
              <a:solidFill>
                <a:srgbClr val="E9158D"/>
              </a:solidFill>
              <a:ln w="12700">
                <a:solidFill>
                  <a:srgbClr val="E9158D">
                    <a:alpha val="0"/>
                  </a:srgbClr>
                </a:solidFill>
                <a:prstDash val="solid"/>
              </a:ln>
            </p:spPr>
          </p:sp>
          <p:sp>
            <p:nvSpPr>
              <p:cNvPr id="142" name="Shape 84">
                <a:extLst>
                  <a:ext uri="{FF2B5EF4-FFF2-40B4-BE49-F238E27FC236}">
                    <a16:creationId xmlns:a16="http://schemas.microsoft.com/office/drawing/2014/main" id="{7B4675F6-0075-27F6-6796-B037EAC90D77}"/>
                  </a:ext>
                </a:extLst>
              </p:cNvPr>
              <p:cNvSpPr/>
              <p:nvPr/>
            </p:nvSpPr>
            <p:spPr>
              <a:xfrm>
                <a:off x="11311128" y="62773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  <p:sp>
            <p:nvSpPr>
              <p:cNvPr id="143" name="Shape 85">
                <a:extLst>
                  <a:ext uri="{FF2B5EF4-FFF2-40B4-BE49-F238E27FC236}">
                    <a16:creationId xmlns:a16="http://schemas.microsoft.com/office/drawing/2014/main" id="{5FE68C35-2640-0C1F-2DA0-13570B4D9EBC}"/>
                  </a:ext>
                </a:extLst>
              </p:cNvPr>
              <p:cNvSpPr/>
              <p:nvPr/>
            </p:nvSpPr>
            <p:spPr>
              <a:xfrm>
                <a:off x="11466576" y="6277356"/>
                <a:ext cx="137160" cy="73152"/>
              </a:xfrm>
              <a:prstGeom prst="rect">
                <a:avLst/>
              </a:prstGeom>
              <a:solidFill>
                <a:srgbClr val="6D5BE7"/>
              </a:solidFill>
              <a:ln w="12700">
                <a:solidFill>
                  <a:srgbClr val="6D5BE7">
                    <a:alpha val="0"/>
                  </a:srgbClr>
                </a:solidFill>
                <a:prstDash val="solid"/>
              </a:ln>
            </p:spPr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1887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844784" y="164592"/>
            <a:ext cx="914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maicao+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0896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MMPP: marcas propias como motor de valor práctico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9601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por marca, tipo de contenido y rol dentro del mix del 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914400"/>
          </a:xfrm>
          <a:prstGeom prst="roundRect">
            <a:avLst>
              <a:gd name="adj" fmla="val 13000"/>
            </a:avLst>
          </a:prstGeom>
          <a:solidFill>
            <a:srgbClr val="F6F6FA"/>
          </a:solidFill>
          <a:ln w="7620">
            <a:solidFill>
              <a:srgbClr val="F6F6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17904"/>
            <a:ext cx="15910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VISUALIZACIONES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15910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3.336.786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075688"/>
            <a:ext cx="15910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marcas presentes + menciones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914400"/>
          </a:xfrm>
          <a:prstGeom prst="roundRect">
            <a:avLst>
              <a:gd name="adj" fmla="val 13000"/>
            </a:avLst>
          </a:prstGeom>
          <a:solidFill>
            <a:srgbClr val="F6F6FA"/>
          </a:solidFill>
          <a:ln w="7620">
            <a:solidFill>
              <a:srgbClr val="F6F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517904"/>
            <a:ext cx="15910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1764792"/>
            <a:ext cx="15910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1.443.025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24912" y="2075688"/>
            <a:ext cx="15910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alcanzadas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914400"/>
          </a:xfrm>
          <a:prstGeom prst="roundRect">
            <a:avLst>
              <a:gd name="adj" fmla="val 13000"/>
            </a:avLst>
          </a:prstGeom>
          <a:solidFill>
            <a:srgbClr val="F6F6FA"/>
          </a:solidFill>
          <a:ln w="7620">
            <a:solidFill>
              <a:srgbClr val="F6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517904"/>
            <a:ext cx="15910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28032" y="1764792"/>
            <a:ext cx="15910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5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13.463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28032" y="2075688"/>
            <a:ext cx="15910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comentarios positivos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508760" cy="914400"/>
          </a:xfrm>
          <a:prstGeom prst="roundRect">
            <a:avLst>
              <a:gd name="adj" fmla="val 13000"/>
            </a:avLst>
          </a:prstGeom>
          <a:solidFill>
            <a:srgbClr val="F6F6FA"/>
          </a:solidFill>
          <a:ln w="7620">
            <a:solidFill>
              <a:srgbClr val="F6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517904"/>
            <a:ext cx="11795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E.R.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31152" y="1764792"/>
            <a:ext cx="11795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31152" y="2075688"/>
            <a:ext cx="1179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de campaña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549640" y="1371600"/>
            <a:ext cx="3063240" cy="914400"/>
          </a:xfrm>
          <a:prstGeom prst="roundRect">
            <a:avLst>
              <a:gd name="adj" fmla="val 13000"/>
            </a:avLst>
          </a:prstGeom>
          <a:solidFill>
            <a:srgbClr val="FDECF6"/>
          </a:solidFill>
          <a:ln w="7620">
            <a:solidFill>
              <a:srgbClr val="FDE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517904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 de contenidos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3252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piezas en Instagram, Facebook y TikTok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32520" y="1975104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E91588"/>
          </a:solidFill>
          <a:ln w="7620">
            <a:solidFill>
              <a:srgbClr val="E915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007108"/>
            <a:ext cx="4114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253728" y="1975104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11152B"/>
          </a:solidFill>
          <a:ln w="7620">
            <a:solidFill>
              <a:srgbClr val="1115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53728" y="2007108"/>
            <a:ext cx="4114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784080" y="1975104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6E5BE8"/>
          </a:solidFill>
          <a:ln w="7620">
            <a:solidFill>
              <a:srgbClr val="6E5B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2007108"/>
            <a:ext cx="4114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314432" y="1993392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Piezas por marca editables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Desglose por marca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2907792"/>
            <a:ext cx="274320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E4E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907792"/>
            <a:ext cx="2743200" cy="73152"/>
          </a:xfrm>
          <a:prstGeom prst="rect">
            <a:avLst/>
          </a:prstGeom>
          <a:solidFill>
            <a:srgbClr val="E91588"/>
          </a:solidFill>
          <a:ln w="12700">
            <a:solidFill>
              <a:srgbClr val="E9158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072384"/>
            <a:ext cx="24140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" y="3337560"/>
            <a:ext cx="2414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Campaña principal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" y="3666744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contenido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21792" y="3803904"/>
            <a:ext cx="24140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/ stories / demostración de producto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" y="4142232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21792" y="4306824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2F2F7"/>
          </a:solidFill>
          <a:ln w="7620">
            <a:solidFill>
              <a:srgbClr val="F2F2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347972"/>
            <a:ext cx="10241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piezas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21792" y="4663440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cualitativa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21792" y="4809744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presencia del mix. Funciona mejor cuando muestra aplicación, resultado y beneficio directo: precio, calidad y uso cotidiano.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401568" y="2907792"/>
            <a:ext cx="274320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E4E6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01568" y="2907792"/>
            <a:ext cx="2743200" cy="73152"/>
          </a:xfrm>
          <a:prstGeom prst="rect">
            <a:avLst/>
          </a:prstGeom>
          <a:solidFill>
            <a:srgbClr val="6E5BE8"/>
          </a:solidFill>
          <a:ln w="12700">
            <a:solidFill>
              <a:srgbClr val="6E5BE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3072384"/>
            <a:ext cx="24140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E5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Pure Solutions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566160" y="3337560"/>
            <a:ext cx="2414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Mención de portafolio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566160" y="3666744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contenido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3566160" y="3803904"/>
            <a:ext cx="24140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de rutina / solución skincare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566160" y="4142232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3566160" y="4306824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2F2F7"/>
          </a:solidFill>
          <a:ln w="7620">
            <a:solidFill>
              <a:srgbClr val="F2F2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02736" y="4347972"/>
            <a:ext cx="10241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piezas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3566160" y="4663440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cualitativa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3566160" y="4809744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credibilidad desde una necesidad clara. Recomendable bajarlo a rutinas simples y comparativas visuales.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6345936" y="2907792"/>
            <a:ext cx="274320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E4E6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45936" y="2907792"/>
            <a:ext cx="2743200" cy="73152"/>
          </a:xfrm>
          <a:prstGeom prst="rect">
            <a:avLst/>
          </a:prstGeom>
          <a:solidFill>
            <a:srgbClr val="11152B"/>
          </a:solidFill>
          <a:ln w="12700">
            <a:solidFill>
              <a:srgbClr val="11152B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3072384"/>
            <a:ext cx="24140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Facts Wave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510528" y="3337560"/>
            <a:ext cx="2414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Mención de marca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510528" y="3666744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contenido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6510528" y="3803904"/>
            <a:ext cx="24140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+ beneficio práctico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10528" y="4142232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6510528" y="4306824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2F2F7"/>
          </a:solidFill>
          <a:ln w="7620">
            <a:solidFill>
              <a:srgbClr val="F2F2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47104" y="4347972"/>
            <a:ext cx="10241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piezas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510528" y="4663440"/>
            <a:ext cx="2414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cualitativa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6510528" y="4809744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Importante mantenerlo como una sola marca. Refuerza variedad del portafolio y argumentos de precio-calidad.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9290304" y="2907792"/>
            <a:ext cx="242316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E4E6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90304" y="2907792"/>
            <a:ext cx="242316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54896" y="3072384"/>
            <a:ext cx="2093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 100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9454896" y="3337560"/>
            <a:ext cx="2093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Mención complementaria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9454896" y="3666744"/>
            <a:ext cx="20939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contenido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9454896" y="3803904"/>
            <a:ext cx="20939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de portafolio / producto destacado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454896" y="4142232"/>
            <a:ext cx="20939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40" dirty="0"/>
          </a:p>
        </p:txBody>
      </p:sp>
      <p:sp>
        <p:nvSpPr>
          <p:cNvPr id="74" name="Shape 72"/>
          <p:cNvSpPr/>
          <p:nvPr/>
        </p:nvSpPr>
        <p:spPr>
          <a:xfrm>
            <a:off x="9454896" y="4306824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2F2F7"/>
          </a:solidFill>
          <a:ln w="7620">
            <a:solidFill>
              <a:srgbClr val="F2F2F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91472" y="4347972"/>
            <a:ext cx="10241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piezas</a:t>
            </a:r>
            <a:endParaRPr lang="en-US" sz="820" dirty="0"/>
          </a:p>
        </p:txBody>
      </p:sp>
      <p:sp>
        <p:nvSpPr>
          <p:cNvPr id="76" name="Text 74"/>
          <p:cNvSpPr/>
          <p:nvPr/>
        </p:nvSpPr>
        <p:spPr>
          <a:xfrm>
            <a:off x="9454896" y="4663440"/>
            <a:ext cx="20939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73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cualitativa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9454896" y="4809744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amplitud al ecosistema de marcas. Útil para empaquetar como prueba visual o antes/después.</a:t>
            </a:r>
            <a:endParaRPr lang="en-US" sz="860" dirty="0"/>
          </a:p>
        </p:txBody>
      </p:sp>
      <p:sp>
        <p:nvSpPr>
          <p:cNvPr id="78" name="Shape 76"/>
          <p:cNvSpPr/>
          <p:nvPr/>
        </p:nvSpPr>
        <p:spPr>
          <a:xfrm>
            <a:off x="457200" y="5650992"/>
            <a:ext cx="11228832" cy="658368"/>
          </a:xfrm>
          <a:prstGeom prst="roundRect">
            <a:avLst>
              <a:gd name="adj" fmla="val 19444"/>
            </a:avLst>
          </a:prstGeom>
          <a:solidFill>
            <a:srgbClr val="F6F6FA"/>
          </a:solidFill>
          <a:ln w="7620">
            <a:solidFill>
              <a:srgbClr val="F6F6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5800" y="5815584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91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828800" y="5788152"/>
            <a:ext cx="9509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menciones de marca propia en “pruebas visuales”: antes/después, precio vs resultado, rutina completa y beneficio en 3 segundos.</a:t>
            </a:r>
            <a:endParaRPr lang="en-US" sz="1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 · COMPETENCIA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47472" y="47548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integral: seguidores, views e interacciones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lectura compacta para ver tamaño, visibilidad y </a:t>
            </a:r>
            <a:r>
              <a:rPr lang="en-US" sz="92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vínculo</a:t>
            </a: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</a:t>
            </a: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competidor</a:t>
            </a: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384280" y="2377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maicao+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371599"/>
            <a:ext cx="3682512" cy="26106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5361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E5BD7"/>
          </a:solidFill>
          <a:ln w="12700">
            <a:solidFill>
              <a:srgbClr val="1E5B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60020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43584" y="1554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04872" y="1856232"/>
            <a:ext cx="100584" cy="45720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Seg.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2971800" y="1856232"/>
            <a:ext cx="100584" cy="45720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3538728" y="1856232"/>
            <a:ext cx="100584" cy="45720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Inter.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621792" y="209397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Maicao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1499616" y="210769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9616" y="2107692"/>
            <a:ext cx="153619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99616" y="215798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9616" y="2157984"/>
            <a:ext cx="1536192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9616" y="220827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99616" y="2208276"/>
            <a:ext cx="32511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09397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566K · 3,2M · 5K</a:t>
            </a:r>
            <a:endParaRPr lang="en-US" sz="590" dirty="0"/>
          </a:p>
        </p:txBody>
      </p:sp>
      <p:sp>
        <p:nvSpPr>
          <p:cNvPr id="24" name="Text 22"/>
          <p:cNvSpPr/>
          <p:nvPr/>
        </p:nvSpPr>
        <p:spPr>
          <a:xfrm>
            <a:off x="621792" y="233629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Preunic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1499616" y="235000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99616" y="2350008"/>
            <a:ext cx="1211568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9616" y="240030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99616" y="2400300"/>
            <a:ext cx="452759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99616" y="245059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99616" y="2450592"/>
            <a:ext cx="26534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3362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446K · 950K · 4K</a:t>
            </a:r>
            <a:endParaRPr lang="en-US" sz="590" dirty="0"/>
          </a:p>
        </p:txBody>
      </p:sp>
      <p:sp>
        <p:nvSpPr>
          <p:cNvPr id="32" name="Text 30"/>
          <p:cNvSpPr/>
          <p:nvPr/>
        </p:nvSpPr>
        <p:spPr>
          <a:xfrm>
            <a:off x="621792" y="25786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Simi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1499616" y="259232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99616" y="2592324"/>
            <a:ext cx="1045860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9616" y="264261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99616" y="2642616"/>
            <a:ext cx="295485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99616" y="269290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99616" y="2692908"/>
            <a:ext cx="1536192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25786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385K · 620K · 220K</a:t>
            </a:r>
            <a:endParaRPr lang="en-US" sz="590" dirty="0"/>
          </a:p>
        </p:txBody>
      </p:sp>
      <p:sp>
        <p:nvSpPr>
          <p:cNvPr id="40" name="Text 38"/>
          <p:cNvSpPr/>
          <p:nvPr/>
        </p:nvSpPr>
        <p:spPr>
          <a:xfrm>
            <a:off x="621792" y="28209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1499616" y="283464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99616" y="2834640"/>
            <a:ext cx="45909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99616" y="288493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99616" y="2884932"/>
            <a:ext cx="228763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99616" y="293522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99616" y="2935224"/>
            <a:ext cx="18288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0" y="28209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169K · 480K · 3K</a:t>
            </a:r>
            <a:endParaRPr lang="en-US" sz="590" dirty="0"/>
          </a:p>
        </p:txBody>
      </p:sp>
      <p:sp>
        <p:nvSpPr>
          <p:cNvPr id="48" name="Text 46"/>
          <p:cNvSpPr/>
          <p:nvPr/>
        </p:nvSpPr>
        <p:spPr>
          <a:xfrm>
            <a:off x="621792" y="30632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Blush-Bar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1499616" y="307695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99616" y="3076956"/>
            <a:ext cx="65196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99616" y="312724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99616" y="3127248"/>
            <a:ext cx="76254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9616" y="317754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99616" y="3177540"/>
            <a:ext cx="18288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0" y="30632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24K · 160K · 1K</a:t>
            </a:r>
            <a:endParaRPr lang="en-US" sz="590" dirty="0"/>
          </a:p>
        </p:txBody>
      </p:sp>
      <p:sp>
        <p:nvSpPr>
          <p:cNvPr id="56" name="Text 54"/>
          <p:cNvSpPr/>
          <p:nvPr/>
        </p:nvSpPr>
        <p:spPr>
          <a:xfrm>
            <a:off x="621792" y="33055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 Plus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1499616" y="331927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99616" y="3319272"/>
            <a:ext cx="2173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99616" y="336956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99616" y="3369564"/>
            <a:ext cx="35744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99616" y="341985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99616" y="3419856"/>
            <a:ext cx="18288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0" y="33055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8K · 75K · 400</a:t>
            </a:r>
            <a:endParaRPr lang="en-US" sz="590" dirty="0"/>
          </a:p>
        </p:txBody>
      </p: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800F16CD-1F9B-77C8-2B3B-21B5AB7A25A1}"/>
              </a:ext>
            </a:extLst>
          </p:cNvPr>
          <p:cNvGrpSpPr/>
          <p:nvPr/>
        </p:nvGrpSpPr>
        <p:grpSpPr>
          <a:xfrm>
            <a:off x="621792" y="3668615"/>
            <a:ext cx="3328416" cy="274320"/>
            <a:chOff x="603504" y="5212080"/>
            <a:chExt cx="3328416" cy="274320"/>
          </a:xfrm>
        </p:grpSpPr>
        <p:sp>
          <p:nvSpPr>
            <p:cNvPr id="64" name="Shape 62"/>
            <p:cNvSpPr/>
            <p:nvPr/>
          </p:nvSpPr>
          <p:spPr>
            <a:xfrm>
              <a:off x="603504" y="5212080"/>
              <a:ext cx="3328416" cy="0"/>
            </a:xfrm>
            <a:prstGeom prst="line">
              <a:avLst/>
            </a:prstGeom>
            <a:noFill/>
            <a:ln w="12700">
              <a:solidFill>
                <a:srgbClr val="E6E6EF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603504" y="5303520"/>
              <a:ext cx="33284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11142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Maicao: base comunitaria sólida; elevar conversación.</a:t>
              </a:r>
              <a:endParaRPr lang="en-US" sz="670" dirty="0"/>
            </a:p>
          </p:txBody>
        </p:sp>
      </p:grpSp>
      <p:sp>
        <p:nvSpPr>
          <p:cNvPr id="66" name="Shape 64"/>
          <p:cNvSpPr/>
          <p:nvPr/>
        </p:nvSpPr>
        <p:spPr>
          <a:xfrm>
            <a:off x="4279392" y="1371600"/>
            <a:ext cx="3648456" cy="26106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443984" y="15361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C168C"/>
          </a:solidFill>
          <a:ln w="12700">
            <a:solidFill>
              <a:srgbClr val="EC168C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43984" y="160020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084064" y="1554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245352" y="1856232"/>
            <a:ext cx="100584" cy="45720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82512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Seg.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6812280" y="1856232"/>
            <a:ext cx="100584" cy="45720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49440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7379208" y="1856232"/>
            <a:ext cx="100584" cy="45720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16368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Inter.</a:t>
            </a:r>
            <a:endParaRPr lang="en-US" sz="630" dirty="0"/>
          </a:p>
        </p:txBody>
      </p:sp>
      <p:sp>
        <p:nvSpPr>
          <p:cNvPr id="76" name="Text 74"/>
          <p:cNvSpPr/>
          <p:nvPr/>
        </p:nvSpPr>
        <p:spPr>
          <a:xfrm>
            <a:off x="4462272" y="209397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</a:t>
            </a:r>
            <a:endParaRPr lang="en-US" sz="670" dirty="0"/>
          </a:p>
        </p:txBody>
      </p:sp>
      <p:sp>
        <p:nvSpPr>
          <p:cNvPr id="77" name="Shape 75"/>
          <p:cNvSpPr/>
          <p:nvPr/>
        </p:nvSpPr>
        <p:spPr>
          <a:xfrm>
            <a:off x="5340096" y="210769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340096" y="2107692"/>
            <a:ext cx="153619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40096" y="215798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40096" y="2157984"/>
            <a:ext cx="1119793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40096" y="220827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40096" y="2208276"/>
            <a:ext cx="89198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49440" y="209397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508K · 6,0M · 36K</a:t>
            </a:r>
            <a:endParaRPr lang="en-US" sz="590" dirty="0"/>
          </a:p>
        </p:txBody>
      </p:sp>
      <p:sp>
        <p:nvSpPr>
          <p:cNvPr id="84" name="Text 82"/>
          <p:cNvSpPr/>
          <p:nvPr/>
        </p:nvSpPr>
        <p:spPr>
          <a:xfrm>
            <a:off x="4462272" y="233629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Blush-Bar</a:t>
            </a:r>
            <a:endParaRPr lang="en-US" sz="670" dirty="0"/>
          </a:p>
        </p:txBody>
      </p:sp>
      <p:sp>
        <p:nvSpPr>
          <p:cNvPr id="85" name="Shape 83"/>
          <p:cNvSpPr/>
          <p:nvPr/>
        </p:nvSpPr>
        <p:spPr>
          <a:xfrm>
            <a:off x="5340096" y="235000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40096" y="2350008"/>
            <a:ext cx="1013040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40096" y="240030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340096" y="2400300"/>
            <a:ext cx="391927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40096" y="245059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40096" y="2450592"/>
            <a:ext cx="109020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49440" y="23362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335K · 2,1M · 44K</a:t>
            </a:r>
            <a:endParaRPr lang="en-US" sz="590" dirty="0"/>
          </a:p>
        </p:txBody>
      </p:sp>
      <p:sp>
        <p:nvSpPr>
          <p:cNvPr id="92" name="Text 90"/>
          <p:cNvSpPr/>
          <p:nvPr/>
        </p:nvSpPr>
        <p:spPr>
          <a:xfrm>
            <a:off x="4462272" y="25786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Maicao</a:t>
            </a:r>
            <a:endParaRPr lang="en-US" sz="670" dirty="0"/>
          </a:p>
        </p:txBody>
      </p:sp>
      <p:sp>
        <p:nvSpPr>
          <p:cNvPr id="93" name="Shape 91"/>
          <p:cNvSpPr/>
          <p:nvPr/>
        </p:nvSpPr>
        <p:spPr>
          <a:xfrm>
            <a:off x="5340096" y="259232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40096" y="2592324"/>
            <a:ext cx="1000944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340096" y="264261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40096" y="2642616"/>
            <a:ext cx="1536192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340096" y="269290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340096" y="2692908"/>
            <a:ext cx="145500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49440" y="25786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331K · 8,2M · 59K</a:t>
            </a:r>
            <a:endParaRPr lang="en-US" sz="590" dirty="0"/>
          </a:p>
        </p:txBody>
      </p:sp>
      <p:sp>
        <p:nvSpPr>
          <p:cNvPr id="100" name="Text 98"/>
          <p:cNvSpPr/>
          <p:nvPr/>
        </p:nvSpPr>
        <p:spPr>
          <a:xfrm>
            <a:off x="4462272" y="28209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Simi</a:t>
            </a:r>
            <a:endParaRPr lang="en-US" sz="670" dirty="0"/>
          </a:p>
        </p:txBody>
      </p:sp>
      <p:sp>
        <p:nvSpPr>
          <p:cNvPr id="101" name="Shape 99"/>
          <p:cNvSpPr/>
          <p:nvPr/>
        </p:nvSpPr>
        <p:spPr>
          <a:xfrm>
            <a:off x="5340096" y="283464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340096" y="2834640"/>
            <a:ext cx="952560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40096" y="288493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40096" y="2884932"/>
            <a:ext cx="989150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340096" y="293522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340096" y="2935224"/>
            <a:ext cx="1536192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49440" y="28209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315K · 5,3M · 620K</a:t>
            </a:r>
            <a:endParaRPr lang="en-US" sz="590" dirty="0"/>
          </a:p>
        </p:txBody>
      </p:sp>
      <p:sp>
        <p:nvSpPr>
          <p:cNvPr id="108" name="Text 106"/>
          <p:cNvSpPr/>
          <p:nvPr/>
        </p:nvSpPr>
        <p:spPr>
          <a:xfrm>
            <a:off x="4462272" y="30632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Preunic</a:t>
            </a:r>
            <a:endParaRPr lang="en-US" sz="670" dirty="0"/>
          </a:p>
        </p:txBody>
      </p:sp>
      <p:sp>
        <p:nvSpPr>
          <p:cNvPr id="109" name="Shape 107"/>
          <p:cNvSpPr/>
          <p:nvPr/>
        </p:nvSpPr>
        <p:spPr>
          <a:xfrm>
            <a:off x="5340096" y="307695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0096" y="3076956"/>
            <a:ext cx="759024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0096" y="312724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0096" y="3127248"/>
            <a:ext cx="541233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0096" y="317754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0096" y="3177540"/>
            <a:ext cx="42121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949440" y="30632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251K · 2,9M · 17K</a:t>
            </a:r>
            <a:endParaRPr lang="en-US" sz="590" dirty="0"/>
          </a:p>
        </p:txBody>
      </p:sp>
      <p:sp>
        <p:nvSpPr>
          <p:cNvPr id="116" name="Text 114"/>
          <p:cNvSpPr/>
          <p:nvPr/>
        </p:nvSpPr>
        <p:spPr>
          <a:xfrm>
            <a:off x="4462272" y="33055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 Plus</a:t>
            </a:r>
            <a:endParaRPr lang="en-US" sz="670" dirty="0"/>
          </a:p>
        </p:txBody>
      </p:sp>
      <p:sp>
        <p:nvSpPr>
          <p:cNvPr id="117" name="Shape 115"/>
          <p:cNvSpPr/>
          <p:nvPr/>
        </p:nvSpPr>
        <p:spPr>
          <a:xfrm>
            <a:off x="5340096" y="331927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0096" y="3319272"/>
            <a:ext cx="317520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0096" y="336956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0096" y="3369564"/>
            <a:ext cx="164236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0096" y="341985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340096" y="3419856"/>
            <a:ext cx="19822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949440" y="33055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105K · 880K · 8K</a:t>
            </a:r>
            <a:endParaRPr lang="en-US" sz="590" dirty="0"/>
          </a:p>
        </p:txBody>
      </p:sp>
      <p:grpSp>
        <p:nvGrpSpPr>
          <p:cNvPr id="220" name="Grupo 219">
            <a:extLst>
              <a:ext uri="{FF2B5EF4-FFF2-40B4-BE49-F238E27FC236}">
                <a16:creationId xmlns:a16="http://schemas.microsoft.com/office/drawing/2014/main" id="{737DE536-B3FA-A649-9728-C7D3B8EDA389}"/>
              </a:ext>
            </a:extLst>
          </p:cNvPr>
          <p:cNvGrpSpPr/>
          <p:nvPr/>
        </p:nvGrpSpPr>
        <p:grpSpPr>
          <a:xfrm>
            <a:off x="4456378" y="3668615"/>
            <a:ext cx="3328416" cy="274320"/>
            <a:chOff x="4443984" y="5212080"/>
            <a:chExt cx="3328416" cy="274320"/>
          </a:xfrm>
        </p:grpSpPr>
        <p:sp>
          <p:nvSpPr>
            <p:cNvPr id="124" name="Shape 122"/>
            <p:cNvSpPr/>
            <p:nvPr/>
          </p:nvSpPr>
          <p:spPr>
            <a:xfrm>
              <a:off x="4443984" y="5212080"/>
              <a:ext cx="3328416" cy="0"/>
            </a:xfrm>
            <a:prstGeom prst="line">
              <a:avLst/>
            </a:prstGeom>
            <a:noFill/>
            <a:ln w="12700">
              <a:solidFill>
                <a:srgbClr val="E6E6EF"/>
              </a:solidFill>
              <a:prstDash val="solid"/>
            </a:ln>
          </p:spPr>
        </p:sp>
        <p:sp>
          <p:nvSpPr>
            <p:cNvPr id="125" name="Text 123"/>
            <p:cNvSpPr/>
            <p:nvPr/>
          </p:nvSpPr>
          <p:spPr>
            <a:xfrm>
              <a:off x="4443984" y="5303520"/>
              <a:ext cx="33284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11142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Maicao: volumen fuerte; competir con códigos visuales.</a:t>
              </a:r>
              <a:endParaRPr lang="en-US" sz="670" dirty="0"/>
            </a:p>
          </p:txBody>
        </p:sp>
      </p:grpSp>
      <p:sp>
        <p:nvSpPr>
          <p:cNvPr id="126" name="Shape 124"/>
          <p:cNvSpPr/>
          <p:nvPr/>
        </p:nvSpPr>
        <p:spPr>
          <a:xfrm>
            <a:off x="8119872" y="1371600"/>
            <a:ext cx="3511296" cy="26334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8284464" y="15361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284464" y="160020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8924544" y="1554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10085832" y="1856232"/>
            <a:ext cx="100584" cy="45720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222992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Seg.</a:t>
            </a:r>
            <a:endParaRPr lang="en-US" sz="630" dirty="0"/>
          </a:p>
        </p:txBody>
      </p:sp>
      <p:sp>
        <p:nvSpPr>
          <p:cNvPr id="132" name="Shape 130"/>
          <p:cNvSpPr/>
          <p:nvPr/>
        </p:nvSpPr>
        <p:spPr>
          <a:xfrm>
            <a:off x="10652760" y="1856232"/>
            <a:ext cx="100584" cy="45720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789920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630" dirty="0"/>
          </a:p>
        </p:txBody>
      </p:sp>
      <p:sp>
        <p:nvSpPr>
          <p:cNvPr id="134" name="Shape 132"/>
          <p:cNvSpPr/>
          <p:nvPr/>
        </p:nvSpPr>
        <p:spPr>
          <a:xfrm>
            <a:off x="11219688" y="1856232"/>
            <a:ext cx="100584" cy="45720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356848" y="18105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Inter.</a:t>
            </a:r>
            <a:endParaRPr lang="en-US" sz="630" dirty="0"/>
          </a:p>
        </p:txBody>
      </p:sp>
      <p:sp>
        <p:nvSpPr>
          <p:cNvPr id="136" name="Text 134"/>
          <p:cNvSpPr/>
          <p:nvPr/>
        </p:nvSpPr>
        <p:spPr>
          <a:xfrm>
            <a:off x="8302752" y="209397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Simi</a:t>
            </a:r>
            <a:endParaRPr lang="en-US" sz="670" dirty="0"/>
          </a:p>
        </p:txBody>
      </p:sp>
      <p:sp>
        <p:nvSpPr>
          <p:cNvPr id="137" name="Shape 135"/>
          <p:cNvSpPr/>
          <p:nvPr/>
        </p:nvSpPr>
        <p:spPr>
          <a:xfrm>
            <a:off x="9180576" y="210769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80576" y="2107692"/>
            <a:ext cx="153619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180576" y="215798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180576" y="2157984"/>
            <a:ext cx="1290778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180576" y="220827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80576" y="2208276"/>
            <a:ext cx="1536192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789920" y="209397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290K · 3,8M · 90K</a:t>
            </a:r>
            <a:endParaRPr lang="en-US" sz="590" dirty="0"/>
          </a:p>
        </p:txBody>
      </p:sp>
      <p:sp>
        <p:nvSpPr>
          <p:cNvPr id="144" name="Text 142"/>
          <p:cNvSpPr/>
          <p:nvPr/>
        </p:nvSpPr>
        <p:spPr>
          <a:xfrm>
            <a:off x="8302752" y="233629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Maicao</a:t>
            </a:r>
            <a:endParaRPr lang="en-US" sz="670" dirty="0"/>
          </a:p>
        </p:txBody>
      </p:sp>
      <p:sp>
        <p:nvSpPr>
          <p:cNvPr id="145" name="Shape 143"/>
          <p:cNvSpPr/>
          <p:nvPr/>
        </p:nvSpPr>
        <p:spPr>
          <a:xfrm>
            <a:off x="9180576" y="235000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180576" y="2350008"/>
            <a:ext cx="144283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80576" y="240030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80576" y="2400300"/>
            <a:ext cx="1536192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180576" y="245059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80576" y="2450592"/>
            <a:ext cx="292696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789920" y="23362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b="1" dirty="0">
                <a:solidFill>
                  <a:srgbClr val="EC1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272K · 4,5M · 17K</a:t>
            </a:r>
            <a:endParaRPr lang="en-US" sz="590" dirty="0"/>
          </a:p>
        </p:txBody>
      </p:sp>
      <p:sp>
        <p:nvSpPr>
          <p:cNvPr id="152" name="Text 150"/>
          <p:cNvSpPr/>
          <p:nvPr/>
        </p:nvSpPr>
        <p:spPr>
          <a:xfrm>
            <a:off x="8302752" y="25786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Preunic</a:t>
            </a:r>
            <a:endParaRPr lang="en-US" sz="670" dirty="0"/>
          </a:p>
        </p:txBody>
      </p:sp>
      <p:sp>
        <p:nvSpPr>
          <p:cNvPr id="153" name="Shape 151"/>
          <p:cNvSpPr/>
          <p:nvPr/>
        </p:nvSpPr>
        <p:spPr>
          <a:xfrm>
            <a:off x="9180576" y="259232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180576" y="2592324"/>
            <a:ext cx="892752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180576" y="264261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180576" y="2642616"/>
            <a:ext cx="747292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180576" y="269290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180576" y="2692908"/>
            <a:ext cx="102413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789920" y="25786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168K · 2,2M · 6K</a:t>
            </a:r>
            <a:endParaRPr lang="en-US" sz="590" dirty="0"/>
          </a:p>
        </p:txBody>
      </p:sp>
      <p:sp>
        <p:nvSpPr>
          <p:cNvPr id="160" name="Text 158"/>
          <p:cNvSpPr/>
          <p:nvPr/>
        </p:nvSpPr>
        <p:spPr>
          <a:xfrm>
            <a:off x="8302752" y="28209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</a:t>
            </a:r>
            <a:endParaRPr lang="en-US" sz="670" dirty="0"/>
          </a:p>
        </p:txBody>
      </p:sp>
      <p:sp>
        <p:nvSpPr>
          <p:cNvPr id="161" name="Shape 159"/>
          <p:cNvSpPr/>
          <p:nvPr/>
        </p:nvSpPr>
        <p:spPr>
          <a:xfrm>
            <a:off x="9180576" y="283464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180576" y="2834640"/>
            <a:ext cx="556976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180576" y="288493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180576" y="2884932"/>
            <a:ext cx="373646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180576" y="293522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180576" y="2935224"/>
            <a:ext cx="128016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789920" y="28209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105K · 1,1M · 8K</a:t>
            </a:r>
            <a:endParaRPr lang="en-US" sz="590" dirty="0"/>
          </a:p>
        </p:txBody>
      </p:sp>
      <p:sp>
        <p:nvSpPr>
          <p:cNvPr id="168" name="Text 166"/>
          <p:cNvSpPr/>
          <p:nvPr/>
        </p:nvSpPr>
        <p:spPr>
          <a:xfrm>
            <a:off x="8302752" y="30632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Blush-Bar</a:t>
            </a:r>
            <a:endParaRPr lang="en-US" sz="670" dirty="0"/>
          </a:p>
        </p:txBody>
      </p:sp>
      <p:sp>
        <p:nvSpPr>
          <p:cNvPr id="169" name="Shape 167"/>
          <p:cNvSpPr/>
          <p:nvPr/>
        </p:nvSpPr>
        <p:spPr>
          <a:xfrm>
            <a:off x="9180576" y="307695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180576" y="3076956"/>
            <a:ext cx="488017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180576" y="3127248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180576" y="3127248"/>
            <a:ext cx="322694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80576" y="3177540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180576" y="3177540"/>
            <a:ext cx="139964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789920" y="30632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92K · 950K · 8K</a:t>
            </a:r>
            <a:endParaRPr lang="en-US" sz="590" dirty="0"/>
          </a:p>
        </p:txBody>
      </p:sp>
      <p:sp>
        <p:nvSpPr>
          <p:cNvPr id="176" name="Text 174"/>
          <p:cNvSpPr/>
          <p:nvPr/>
        </p:nvSpPr>
        <p:spPr>
          <a:xfrm>
            <a:off x="8302752" y="33055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 Plus</a:t>
            </a:r>
            <a:endParaRPr lang="en-US" sz="670" dirty="0"/>
          </a:p>
        </p:txBody>
      </p:sp>
      <p:sp>
        <p:nvSpPr>
          <p:cNvPr id="177" name="Shape 175"/>
          <p:cNvSpPr/>
          <p:nvPr/>
        </p:nvSpPr>
        <p:spPr>
          <a:xfrm>
            <a:off x="9180576" y="3319272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80576" y="3319272"/>
            <a:ext cx="116700" cy="32004"/>
          </a:xfrm>
          <a:prstGeom prst="rect">
            <a:avLst/>
          </a:prstGeom>
          <a:solidFill>
            <a:srgbClr val="EC168C"/>
          </a:solidFill>
          <a:ln w="12700">
            <a:solidFill>
              <a:srgbClr val="EC168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180576" y="3369564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80576" y="3369564"/>
            <a:ext cx="122284" cy="32004"/>
          </a:xfrm>
          <a:prstGeom prst="rect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180576" y="3419856"/>
            <a:ext cx="1536192" cy="32004"/>
          </a:xfrm>
          <a:prstGeom prst="rect">
            <a:avLst/>
          </a:prstGeom>
          <a:solidFill>
            <a:srgbClr val="E9EAF2"/>
          </a:solidFill>
          <a:ln w="12700">
            <a:solidFill>
              <a:srgbClr val="E9EAF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0576" y="3419856"/>
            <a:ext cx="20483" cy="32004"/>
          </a:xfrm>
          <a:prstGeom prst="rect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789920" y="33055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22K · 360K · 1K</a:t>
            </a:r>
            <a:endParaRPr lang="en-US" sz="590" dirty="0"/>
          </a:p>
        </p:txBody>
      </p: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DA7C51A4-E561-09A9-19AB-085173E912B1}"/>
              </a:ext>
            </a:extLst>
          </p:cNvPr>
          <p:cNvGrpSpPr/>
          <p:nvPr/>
        </p:nvGrpSpPr>
        <p:grpSpPr>
          <a:xfrm>
            <a:off x="8241792" y="3668615"/>
            <a:ext cx="3328416" cy="274320"/>
            <a:chOff x="8284464" y="5212080"/>
            <a:chExt cx="3328416" cy="274320"/>
          </a:xfrm>
        </p:grpSpPr>
        <p:sp>
          <p:nvSpPr>
            <p:cNvPr id="184" name="Shape 182"/>
            <p:cNvSpPr/>
            <p:nvPr/>
          </p:nvSpPr>
          <p:spPr>
            <a:xfrm>
              <a:off x="8284464" y="5212080"/>
              <a:ext cx="3328416" cy="0"/>
            </a:xfrm>
            <a:prstGeom prst="line">
              <a:avLst/>
            </a:prstGeom>
            <a:noFill/>
            <a:ln w="12700">
              <a:solidFill>
                <a:srgbClr val="E6E6EF"/>
              </a:solidFill>
              <a:prstDash val="solid"/>
            </a:ln>
          </p:spPr>
        </p:sp>
        <p:sp>
          <p:nvSpPr>
            <p:cNvPr id="185" name="Text 183"/>
            <p:cNvSpPr/>
            <p:nvPr/>
          </p:nvSpPr>
          <p:spPr>
            <a:xfrm>
              <a:off x="8284464" y="5303520"/>
              <a:ext cx="33284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11142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Maicao: cerca en comunidad y fuerte en views; profundizar vínculo.</a:t>
              </a:r>
              <a:endParaRPr lang="en-US" sz="670" dirty="0"/>
            </a:p>
          </p:txBody>
        </p:sp>
      </p:grpSp>
      <p:sp>
        <p:nvSpPr>
          <p:cNvPr id="187" name="Text 185"/>
          <p:cNvSpPr/>
          <p:nvPr/>
        </p:nvSpPr>
        <p:spPr>
          <a:xfrm>
            <a:off x="676656" y="594360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leerla</a:t>
            </a:r>
            <a:endParaRPr lang="en-US" sz="930" dirty="0"/>
          </a:p>
        </p:txBody>
      </p:sp>
      <p:sp>
        <p:nvSpPr>
          <p:cNvPr id="189" name="Text 187"/>
          <p:cNvSpPr/>
          <p:nvPr/>
        </p:nvSpPr>
        <p:spPr>
          <a:xfrm>
            <a:off x="438912" y="647395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views e interacciones de competidores son referenciales para visualizar estructura; reemplazar con datos finales.</a:t>
            </a:r>
            <a:endParaRPr lang="en-US" sz="620" dirty="0"/>
          </a:p>
        </p:txBody>
      </p:sp>
      <p:sp>
        <p:nvSpPr>
          <p:cNvPr id="223" name="Text 67">
            <a:extLst>
              <a:ext uri="{FF2B5EF4-FFF2-40B4-BE49-F238E27FC236}">
                <a16:creationId xmlns:a16="http://schemas.microsoft.com/office/drawing/2014/main" id="{CCECAD4A-639C-97C3-255C-6922345C37A4}"/>
              </a:ext>
            </a:extLst>
          </p:cNvPr>
          <p:cNvSpPr/>
          <p:nvPr/>
        </p:nvSpPr>
        <p:spPr>
          <a:xfrm>
            <a:off x="341376" y="4121243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mirar de cada competidor</a:t>
            </a:r>
            <a:endParaRPr lang="en-US" sz="1600" dirty="0"/>
          </a:p>
        </p:txBody>
      </p:sp>
      <p:sp>
        <p:nvSpPr>
          <p:cNvPr id="224" name="Shape 68">
            <a:extLst>
              <a:ext uri="{FF2B5EF4-FFF2-40B4-BE49-F238E27FC236}">
                <a16:creationId xmlns:a16="http://schemas.microsoft.com/office/drawing/2014/main" id="{1391C1B3-BC69-0674-72F4-78AC701D2CA3}"/>
              </a:ext>
            </a:extLst>
          </p:cNvPr>
          <p:cNvSpPr/>
          <p:nvPr/>
        </p:nvSpPr>
        <p:spPr>
          <a:xfrm>
            <a:off x="323088" y="4450427"/>
            <a:ext cx="215432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FF5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5" name="Shape 69">
            <a:extLst>
              <a:ext uri="{FF2B5EF4-FFF2-40B4-BE49-F238E27FC236}">
                <a16:creationId xmlns:a16="http://schemas.microsoft.com/office/drawing/2014/main" id="{85FA91B0-B61A-3B89-C28E-95AE5C64B1DC}"/>
              </a:ext>
            </a:extLst>
          </p:cNvPr>
          <p:cNvSpPr/>
          <p:nvPr/>
        </p:nvSpPr>
        <p:spPr>
          <a:xfrm>
            <a:off x="478536" y="4605875"/>
            <a:ext cx="146304" cy="146304"/>
          </a:xfrm>
          <a:prstGeom prst="ellipse">
            <a:avLst/>
          </a:prstGeom>
          <a:solidFill>
            <a:srgbClr val="F28A1A"/>
          </a:solidFill>
          <a:ln w="12700">
            <a:solidFill>
              <a:srgbClr val="F28A1A"/>
            </a:solidFill>
            <a:prstDash val="solid"/>
          </a:ln>
        </p:spPr>
      </p:sp>
      <p:sp>
        <p:nvSpPr>
          <p:cNvPr id="226" name="Text 70">
            <a:extLst>
              <a:ext uri="{FF2B5EF4-FFF2-40B4-BE49-F238E27FC236}">
                <a16:creationId xmlns:a16="http://schemas.microsoft.com/office/drawing/2014/main" id="{1AFDA577-3972-25B3-BFB8-959B1A61EE65}"/>
              </a:ext>
            </a:extLst>
          </p:cNvPr>
          <p:cNvSpPr/>
          <p:nvPr/>
        </p:nvSpPr>
        <p:spPr>
          <a:xfrm>
            <a:off x="679704" y="4560155"/>
            <a:ext cx="1697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28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Preunic</a:t>
            </a:r>
            <a:endParaRPr lang="en-US" sz="920" dirty="0"/>
          </a:p>
        </p:txBody>
      </p:sp>
      <p:sp>
        <p:nvSpPr>
          <p:cNvPr id="227" name="Text 71">
            <a:extLst>
              <a:ext uri="{FF2B5EF4-FFF2-40B4-BE49-F238E27FC236}">
                <a16:creationId xmlns:a16="http://schemas.microsoft.com/office/drawing/2014/main" id="{11B2E0D8-94BF-F10C-C249-645305BD5B84}"/>
              </a:ext>
            </a:extLst>
          </p:cNvPr>
          <p:cNvSpPr/>
          <p:nvPr/>
        </p:nvSpPr>
        <p:spPr>
          <a:xfrm>
            <a:off x="487680" y="4834475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+ activaciones</a:t>
            </a:r>
            <a:endParaRPr lang="en-US" sz="900" dirty="0"/>
          </a:p>
        </p:txBody>
      </p:sp>
      <p:sp>
        <p:nvSpPr>
          <p:cNvPr id="228" name="Text 72">
            <a:extLst>
              <a:ext uri="{FF2B5EF4-FFF2-40B4-BE49-F238E27FC236}">
                <a16:creationId xmlns:a16="http://schemas.microsoft.com/office/drawing/2014/main" id="{891C99F9-98AA-9E07-EB6B-D60B3DE75E0A}"/>
              </a:ext>
            </a:extLst>
          </p:cNvPr>
          <p:cNvSpPr/>
          <p:nvPr/>
        </p:nvSpPr>
        <p:spPr>
          <a:xfrm>
            <a:off x="487680" y="5127083"/>
            <a:ext cx="1825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Promociones tácticas, creators y presencia en tienda. Aprendizaje: claridad promocional y ejecución retail.</a:t>
            </a:r>
            <a:endParaRPr lang="en-US" sz="670" dirty="0"/>
          </a:p>
        </p:txBody>
      </p:sp>
      <p:sp>
        <p:nvSpPr>
          <p:cNvPr id="229" name="Shape 73">
            <a:extLst>
              <a:ext uri="{FF2B5EF4-FFF2-40B4-BE49-F238E27FC236}">
                <a16:creationId xmlns:a16="http://schemas.microsoft.com/office/drawing/2014/main" id="{9D3F99DE-A0C1-4D08-3E7F-ED23A8205A52}"/>
              </a:ext>
            </a:extLst>
          </p:cNvPr>
          <p:cNvSpPr/>
          <p:nvPr/>
        </p:nvSpPr>
        <p:spPr>
          <a:xfrm>
            <a:off x="2642006" y="4450427"/>
            <a:ext cx="215432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FF5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0" name="Shape 74">
            <a:extLst>
              <a:ext uri="{FF2B5EF4-FFF2-40B4-BE49-F238E27FC236}">
                <a16:creationId xmlns:a16="http://schemas.microsoft.com/office/drawing/2014/main" id="{C9A048DF-D0B0-325C-512B-7939D84B704F}"/>
              </a:ext>
            </a:extLst>
          </p:cNvPr>
          <p:cNvSpPr/>
          <p:nvPr/>
        </p:nvSpPr>
        <p:spPr>
          <a:xfrm>
            <a:off x="2797454" y="4605875"/>
            <a:ext cx="146304" cy="146304"/>
          </a:xfrm>
          <a:prstGeom prst="ellipse">
            <a:avLst/>
          </a:prstGeom>
          <a:solidFill>
            <a:srgbClr val="1E5BD7"/>
          </a:solidFill>
          <a:ln w="12700">
            <a:solidFill>
              <a:srgbClr val="1E5BD7"/>
            </a:solidFill>
            <a:prstDash val="solid"/>
          </a:ln>
        </p:spPr>
      </p:sp>
      <p:sp>
        <p:nvSpPr>
          <p:cNvPr id="231" name="Text 75">
            <a:extLst>
              <a:ext uri="{FF2B5EF4-FFF2-40B4-BE49-F238E27FC236}">
                <a16:creationId xmlns:a16="http://schemas.microsoft.com/office/drawing/2014/main" id="{786608D0-6A10-48BC-C7FE-0D013E8889FE}"/>
              </a:ext>
            </a:extLst>
          </p:cNvPr>
          <p:cNvSpPr/>
          <p:nvPr/>
        </p:nvSpPr>
        <p:spPr>
          <a:xfrm>
            <a:off x="2998622" y="4560155"/>
            <a:ext cx="1697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E5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Simi</a:t>
            </a:r>
            <a:endParaRPr lang="en-US" sz="920" dirty="0"/>
          </a:p>
        </p:txBody>
      </p:sp>
      <p:sp>
        <p:nvSpPr>
          <p:cNvPr id="232" name="Text 76">
            <a:extLst>
              <a:ext uri="{FF2B5EF4-FFF2-40B4-BE49-F238E27FC236}">
                <a16:creationId xmlns:a16="http://schemas.microsoft.com/office/drawing/2014/main" id="{C67FF8A9-E68F-3829-61D7-C5FABFB500CE}"/>
              </a:ext>
            </a:extLst>
          </p:cNvPr>
          <p:cNvSpPr/>
          <p:nvPr/>
        </p:nvSpPr>
        <p:spPr>
          <a:xfrm>
            <a:off x="2806598" y="4834475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Vínculo humano</a:t>
            </a:r>
            <a:endParaRPr lang="en-US" sz="900" dirty="0"/>
          </a:p>
        </p:txBody>
      </p:sp>
      <p:sp>
        <p:nvSpPr>
          <p:cNvPr id="233" name="Text 77">
            <a:extLst>
              <a:ext uri="{FF2B5EF4-FFF2-40B4-BE49-F238E27FC236}">
                <a16:creationId xmlns:a16="http://schemas.microsoft.com/office/drawing/2014/main" id="{A82662E2-D232-2DA7-874C-30543265AABE}"/>
              </a:ext>
            </a:extLst>
          </p:cNvPr>
          <p:cNvSpPr/>
          <p:nvPr/>
        </p:nvSpPr>
        <p:spPr>
          <a:xfrm>
            <a:off x="2806598" y="5127083"/>
            <a:ext cx="1825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social, humor y propósito. Aprendizaje: conversación emocional y cercanía en TikTok.</a:t>
            </a:r>
            <a:endParaRPr lang="en-US" sz="670" dirty="0"/>
          </a:p>
        </p:txBody>
      </p:sp>
      <p:sp>
        <p:nvSpPr>
          <p:cNvPr id="234" name="Shape 78">
            <a:extLst>
              <a:ext uri="{FF2B5EF4-FFF2-40B4-BE49-F238E27FC236}">
                <a16:creationId xmlns:a16="http://schemas.microsoft.com/office/drawing/2014/main" id="{9E41C937-4919-0123-664F-709FBEB45447}"/>
              </a:ext>
            </a:extLst>
          </p:cNvPr>
          <p:cNvSpPr/>
          <p:nvPr/>
        </p:nvSpPr>
        <p:spPr>
          <a:xfrm>
            <a:off x="4960925" y="4450427"/>
            <a:ext cx="215432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FF5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5" name="Shape 79">
            <a:extLst>
              <a:ext uri="{FF2B5EF4-FFF2-40B4-BE49-F238E27FC236}">
                <a16:creationId xmlns:a16="http://schemas.microsoft.com/office/drawing/2014/main" id="{B86F3870-B532-C12E-F4C1-CDADB133D838}"/>
              </a:ext>
            </a:extLst>
          </p:cNvPr>
          <p:cNvSpPr/>
          <p:nvPr/>
        </p:nvSpPr>
        <p:spPr>
          <a:xfrm>
            <a:off x="5116373" y="4605875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6" name="Text 80">
            <a:extLst>
              <a:ext uri="{FF2B5EF4-FFF2-40B4-BE49-F238E27FC236}">
                <a16:creationId xmlns:a16="http://schemas.microsoft.com/office/drawing/2014/main" id="{89D2D325-71BE-11C7-D9C0-261DA7BF8054}"/>
              </a:ext>
            </a:extLst>
          </p:cNvPr>
          <p:cNvSpPr/>
          <p:nvPr/>
        </p:nvSpPr>
        <p:spPr>
          <a:xfrm>
            <a:off x="5317541" y="4560155"/>
            <a:ext cx="1697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</a:t>
            </a:r>
            <a:endParaRPr lang="en-US" sz="920" dirty="0"/>
          </a:p>
        </p:txBody>
      </p:sp>
      <p:sp>
        <p:nvSpPr>
          <p:cNvPr id="237" name="Text 81">
            <a:extLst>
              <a:ext uri="{FF2B5EF4-FFF2-40B4-BE49-F238E27FC236}">
                <a16:creationId xmlns:a16="http://schemas.microsoft.com/office/drawing/2014/main" id="{3DFF3576-226C-D6EA-2633-78401FE63019}"/>
              </a:ext>
            </a:extLst>
          </p:cNvPr>
          <p:cNvSpPr/>
          <p:nvPr/>
        </p:nvSpPr>
        <p:spPr>
          <a:xfrm>
            <a:off x="5125517" y="4834475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Estética aspiracional</a:t>
            </a:r>
            <a:endParaRPr lang="en-US" sz="900" dirty="0"/>
          </a:p>
        </p:txBody>
      </p:sp>
      <p:sp>
        <p:nvSpPr>
          <p:cNvPr id="238" name="Text 82">
            <a:extLst>
              <a:ext uri="{FF2B5EF4-FFF2-40B4-BE49-F238E27FC236}">
                <a16:creationId xmlns:a16="http://schemas.microsoft.com/office/drawing/2014/main" id="{165FC9D4-41C6-18DA-2B44-A28AE04CE1B3}"/>
              </a:ext>
            </a:extLst>
          </p:cNvPr>
          <p:cNvSpPr/>
          <p:nvPr/>
        </p:nvSpPr>
        <p:spPr>
          <a:xfrm>
            <a:off x="5125517" y="5127083"/>
            <a:ext cx="1825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tipo Pinterest, eventos y belleza editorial. Aprendizaje: elevar códigos visuales.</a:t>
            </a:r>
            <a:endParaRPr lang="en-US" sz="670" dirty="0"/>
          </a:p>
        </p:txBody>
      </p:sp>
      <p:sp>
        <p:nvSpPr>
          <p:cNvPr id="239" name="Shape 83">
            <a:extLst>
              <a:ext uri="{FF2B5EF4-FFF2-40B4-BE49-F238E27FC236}">
                <a16:creationId xmlns:a16="http://schemas.microsoft.com/office/drawing/2014/main" id="{01AF61C7-0841-B4AB-5D71-26F53F56A6A1}"/>
              </a:ext>
            </a:extLst>
          </p:cNvPr>
          <p:cNvSpPr/>
          <p:nvPr/>
        </p:nvSpPr>
        <p:spPr>
          <a:xfrm>
            <a:off x="7279843" y="4450427"/>
            <a:ext cx="215432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FF5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0" name="Shape 84">
            <a:extLst>
              <a:ext uri="{FF2B5EF4-FFF2-40B4-BE49-F238E27FC236}">
                <a16:creationId xmlns:a16="http://schemas.microsoft.com/office/drawing/2014/main" id="{C0C010C4-8F75-89A6-9FA0-16126C737CD6}"/>
              </a:ext>
            </a:extLst>
          </p:cNvPr>
          <p:cNvSpPr/>
          <p:nvPr/>
        </p:nvSpPr>
        <p:spPr>
          <a:xfrm>
            <a:off x="7435291" y="4605875"/>
            <a:ext cx="146304" cy="146304"/>
          </a:xfrm>
          <a:prstGeom prst="ellipse">
            <a:avLst/>
          </a:prstGeom>
          <a:solidFill>
            <a:srgbClr val="F5A6D6"/>
          </a:solidFill>
          <a:ln w="12700">
            <a:solidFill>
              <a:srgbClr val="F5A6D6"/>
            </a:solidFill>
            <a:prstDash val="solid"/>
          </a:ln>
        </p:spPr>
      </p:sp>
      <p:sp>
        <p:nvSpPr>
          <p:cNvPr id="241" name="Text 85">
            <a:extLst>
              <a:ext uri="{FF2B5EF4-FFF2-40B4-BE49-F238E27FC236}">
                <a16:creationId xmlns:a16="http://schemas.microsoft.com/office/drawing/2014/main" id="{DDE4DE39-8C57-E5C8-BF4B-87E37B1AEAFC}"/>
              </a:ext>
            </a:extLst>
          </p:cNvPr>
          <p:cNvSpPr/>
          <p:nvPr/>
        </p:nvSpPr>
        <p:spPr>
          <a:xfrm>
            <a:off x="7636459" y="4560155"/>
            <a:ext cx="1697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5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Blush-Bar</a:t>
            </a:r>
            <a:endParaRPr lang="en-US" sz="920" dirty="0"/>
          </a:p>
        </p:txBody>
      </p:sp>
      <p:sp>
        <p:nvSpPr>
          <p:cNvPr id="242" name="Text 86">
            <a:extLst>
              <a:ext uri="{FF2B5EF4-FFF2-40B4-BE49-F238E27FC236}">
                <a16:creationId xmlns:a16="http://schemas.microsoft.com/office/drawing/2014/main" id="{1D607D40-2F31-EB81-1A71-C14424230154}"/>
              </a:ext>
            </a:extLst>
          </p:cNvPr>
          <p:cNvSpPr/>
          <p:nvPr/>
        </p:nvSpPr>
        <p:spPr>
          <a:xfrm>
            <a:off x="7444435" y="4834475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Experiencias + lifestyle</a:t>
            </a:r>
            <a:endParaRPr lang="en-US" sz="900" dirty="0"/>
          </a:p>
        </p:txBody>
      </p:sp>
      <p:sp>
        <p:nvSpPr>
          <p:cNvPr id="243" name="Text 87">
            <a:extLst>
              <a:ext uri="{FF2B5EF4-FFF2-40B4-BE49-F238E27FC236}">
                <a16:creationId xmlns:a16="http://schemas.microsoft.com/office/drawing/2014/main" id="{D0612D63-DAD6-11C9-412E-38D486DAB674}"/>
              </a:ext>
            </a:extLst>
          </p:cNvPr>
          <p:cNvSpPr/>
          <p:nvPr/>
        </p:nvSpPr>
        <p:spPr>
          <a:xfrm>
            <a:off x="7444435" y="5127083"/>
            <a:ext cx="1825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Alianzas, activaciones simultáneas y narrativa de comunidad. Aprendizaje: construir experiencia.</a:t>
            </a:r>
            <a:endParaRPr lang="en-US" sz="670" dirty="0"/>
          </a:p>
        </p:txBody>
      </p:sp>
      <p:sp>
        <p:nvSpPr>
          <p:cNvPr id="244" name="Shape 88">
            <a:extLst>
              <a:ext uri="{FF2B5EF4-FFF2-40B4-BE49-F238E27FC236}">
                <a16:creationId xmlns:a16="http://schemas.microsoft.com/office/drawing/2014/main" id="{F5113549-3CFB-4AEA-9162-A14B10B7F115}"/>
              </a:ext>
            </a:extLst>
          </p:cNvPr>
          <p:cNvSpPr/>
          <p:nvPr/>
        </p:nvSpPr>
        <p:spPr>
          <a:xfrm>
            <a:off x="9598762" y="4450427"/>
            <a:ext cx="215432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FF5"/>
            </a:solidFill>
            <a:prstDash val="solid"/>
          </a:ln>
          <a:effectLst>
            <a:outerShdw blurRad="1905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5" name="Shape 89">
            <a:extLst>
              <a:ext uri="{FF2B5EF4-FFF2-40B4-BE49-F238E27FC236}">
                <a16:creationId xmlns:a16="http://schemas.microsoft.com/office/drawing/2014/main" id="{72058D8C-4114-49DA-9B8B-6DB71E34159C}"/>
              </a:ext>
            </a:extLst>
          </p:cNvPr>
          <p:cNvSpPr/>
          <p:nvPr/>
        </p:nvSpPr>
        <p:spPr>
          <a:xfrm>
            <a:off x="9754210" y="4605875"/>
            <a:ext cx="146304" cy="146304"/>
          </a:xfrm>
          <a:prstGeom prst="ellipse">
            <a:avLst/>
          </a:prstGeom>
          <a:solidFill>
            <a:srgbClr val="7B2CE2"/>
          </a:solidFill>
          <a:ln w="12700">
            <a:solidFill>
              <a:srgbClr val="7B2CE2"/>
            </a:solidFill>
            <a:prstDash val="solid"/>
          </a:ln>
        </p:spPr>
      </p:sp>
      <p:sp>
        <p:nvSpPr>
          <p:cNvPr id="246" name="Text 90">
            <a:extLst>
              <a:ext uri="{FF2B5EF4-FFF2-40B4-BE49-F238E27FC236}">
                <a16:creationId xmlns:a16="http://schemas.microsoft.com/office/drawing/2014/main" id="{67778E32-B653-D590-EBD7-EA54110220A2}"/>
              </a:ext>
            </a:extLst>
          </p:cNvPr>
          <p:cNvSpPr/>
          <p:nvPr/>
        </p:nvSpPr>
        <p:spPr>
          <a:xfrm>
            <a:off x="9955378" y="4560155"/>
            <a:ext cx="1697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7B2C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 Plus</a:t>
            </a:r>
            <a:endParaRPr lang="en-US" sz="920" dirty="0"/>
          </a:p>
        </p:txBody>
      </p:sp>
      <p:sp>
        <p:nvSpPr>
          <p:cNvPr id="247" name="Text 91">
            <a:extLst>
              <a:ext uri="{FF2B5EF4-FFF2-40B4-BE49-F238E27FC236}">
                <a16:creationId xmlns:a16="http://schemas.microsoft.com/office/drawing/2014/main" id="{11E1EE54-F06C-F2F5-9C4F-1E0E6A2DC3AD}"/>
              </a:ext>
            </a:extLst>
          </p:cNvPr>
          <p:cNvSpPr/>
          <p:nvPr/>
        </p:nvSpPr>
        <p:spPr>
          <a:xfrm>
            <a:off x="9763354" y="4834475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Nichos + colaboraciones</a:t>
            </a:r>
            <a:endParaRPr lang="en-US" sz="900" dirty="0"/>
          </a:p>
        </p:txBody>
      </p:sp>
      <p:sp>
        <p:nvSpPr>
          <p:cNvPr id="248" name="Text 92">
            <a:extLst>
              <a:ext uri="{FF2B5EF4-FFF2-40B4-BE49-F238E27FC236}">
                <a16:creationId xmlns:a16="http://schemas.microsoft.com/office/drawing/2014/main" id="{FA783EE5-C69C-FE90-D83F-E160C2044FEC}"/>
              </a:ext>
            </a:extLst>
          </p:cNvPr>
          <p:cNvSpPr/>
          <p:nvPr/>
        </p:nvSpPr>
        <p:spPr>
          <a:xfrm>
            <a:off x="9763354" y="5127083"/>
            <a:ext cx="182514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11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puntuales y territorios específicos. Aprendizaje: micro-nichos y colaboraciones tácticas.</a:t>
            </a:r>
            <a:endParaRPr lang="en-US" sz="670" dirty="0"/>
          </a:p>
        </p:txBody>
      </p: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5FD0A3D3-F136-AEE8-990F-6DFDFF4BD20C}"/>
              </a:ext>
            </a:extLst>
          </p:cNvPr>
          <p:cNvGrpSpPr/>
          <p:nvPr/>
        </p:nvGrpSpPr>
        <p:grpSpPr>
          <a:xfrm>
            <a:off x="390144" y="5658757"/>
            <a:ext cx="11411712" cy="658368"/>
            <a:chOff x="384048" y="5394960"/>
            <a:chExt cx="11411712" cy="658368"/>
          </a:xfrm>
        </p:grpSpPr>
        <p:sp>
          <p:nvSpPr>
            <p:cNvPr id="255" name="Shape 93">
              <a:extLst>
                <a:ext uri="{FF2B5EF4-FFF2-40B4-BE49-F238E27FC236}">
                  <a16:creationId xmlns:a16="http://schemas.microsoft.com/office/drawing/2014/main" id="{20CAF671-FFA8-4739-82F4-D44B9FD2BB53}"/>
                </a:ext>
              </a:extLst>
            </p:cNvPr>
            <p:cNvSpPr/>
            <p:nvPr/>
          </p:nvSpPr>
          <p:spPr>
            <a:xfrm>
              <a:off x="384048" y="5394960"/>
              <a:ext cx="11411712" cy="658368"/>
            </a:xfrm>
            <a:prstGeom prst="roundRect">
              <a:avLst>
                <a:gd name="adj" fmla="val 8333"/>
              </a:avLst>
            </a:prstGeom>
            <a:solidFill>
              <a:srgbClr val="11142B"/>
            </a:solidFill>
            <a:ln w="12700">
              <a:solidFill>
                <a:srgbClr val="11142B"/>
              </a:solidFill>
              <a:prstDash val="solid"/>
            </a:ln>
          </p:spPr>
        </p:sp>
        <p:sp>
          <p:nvSpPr>
            <p:cNvPr id="256" name="Text 94">
              <a:extLst>
                <a:ext uri="{FF2B5EF4-FFF2-40B4-BE49-F238E27FC236}">
                  <a16:creationId xmlns:a16="http://schemas.microsoft.com/office/drawing/2014/main" id="{FEEEF31C-7395-E55C-BC0A-D4EA855154EE}"/>
                </a:ext>
              </a:extLst>
            </p:cNvPr>
            <p:cNvSpPr/>
            <p:nvPr/>
          </p:nvSpPr>
          <p:spPr>
            <a:xfrm>
              <a:off x="658368" y="5641848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Oportunidad Maicao</a:t>
              </a:r>
              <a:endParaRPr lang="en-US" sz="1200" dirty="0"/>
            </a:p>
          </p:txBody>
        </p:sp>
        <p:sp>
          <p:nvSpPr>
            <p:cNvPr id="257" name="Text 95">
              <a:extLst>
                <a:ext uri="{FF2B5EF4-FFF2-40B4-BE49-F238E27FC236}">
                  <a16:creationId xmlns:a16="http://schemas.microsoft.com/office/drawing/2014/main" id="{64AA7E67-BA03-099E-1D50-3A7BD5C56216}"/>
                </a:ext>
              </a:extLst>
            </p:cNvPr>
            <p:cNvSpPr/>
            <p:nvPr/>
          </p:nvSpPr>
          <p:spPr>
            <a:xfrm>
              <a:off x="2487168" y="5522976"/>
              <a:ext cx="88696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6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Usar Facebook como base comunitaria, Instagram como vitrina de alto volumen y TikTok como territorio de crecimiento cualitativo. La ventaja no es solo “tener más views”, sino convertirlas en interacción y preferencia.</a:t>
              </a:r>
              <a:endParaRPr lang="en-US" sz="86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0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700" b="1" dirty="0">
                <a:solidFill>
                  <a:srgbClr val="10152B"/>
                </a:solidFill>
                <a:latin typeface="Arial"/>
              </a:rPr>
              <a:t>Plan visual de </a:t>
            </a:r>
            <a:r>
              <a:rPr sz="2700" b="1" dirty="0" err="1">
                <a:solidFill>
                  <a:srgbClr val="10152B"/>
                </a:solidFill>
                <a:latin typeface="Arial"/>
              </a:rPr>
              <a:t>próximos</a:t>
            </a:r>
            <a:r>
              <a:rPr sz="2700" b="1" dirty="0">
                <a:solidFill>
                  <a:srgbClr val="10152B"/>
                </a:solidFill>
                <a:latin typeface="Arial"/>
              </a:rPr>
              <a:t> 30 días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008B"/>
                </a:solidFill>
              </a:rPr>
              <a:t>maicao+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86968" y="1545336"/>
            <a:ext cx="658368" cy="658368"/>
          </a:xfrm>
          <a:prstGeom prst="ellipse">
            <a:avLst/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86968" y="1700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09928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 err="1">
                <a:solidFill>
                  <a:srgbClr val="10152B"/>
                </a:solidFill>
                <a:latin typeface="Arial"/>
              </a:rPr>
              <a:t>Retención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09928" y="1856232"/>
            <a:ext cx="3337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10152B"/>
                </a:solidFill>
                <a:latin typeface="Arial"/>
              </a:rPr>
              <a:t>Hooks de 3 segundos, captions con promesa clara y edición nativa para TikTok.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09928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008B"/>
                </a:solidFill>
              </a:rPr>
              <a:t>Meta: subir 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327648" y="1545336"/>
            <a:ext cx="658368" cy="6583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27648" y="1700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50608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 err="1">
                <a:solidFill>
                  <a:srgbClr val="10152B"/>
                </a:solidFill>
                <a:latin typeface="Arial"/>
              </a:rPr>
              <a:t>Contenido</a:t>
            </a:r>
            <a:r>
              <a:rPr sz="1600" b="1" dirty="0">
                <a:solidFill>
                  <a:srgbClr val="10152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152B"/>
                </a:solidFill>
                <a:latin typeface="Arial"/>
              </a:rPr>
              <a:t>útil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50608" y="1856232"/>
            <a:ext cx="3337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10152B"/>
                </a:solidFill>
                <a:latin typeface="Arial"/>
              </a:rPr>
              <a:t>Series guardables en TT: tutoriales, hacks, precio vs resultado y rutinas rápidas.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50608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5CE7"/>
                </a:solidFill>
              </a:rPr>
              <a:t>Meta: más guardados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38328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86968" y="3694176"/>
            <a:ext cx="658368" cy="658368"/>
          </a:xfrm>
          <a:prstGeom prst="ellipse">
            <a:avLst/>
          </a:prstGeom>
          <a:solidFill>
            <a:srgbClr val="20294A"/>
          </a:solidFill>
          <a:ln w="12700">
            <a:solidFill>
              <a:srgbClr val="2029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6968" y="38496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09928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 err="1">
                <a:solidFill>
                  <a:srgbClr val="10152B"/>
                </a:solidFill>
                <a:latin typeface="Arial"/>
              </a:rPr>
              <a:t>Conversación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09928" y="4005072"/>
            <a:ext cx="3337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10152B"/>
                </a:solidFill>
                <a:latin typeface="Arial"/>
              </a:rPr>
              <a:t>CTA de comentario, votación y preguntas simples para activar participación real en TT.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09928" y="4617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294A"/>
                </a:solidFill>
              </a:rPr>
              <a:t>Meta: interacción real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38328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327648" y="3694176"/>
            <a:ext cx="658368" cy="658368"/>
          </a:xfrm>
          <a:prstGeom prst="ellipse">
            <a:avLst/>
          </a:prstGeom>
          <a:solidFill>
            <a:srgbClr val="E9A300"/>
          </a:solidFill>
          <a:ln w="12700">
            <a:solidFill>
              <a:srgbClr val="E9A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327648" y="38496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50608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 err="1">
                <a:solidFill>
                  <a:srgbClr val="10152B"/>
                </a:solidFill>
                <a:latin typeface="Arial"/>
              </a:rPr>
              <a:t>Nichos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50608" y="4005072"/>
            <a:ext cx="33375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10152B"/>
                </a:solidFill>
                <a:latin typeface="Arial"/>
              </a:rPr>
              <a:t>Talentos de skincare, maquillaje pro y Gen Z para micro-comunidades con alto potencial.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50608" y="4617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A300"/>
                </a:solidFill>
              </a:rPr>
              <a:t>Meta: relevancia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" y="5742432"/>
            <a:ext cx="10195560" cy="475488"/>
          </a:xfrm>
          <a:prstGeom prst="roundRect">
            <a:avLst>
              <a:gd name="adj" fmla="val 11538"/>
            </a:avLst>
          </a:prstGeom>
          <a:solidFill>
            <a:srgbClr val="EB008B"/>
          </a:solidFill>
          <a:ln w="12700">
            <a:solidFill>
              <a:srgbClr val="EB0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05840" y="58978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sz="1100" b="1" dirty="0">
                <a:solidFill>
                  <a:schemeClr val="bg1"/>
                </a:solidFill>
                <a:latin typeface="Arial"/>
              </a:rPr>
              <a:t>KPIs de control: </a:t>
            </a:r>
            <a:r>
              <a:rPr sz="1100" b="1" dirty="0" err="1">
                <a:solidFill>
                  <a:schemeClr val="bg1"/>
                </a:solidFill>
                <a:latin typeface="Arial"/>
              </a:rPr>
              <a:t>retención</a:t>
            </a:r>
            <a:r>
              <a:rPr sz="1100" b="1" dirty="0">
                <a:solidFill>
                  <a:schemeClr val="bg1"/>
                </a:solidFill>
                <a:latin typeface="Arial"/>
              </a:rPr>
              <a:t> de video · </a:t>
            </a:r>
            <a:r>
              <a:rPr sz="1100" b="1" dirty="0" err="1">
                <a:solidFill>
                  <a:schemeClr val="bg1"/>
                </a:solidFill>
                <a:latin typeface="Arial"/>
              </a:rPr>
              <a:t>guardados</a:t>
            </a:r>
            <a:r>
              <a:rPr sz="1100" b="1" dirty="0">
                <a:solidFill>
                  <a:schemeClr val="bg1"/>
                </a:solidFill>
                <a:latin typeface="Arial"/>
              </a:rPr>
              <a:t> · </a:t>
            </a:r>
            <a:r>
              <a:rPr sz="1100" b="1" dirty="0" err="1">
                <a:solidFill>
                  <a:schemeClr val="bg1"/>
                </a:solidFill>
                <a:latin typeface="Arial"/>
              </a:rPr>
              <a:t>comentarios</a:t>
            </a:r>
            <a:r>
              <a:rPr sz="1100" b="1" dirty="0">
                <a:solidFill>
                  <a:schemeClr val="bg1"/>
                </a:solidFill>
                <a:latin typeface="Arial"/>
              </a:rPr>
              <a:t> · </a:t>
            </a:r>
            <a:r>
              <a:rPr sz="1100" b="1" dirty="0" err="1">
                <a:solidFill>
                  <a:schemeClr val="bg1"/>
                </a:solidFill>
                <a:latin typeface="Arial"/>
              </a:rPr>
              <a:t>crecimiento</a:t>
            </a:r>
            <a:r>
              <a:rPr sz="1100" b="1" dirty="0">
                <a:solidFill>
                  <a:schemeClr val="bg1"/>
                </a:solidFill>
                <a:latin typeface="Arial"/>
              </a:rPr>
              <a:t> </a:t>
            </a:r>
            <a:r>
              <a:rPr sz="1100" b="1" dirty="0" err="1">
                <a:solidFill>
                  <a:schemeClr val="bg1"/>
                </a:solidFill>
                <a:latin typeface="Arial"/>
              </a:rPr>
              <a:t>seguidores</a:t>
            </a:r>
            <a:r>
              <a:rPr sz="1100" b="1" dirty="0">
                <a:solidFill>
                  <a:schemeClr val="bg1"/>
                </a:solidFill>
                <a:latin typeface="Arial"/>
              </a:rPr>
              <a:t> · ratio paid/</a:t>
            </a:r>
            <a:r>
              <a:rPr sz="1100" b="1" dirty="0" err="1">
                <a:solidFill>
                  <a:schemeClr val="bg1"/>
                </a:solidFill>
                <a:latin typeface="Arial"/>
              </a:rPr>
              <a:t>orgánico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1743</Words>
  <Application>Microsoft Macintosh PowerPoint</Application>
  <PresentationFormat>Panorámica</PresentationFormat>
  <Paragraphs>473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FAMOSOS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Mensual Maicao Marzo 2026</dc:title>
  <dc:subject>Reporte Mensual Maicao Marzo 2026 - rediseño visual</dc:subject>
  <dc:creator>OpenAI</dc:creator>
  <cp:lastModifiedBy>Microsoft Office User</cp:lastModifiedBy>
  <cp:revision>9</cp:revision>
  <dcterms:created xsi:type="dcterms:W3CDTF">2026-05-12T11:56:18Z</dcterms:created>
  <dcterms:modified xsi:type="dcterms:W3CDTF">2026-05-15T12:46:23Z</dcterms:modified>
</cp:coreProperties>
</file>