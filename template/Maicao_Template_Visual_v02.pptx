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0"/>
    <p:restoredTop sz="94610"/>
  </p:normalViewPr>
  <p:slideViewPr>
    <p:cSldViewPr snapToGrid="0" snapToObjects="1">
      <p:cViewPr varScale="1">
        <p:scale>
          <a:sx n="116" d="100"/>
          <a:sy n="116" d="100"/>
        </p:scale>
        <p:origin x="416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647118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841248" y="123444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4400" b="1" dirty="0">
                <a:solidFill>
                  <a:srgbClr val="EB008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REPORTE</a:t>
            </a:r>
            <a:endParaRPr lang="en-US" sz="4400" dirty="0"/>
          </a:p>
          <a:p>
            <a:pPr marL="0" indent="0">
              <a:buNone/>
            </a:pPr>
            <a:r>
              <a:rPr lang="en-US" sz="4400" b="1" dirty="0">
                <a:solidFill>
                  <a:srgbClr val="EB008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MENSUAL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877824" y="297180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21426"/>
                </a:solidFill>
              </a:rPr>
              <a:t>Levantamiento y análisis de plataformas digitales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77824" y="3429000"/>
            <a:ext cx="2468880" cy="347472"/>
          </a:xfrm>
          <a:prstGeom prst="rect">
            <a:avLst/>
          </a:prstGeom>
          <a:solidFill>
            <a:srgbClr val="EB008B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Maicao · Marzo 2026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77824" y="5998464"/>
            <a:ext cx="4480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E7280"/>
                </a:solidFill>
              </a:rPr>
              <a:t>Versión reestructurada para lectura ejecutiva y visual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680960" y="502920"/>
            <a:ext cx="3566160" cy="3566160"/>
          </a:xfrm>
          <a:prstGeom prst="arc">
            <a:avLst/>
          </a:prstGeom>
          <a:noFill/>
          <a:ln w="12700">
            <a:solidFill>
              <a:srgbClr val="EB008B">
                <a:alpha val="40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7543800" y="1143000"/>
            <a:ext cx="1691640" cy="1691640"/>
          </a:xfrm>
          <a:prstGeom prst="ellipse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7616952" y="1616659"/>
            <a:ext cx="15453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16,5M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616952" y="2124151"/>
            <a:ext cx="1545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</a:rPr>
              <a:t>Visualizaciones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9235440" y="2331720"/>
            <a:ext cx="1508760" cy="1508760"/>
          </a:xfrm>
          <a:prstGeom prst="ellipse">
            <a:avLst/>
          </a:prstGeom>
          <a:solidFill>
            <a:srgbClr val="20294A"/>
          </a:solidFill>
          <a:ln w="12700">
            <a:solidFill>
              <a:srgbClr val="2029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9308592" y="2754173"/>
            <a:ext cx="13624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8,2M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9308592" y="3206801"/>
            <a:ext cx="1362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</a:rPr>
              <a:t>Alcance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7909560" y="3794760"/>
            <a:ext cx="1325880" cy="1325880"/>
          </a:xfrm>
          <a:prstGeom prst="ellipse">
            <a:avLst/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7982712" y="4166006"/>
            <a:ext cx="11795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110,7K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982712" y="4563770"/>
            <a:ext cx="1179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</a:rPr>
              <a:t>Interacciones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10195560" y="60807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EB008B"/>
                </a:solidFill>
              </a:rPr>
              <a:t>maicao+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502920" y="301752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EB00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MARZO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12142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Dashboard ejecutivo: 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0378440" y="36576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EB008B"/>
                </a:solidFill>
              </a:rPr>
              <a:t>maicao+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94360" y="1170432"/>
            <a:ext cx="2148840" cy="960120"/>
          </a:xfrm>
          <a:prstGeom prst="roundRect">
            <a:avLst>
              <a:gd name="adj" fmla="val 7619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758952" y="1316736"/>
            <a:ext cx="18196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6E7280"/>
                </a:solidFill>
              </a:rPr>
              <a:t>VISUALIZACIONES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758952" y="1581912"/>
            <a:ext cx="1819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EB008B"/>
                </a:solidFill>
              </a:rPr>
              <a:t>16.486.179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758952" y="1920240"/>
            <a:ext cx="18196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FA37A"/>
                </a:solidFill>
              </a:rPr>
              <a:t>24,5% vs febrero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2880360" y="1170432"/>
            <a:ext cx="2148840" cy="960120"/>
          </a:xfrm>
          <a:prstGeom prst="roundRect">
            <a:avLst>
              <a:gd name="adj" fmla="val 7619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3044952" y="1316736"/>
            <a:ext cx="18196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6E7280"/>
                </a:solidFill>
              </a:rPr>
              <a:t>ALCANCE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3044952" y="1581912"/>
            <a:ext cx="1819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20294A"/>
                </a:solidFill>
              </a:rPr>
              <a:t>8.211.420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3044952" y="1926465"/>
            <a:ext cx="18196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FA37A"/>
                </a:solidFill>
              </a:rPr>
              <a:t>0,2% vs febrero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5166360" y="1170432"/>
            <a:ext cx="1828800" cy="960120"/>
          </a:xfrm>
          <a:prstGeom prst="roundRect">
            <a:avLst>
              <a:gd name="adj" fmla="val 7619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5330952" y="1316736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6E7280"/>
                </a:solidFill>
              </a:rPr>
              <a:t>ENGAGEMENT RATE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5330952" y="1581912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C74363"/>
                </a:solidFill>
              </a:rPr>
              <a:t>1,3%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5314819" y="1926465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C74363"/>
                </a:solidFill>
              </a:rPr>
              <a:t>−53,5% vs febrero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7132320" y="1170432"/>
            <a:ext cx="1828800" cy="960120"/>
          </a:xfrm>
          <a:prstGeom prst="roundRect">
            <a:avLst>
              <a:gd name="adj" fmla="val 7619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7296912" y="1316736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6E7280"/>
                </a:solidFill>
              </a:rPr>
              <a:t>INTERACCIONES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7296912" y="1581912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6C5CE7"/>
                </a:solidFill>
              </a:rPr>
              <a:t>110.695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7296912" y="1926465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C74363"/>
                </a:solidFill>
              </a:rPr>
              <a:t>−53,0% vs febrero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9098280" y="1170432"/>
            <a:ext cx="2057400" cy="960120"/>
          </a:xfrm>
          <a:prstGeom prst="roundRect">
            <a:avLst>
              <a:gd name="adj" fmla="val 7619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22"/>
          <p:cNvSpPr/>
          <p:nvPr/>
        </p:nvSpPr>
        <p:spPr>
          <a:xfrm>
            <a:off x="9262872" y="1316736"/>
            <a:ext cx="1728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6E7280"/>
                </a:solidFill>
              </a:rPr>
              <a:t>INVERSIÓN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9262872" y="1581912"/>
            <a:ext cx="1728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E9A300"/>
                </a:solidFill>
              </a:rPr>
              <a:t>$3.800.400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9262872" y="1915448"/>
            <a:ext cx="1728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FA37A"/>
                </a:solidFill>
              </a:rPr>
              <a:t>78,4% vs febrero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594360" y="2423160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EB008B"/>
                </a:solidFill>
              </a:rPr>
              <a:t>LECTURA DE NEGOCIO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594360" y="2651760"/>
            <a:ext cx="4846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21426"/>
                </a:solidFill>
              </a:rPr>
              <a:t>Febrero 2026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866966" y="3302958"/>
            <a:ext cx="666369" cy="1726242"/>
          </a:xfrm>
          <a:prstGeom prst="rect">
            <a:avLst/>
          </a:prstGeom>
          <a:solidFill>
            <a:srgbClr val="E6E7EB"/>
          </a:solidFill>
          <a:ln w="12700">
            <a:solidFill>
              <a:srgbClr val="E6E7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Text 28"/>
          <p:cNvSpPr/>
          <p:nvPr/>
        </p:nvSpPr>
        <p:spPr>
          <a:xfrm>
            <a:off x="729806" y="5102352"/>
            <a:ext cx="94068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Views Feb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684085" y="3074358"/>
            <a:ext cx="103212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13,2M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2078546" y="2880360"/>
            <a:ext cx="666369" cy="2148840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Text 31"/>
          <p:cNvSpPr/>
          <p:nvPr/>
        </p:nvSpPr>
        <p:spPr>
          <a:xfrm>
            <a:off x="1941386" y="5102352"/>
            <a:ext cx="94068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Views Mar</a:t>
            </a:r>
            <a:endParaRPr lang="en-US" sz="750" dirty="0"/>
          </a:p>
        </p:txBody>
      </p:sp>
      <p:sp>
        <p:nvSpPr>
          <p:cNvPr id="34" name="Text 32"/>
          <p:cNvSpPr/>
          <p:nvPr/>
        </p:nvSpPr>
        <p:spPr>
          <a:xfrm>
            <a:off x="1895666" y="2651760"/>
            <a:ext cx="103212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16,5M</a:t>
            </a:r>
            <a:endParaRPr lang="en-US" sz="750" dirty="0"/>
          </a:p>
        </p:txBody>
      </p:sp>
      <p:sp>
        <p:nvSpPr>
          <p:cNvPr id="35" name="Shape 33"/>
          <p:cNvSpPr/>
          <p:nvPr/>
        </p:nvSpPr>
        <p:spPr>
          <a:xfrm>
            <a:off x="3290125" y="4998481"/>
            <a:ext cx="666369" cy="30719"/>
          </a:xfrm>
          <a:prstGeom prst="rect">
            <a:avLst/>
          </a:prstGeom>
          <a:solidFill>
            <a:srgbClr val="E6E7EB"/>
          </a:solidFill>
          <a:ln w="12700">
            <a:solidFill>
              <a:srgbClr val="E6E7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Text 34"/>
          <p:cNvSpPr/>
          <p:nvPr/>
        </p:nvSpPr>
        <p:spPr>
          <a:xfrm>
            <a:off x="3152965" y="5102352"/>
            <a:ext cx="94068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Inter Feb</a:t>
            </a:r>
            <a:endParaRPr lang="en-US" sz="750" dirty="0"/>
          </a:p>
        </p:txBody>
      </p:sp>
      <p:sp>
        <p:nvSpPr>
          <p:cNvPr id="37" name="Text 35"/>
          <p:cNvSpPr/>
          <p:nvPr/>
        </p:nvSpPr>
        <p:spPr>
          <a:xfrm>
            <a:off x="3107245" y="4769881"/>
            <a:ext cx="103212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235,7K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4501706" y="5014772"/>
            <a:ext cx="666369" cy="14428"/>
          </a:xfrm>
          <a:prstGeom prst="rect">
            <a:avLst/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Text 37"/>
          <p:cNvSpPr/>
          <p:nvPr/>
        </p:nvSpPr>
        <p:spPr>
          <a:xfrm>
            <a:off x="4364545" y="5102352"/>
            <a:ext cx="94068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Inter Mar</a:t>
            </a:r>
            <a:endParaRPr lang="en-US" sz="750" dirty="0"/>
          </a:p>
        </p:txBody>
      </p:sp>
      <p:sp>
        <p:nvSpPr>
          <p:cNvPr id="40" name="Text 38"/>
          <p:cNvSpPr/>
          <p:nvPr/>
        </p:nvSpPr>
        <p:spPr>
          <a:xfrm>
            <a:off x="4318826" y="4786172"/>
            <a:ext cx="103212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110,7K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5806440" y="2651760"/>
            <a:ext cx="5440680" cy="2423160"/>
          </a:xfrm>
          <a:prstGeom prst="roundRect">
            <a:avLst>
              <a:gd name="adj" fmla="val 3019"/>
            </a:avLst>
          </a:prstGeom>
          <a:solidFill>
            <a:srgbClr val="121426"/>
          </a:solidFill>
          <a:ln w="12700">
            <a:solidFill>
              <a:srgbClr val="12142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Text 40"/>
          <p:cNvSpPr/>
          <p:nvPr/>
        </p:nvSpPr>
        <p:spPr>
          <a:xfrm>
            <a:off x="6144768" y="3063240"/>
            <a:ext cx="470916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</a:rPr>
              <a:t>La inversión amplificó la visibilidad, pero el engagement cayó por cambio de contexto: de festivales/verano a vuelta a la rutina. La prioridad ahora es retención y conversación, no solo alcance.</a:t>
            </a:r>
            <a:endParaRPr lang="en-US" sz="1800" dirty="0"/>
          </a:p>
        </p:txBody>
      </p:sp>
      <p:sp>
        <p:nvSpPr>
          <p:cNvPr id="43" name="Shape 41"/>
          <p:cNvSpPr/>
          <p:nvPr/>
        </p:nvSpPr>
        <p:spPr>
          <a:xfrm>
            <a:off x="6144768" y="4343400"/>
            <a:ext cx="1691640" cy="475488"/>
          </a:xfrm>
          <a:prstGeom prst="roundRect">
            <a:avLst>
              <a:gd name="adj" fmla="val 9615"/>
            </a:avLst>
          </a:prstGeom>
          <a:solidFill>
            <a:srgbClr val="E9A300"/>
          </a:solidFill>
          <a:ln w="12700">
            <a:solidFill>
              <a:srgbClr val="E9A30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4" name="Text 42"/>
          <p:cNvSpPr/>
          <p:nvPr/>
        </p:nvSpPr>
        <p:spPr>
          <a:xfrm>
            <a:off x="6254496" y="4453128"/>
            <a:ext cx="1472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Más alcance pagado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8001000" y="4343400"/>
            <a:ext cx="1874520" cy="475488"/>
          </a:xfrm>
          <a:prstGeom prst="roundRect">
            <a:avLst>
              <a:gd name="adj" fmla="val 9615"/>
            </a:avLst>
          </a:prstGeom>
          <a:solidFill>
            <a:srgbClr val="C74363"/>
          </a:solidFill>
          <a:ln w="12700">
            <a:solidFill>
              <a:srgbClr val="C7436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6" name="Text 44"/>
          <p:cNvSpPr/>
          <p:nvPr/>
        </p:nvSpPr>
        <p:spPr>
          <a:xfrm>
            <a:off x="8110728" y="4453128"/>
            <a:ext cx="1655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Menos chispa orgánica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10040112" y="4343400"/>
            <a:ext cx="960120" cy="475488"/>
          </a:xfrm>
          <a:prstGeom prst="roundRect">
            <a:avLst>
              <a:gd name="adj" fmla="val 9615"/>
            </a:avLst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8" name="Text 46"/>
          <p:cNvSpPr/>
          <p:nvPr/>
        </p:nvSpPr>
        <p:spPr>
          <a:xfrm>
            <a:off x="10149840" y="4453128"/>
            <a:ext cx="7406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TikTok motor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502920" y="301752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EB00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MARZO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12142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Qué cambió: de volumen a profundidad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0378440" y="36576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EB008B"/>
                </a:solidFill>
              </a:rPr>
              <a:t>maicao+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94360" y="1188720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EB008B"/>
                </a:solidFill>
              </a:rPr>
              <a:t>CAUSA → EFECTO → DECISIÓN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731520" y="1600200"/>
            <a:ext cx="2880360" cy="3383280"/>
          </a:xfrm>
          <a:prstGeom prst="roundRect">
            <a:avLst>
              <a:gd name="adj" fmla="val 254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960120" y="18745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B008B"/>
                </a:solidFill>
              </a:rPr>
              <a:t>1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417320" y="1901952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1426"/>
                </a:solidFill>
              </a:rPr>
              <a:t>Cambio de temporada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60120" y="2514600"/>
            <a:ext cx="2331720" cy="685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21426"/>
                </a:solidFill>
              </a:rPr>
              <a:t>La conversación espontánea bajó al salir de hitos de alto interés como festivales/verano.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960120" y="3776472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121426"/>
                </a:solidFill>
              </a:rPr>
              <a:t>ER Feb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2194560" y="3813048"/>
            <a:ext cx="1371600" cy="118872"/>
          </a:xfrm>
          <a:prstGeom prst="rect">
            <a:avLst/>
          </a:prstGeom>
          <a:solidFill>
            <a:srgbClr val="E6E7EB"/>
          </a:solidFill>
          <a:ln w="12700">
            <a:solidFill>
              <a:srgbClr val="E6E7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2194560" y="3813048"/>
            <a:ext cx="1371600" cy="118872"/>
          </a:xfrm>
          <a:prstGeom prst="rect">
            <a:avLst/>
          </a:prstGeom>
          <a:solidFill>
            <a:srgbClr val="E6E7EB"/>
          </a:solidFill>
          <a:ln w="12700">
            <a:solidFill>
              <a:srgbClr val="E6E7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3401122" y="3776472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6E7280"/>
                </a:solidFill>
              </a:rPr>
              <a:t>2.9%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960120" y="4142232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121426"/>
                </a:solidFill>
              </a:rPr>
              <a:t>ER Mar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2194560" y="4178808"/>
            <a:ext cx="1371600" cy="118872"/>
          </a:xfrm>
          <a:prstGeom prst="rect">
            <a:avLst/>
          </a:prstGeom>
          <a:solidFill>
            <a:srgbClr val="E6E7EB"/>
          </a:solidFill>
          <a:ln w="12700">
            <a:solidFill>
              <a:srgbClr val="E6E7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2194560" y="4178808"/>
            <a:ext cx="614855" cy="118872"/>
          </a:xfrm>
          <a:prstGeom prst="rect">
            <a:avLst/>
          </a:prstGeom>
          <a:solidFill>
            <a:srgbClr val="C74363"/>
          </a:solidFill>
          <a:ln w="12700">
            <a:solidFill>
              <a:srgbClr val="C7436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3401124" y="4142232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b="1" dirty="0"/>
              <a:t>1.3%</a:t>
            </a:r>
          </a:p>
        </p:txBody>
      </p:sp>
      <p:sp>
        <p:nvSpPr>
          <p:cNvPr id="20" name="Shape 18"/>
          <p:cNvSpPr/>
          <p:nvPr/>
        </p:nvSpPr>
        <p:spPr>
          <a:xfrm>
            <a:off x="3840480" y="1600200"/>
            <a:ext cx="2880360" cy="3383280"/>
          </a:xfrm>
          <a:prstGeom prst="roundRect">
            <a:avLst>
              <a:gd name="adj" fmla="val 254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4069080" y="18745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B008B"/>
                </a:solidFill>
              </a:rPr>
              <a:t>2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4526280" y="1901952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1426"/>
                </a:solidFill>
              </a:rPr>
              <a:t>Inversión crece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069080" y="2514600"/>
            <a:ext cx="2331720" cy="685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21426"/>
                </a:solidFill>
              </a:rPr>
              <a:t>El paid empuja visibilidad (+24,5% views), pero diluye la tasa al abrir públicos menos fidelizados.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069080" y="3776472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121426"/>
                </a:solidFill>
              </a:rPr>
              <a:t>Ppto Feb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5303520" y="3813048"/>
            <a:ext cx="1371600" cy="118872"/>
          </a:xfrm>
          <a:prstGeom prst="rect">
            <a:avLst/>
          </a:prstGeom>
          <a:solidFill>
            <a:srgbClr val="E6E7EB"/>
          </a:solidFill>
          <a:ln w="12700">
            <a:solidFill>
              <a:srgbClr val="E6E7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Shape 24"/>
          <p:cNvSpPr/>
          <p:nvPr/>
        </p:nvSpPr>
        <p:spPr>
          <a:xfrm>
            <a:off x="5303520" y="3813048"/>
            <a:ext cx="768737" cy="118872"/>
          </a:xfrm>
          <a:prstGeom prst="rect">
            <a:avLst/>
          </a:prstGeom>
          <a:solidFill>
            <a:srgbClr val="E6E7EB"/>
          </a:solidFill>
          <a:ln w="12700">
            <a:solidFill>
              <a:srgbClr val="E6E7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6264760" y="3776472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6E7280"/>
                </a:solidFill>
              </a:rPr>
              <a:t>2.130.000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4069080" y="4142232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121426"/>
                </a:solidFill>
              </a:rPr>
              <a:t>Ppto Mar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5303520" y="4178808"/>
            <a:ext cx="1371600" cy="118872"/>
          </a:xfrm>
          <a:prstGeom prst="rect">
            <a:avLst/>
          </a:prstGeom>
          <a:solidFill>
            <a:srgbClr val="E6E7EB"/>
          </a:solidFill>
          <a:ln w="12700">
            <a:solidFill>
              <a:srgbClr val="E6E7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Shape 28"/>
          <p:cNvSpPr/>
          <p:nvPr/>
        </p:nvSpPr>
        <p:spPr>
          <a:xfrm>
            <a:off x="5303520" y="4178808"/>
            <a:ext cx="1371600" cy="118872"/>
          </a:xfrm>
          <a:prstGeom prst="rect">
            <a:avLst/>
          </a:prstGeom>
          <a:solidFill>
            <a:srgbClr val="E9A300"/>
          </a:solidFill>
          <a:ln w="12700">
            <a:solidFill>
              <a:srgbClr val="E9A30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Text 29"/>
          <p:cNvSpPr/>
          <p:nvPr/>
        </p:nvSpPr>
        <p:spPr>
          <a:xfrm>
            <a:off x="6253605" y="4142232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b="1" dirty="0"/>
              <a:t>3.800.400</a:t>
            </a:r>
          </a:p>
        </p:txBody>
      </p:sp>
      <p:sp>
        <p:nvSpPr>
          <p:cNvPr id="32" name="Shape 30"/>
          <p:cNvSpPr/>
          <p:nvPr/>
        </p:nvSpPr>
        <p:spPr>
          <a:xfrm>
            <a:off x="6949440" y="1600200"/>
            <a:ext cx="2880360" cy="3383280"/>
          </a:xfrm>
          <a:prstGeom prst="roundRect">
            <a:avLst>
              <a:gd name="adj" fmla="val 254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Text 31"/>
          <p:cNvSpPr/>
          <p:nvPr/>
        </p:nvSpPr>
        <p:spPr>
          <a:xfrm>
            <a:off x="7178040" y="18745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B008B"/>
                </a:solidFill>
              </a:rPr>
              <a:t>3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7635240" y="1901952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1426"/>
                </a:solidFill>
              </a:rPr>
              <a:t>Nuevo mix creativo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7178040" y="2514600"/>
            <a:ext cx="2331720" cy="713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21426"/>
                </a:solidFill>
              </a:rPr>
              <a:t>EGC, UGC y creators acercan la marca. Los contenidos útiles y auténticos son los que más se guardan/comentan.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7178040" y="3776472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121426"/>
                </a:solidFill>
              </a:rPr>
              <a:t>Cont Feb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8412480" y="3813048"/>
            <a:ext cx="1371600" cy="118872"/>
          </a:xfrm>
          <a:prstGeom prst="rect">
            <a:avLst/>
          </a:prstGeom>
          <a:solidFill>
            <a:srgbClr val="E6E7EB"/>
          </a:solidFill>
          <a:ln w="12700">
            <a:solidFill>
              <a:srgbClr val="E6E7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Shape 36"/>
          <p:cNvSpPr/>
          <p:nvPr/>
        </p:nvSpPr>
        <p:spPr>
          <a:xfrm>
            <a:off x="8412480" y="3813048"/>
            <a:ext cx="1230923" cy="118872"/>
          </a:xfrm>
          <a:prstGeom prst="rect">
            <a:avLst/>
          </a:prstGeom>
          <a:solidFill>
            <a:srgbClr val="E6E7EB"/>
          </a:solidFill>
          <a:ln w="12700">
            <a:solidFill>
              <a:srgbClr val="E6E7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Text 37"/>
          <p:cNvSpPr/>
          <p:nvPr/>
        </p:nvSpPr>
        <p:spPr>
          <a:xfrm>
            <a:off x="9574438" y="3776472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6E7280"/>
                </a:solidFill>
              </a:rPr>
              <a:t>140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7178040" y="4142232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121426"/>
                </a:solidFill>
              </a:rPr>
              <a:t>Cont Mar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8412480" y="4178808"/>
            <a:ext cx="1371600" cy="118872"/>
          </a:xfrm>
          <a:prstGeom prst="rect">
            <a:avLst/>
          </a:prstGeom>
          <a:solidFill>
            <a:srgbClr val="E6E7EB"/>
          </a:solidFill>
          <a:ln w="12700">
            <a:solidFill>
              <a:srgbClr val="E6E7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Shape 40"/>
          <p:cNvSpPr/>
          <p:nvPr/>
        </p:nvSpPr>
        <p:spPr>
          <a:xfrm>
            <a:off x="8412480" y="4178808"/>
            <a:ext cx="1371600" cy="118872"/>
          </a:xfrm>
          <a:prstGeom prst="rect">
            <a:avLst/>
          </a:prstGeom>
          <a:solidFill>
            <a:srgbClr val="1FA37A"/>
          </a:solidFill>
          <a:ln w="12700">
            <a:solidFill>
              <a:srgbClr val="1FA37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41"/>
          <p:cNvSpPr/>
          <p:nvPr/>
        </p:nvSpPr>
        <p:spPr>
          <a:xfrm>
            <a:off x="9585591" y="4142232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b="1" dirty="0"/>
              <a:t>156</a:t>
            </a:r>
          </a:p>
        </p:txBody>
      </p:sp>
      <p:sp>
        <p:nvSpPr>
          <p:cNvPr id="44" name="Shape 42"/>
          <p:cNvSpPr/>
          <p:nvPr/>
        </p:nvSpPr>
        <p:spPr>
          <a:xfrm>
            <a:off x="594360" y="5532120"/>
            <a:ext cx="10652760" cy="658368"/>
          </a:xfrm>
          <a:prstGeom prst="roundRect">
            <a:avLst>
              <a:gd name="adj" fmla="val 11111"/>
            </a:avLst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ext 43"/>
          <p:cNvSpPr/>
          <p:nvPr/>
        </p:nvSpPr>
        <p:spPr>
          <a:xfrm>
            <a:off x="868680" y="5705856"/>
            <a:ext cx="10104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Decisión recomendada: mantener escala, pero rediseñar el contenido para retener: hooks de 3 segundos + contenido útil + CTA conversacional.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502920" y="301752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EB00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MARZO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12142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Portafolio de canales: rol claro por plataforma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0378440" y="36576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EB008B"/>
                </a:solidFill>
              </a:rPr>
              <a:t>maicao+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1021455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21426"/>
                </a:solidFill>
              </a:rPr>
              <a:t>Visualizaciones por canal</a:t>
            </a:r>
            <a:endParaRPr lang="en-US" sz="950" dirty="0"/>
          </a:p>
        </p:txBody>
      </p:sp>
      <p:sp>
        <p:nvSpPr>
          <p:cNvPr id="8" name="bar_channel_views_ig"/>
          <p:cNvSpPr/>
          <p:nvPr/>
        </p:nvSpPr>
        <p:spPr>
          <a:xfrm>
            <a:off x="928116" y="1417320"/>
            <a:ext cx="704088" cy="1920240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790956" y="3410712"/>
            <a:ext cx="9784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Instagram</a:t>
            </a:r>
            <a:endParaRPr lang="en-US" sz="750" dirty="0"/>
          </a:p>
        </p:txBody>
      </p:sp>
      <p:sp>
        <p:nvSpPr>
          <p:cNvPr id="10" name="label_channel_views_ig"/>
          <p:cNvSpPr/>
          <p:nvPr/>
        </p:nvSpPr>
        <p:spPr>
          <a:xfrm>
            <a:off x="745236" y="1199440"/>
            <a:ext cx="1069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8,2M</a:t>
            </a:r>
            <a:endParaRPr lang="en-US" sz="750" dirty="0"/>
          </a:p>
        </p:txBody>
      </p:sp>
      <p:sp>
        <p:nvSpPr>
          <p:cNvPr id="11" name="bar_channel_views_fb"/>
          <p:cNvSpPr/>
          <p:nvPr/>
        </p:nvSpPr>
        <p:spPr>
          <a:xfrm>
            <a:off x="2208276" y="2585595"/>
            <a:ext cx="704088" cy="751965"/>
          </a:xfrm>
          <a:prstGeom prst="rect">
            <a:avLst/>
          </a:prstGeom>
          <a:solidFill>
            <a:srgbClr val="20294A"/>
          </a:solidFill>
          <a:ln w="12700">
            <a:solidFill>
              <a:srgbClr val="2029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2071116" y="3410712"/>
            <a:ext cx="9784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Facebook</a:t>
            </a:r>
            <a:endParaRPr lang="en-US" sz="750" dirty="0"/>
          </a:p>
        </p:txBody>
      </p:sp>
      <p:sp>
        <p:nvSpPr>
          <p:cNvPr id="13" name="label_channel_views_fb"/>
          <p:cNvSpPr/>
          <p:nvPr/>
        </p:nvSpPr>
        <p:spPr>
          <a:xfrm>
            <a:off x="2025396" y="2367715"/>
            <a:ext cx="1069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3,2M</a:t>
            </a:r>
            <a:endParaRPr lang="en-US" sz="750" dirty="0"/>
          </a:p>
        </p:txBody>
      </p:sp>
      <p:sp>
        <p:nvSpPr>
          <p:cNvPr id="14" name="bar_channel_views_tt"/>
          <p:cNvSpPr/>
          <p:nvPr/>
        </p:nvSpPr>
        <p:spPr>
          <a:xfrm>
            <a:off x="3488436" y="2282508"/>
            <a:ext cx="704088" cy="1055052"/>
          </a:xfrm>
          <a:prstGeom prst="rect">
            <a:avLst/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3351276" y="3410712"/>
            <a:ext cx="9784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TikTok</a:t>
            </a:r>
            <a:endParaRPr lang="en-US" sz="750" dirty="0"/>
          </a:p>
        </p:txBody>
      </p:sp>
      <p:sp>
        <p:nvSpPr>
          <p:cNvPr id="16" name="label_channel_views_tt"/>
          <p:cNvSpPr/>
          <p:nvPr/>
        </p:nvSpPr>
        <p:spPr>
          <a:xfrm>
            <a:off x="3305556" y="2064628"/>
            <a:ext cx="1069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4,5M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572000" y="1021455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21426"/>
                </a:solidFill>
              </a:rPr>
              <a:t>Alcance por canal</a:t>
            </a:r>
            <a:endParaRPr lang="en-US" sz="950" dirty="0"/>
          </a:p>
        </p:txBody>
      </p:sp>
      <p:sp>
        <p:nvSpPr>
          <p:cNvPr id="18" name="bar_channel_reach_ig"/>
          <p:cNvSpPr/>
          <p:nvPr/>
        </p:nvSpPr>
        <p:spPr>
          <a:xfrm>
            <a:off x="4818888" y="1417320"/>
            <a:ext cx="603504" cy="1920240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4681728" y="3410712"/>
            <a:ext cx="8778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Instagram</a:t>
            </a:r>
            <a:endParaRPr lang="en-US" sz="750" dirty="0"/>
          </a:p>
        </p:txBody>
      </p:sp>
      <p:sp>
        <p:nvSpPr>
          <p:cNvPr id="20" name="label_channel_reach_ig"/>
          <p:cNvSpPr/>
          <p:nvPr/>
        </p:nvSpPr>
        <p:spPr>
          <a:xfrm>
            <a:off x="4636008" y="1199440"/>
            <a:ext cx="9692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4,0M</a:t>
            </a:r>
            <a:endParaRPr lang="en-US" sz="750" dirty="0"/>
          </a:p>
        </p:txBody>
      </p:sp>
      <p:sp>
        <p:nvSpPr>
          <p:cNvPr id="21" name="bar_channel_reach_fb"/>
          <p:cNvSpPr/>
          <p:nvPr/>
        </p:nvSpPr>
        <p:spPr>
          <a:xfrm>
            <a:off x="5916168" y="2414187"/>
            <a:ext cx="603504" cy="923373"/>
          </a:xfrm>
          <a:prstGeom prst="rect">
            <a:avLst/>
          </a:prstGeom>
          <a:solidFill>
            <a:srgbClr val="20294A"/>
          </a:solidFill>
          <a:ln w="12700">
            <a:solidFill>
              <a:srgbClr val="2029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5779008" y="3410712"/>
            <a:ext cx="8778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Facebook</a:t>
            </a:r>
            <a:endParaRPr lang="en-US" sz="750" dirty="0"/>
          </a:p>
        </p:txBody>
      </p:sp>
      <p:sp>
        <p:nvSpPr>
          <p:cNvPr id="23" name="label_channel_reach_fb"/>
          <p:cNvSpPr/>
          <p:nvPr/>
        </p:nvSpPr>
        <p:spPr>
          <a:xfrm>
            <a:off x="5733288" y="2196307"/>
            <a:ext cx="9692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1,9M</a:t>
            </a:r>
            <a:endParaRPr lang="en-US" sz="750" dirty="0"/>
          </a:p>
        </p:txBody>
      </p:sp>
      <p:sp>
        <p:nvSpPr>
          <p:cNvPr id="24" name="bar_channel_reach_tt"/>
          <p:cNvSpPr/>
          <p:nvPr/>
        </p:nvSpPr>
        <p:spPr>
          <a:xfrm>
            <a:off x="7013448" y="2414500"/>
            <a:ext cx="603504" cy="923060"/>
          </a:xfrm>
          <a:prstGeom prst="rect">
            <a:avLst/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6876288" y="3410712"/>
            <a:ext cx="8778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TikTok</a:t>
            </a:r>
            <a:endParaRPr lang="en-US" sz="750" dirty="0"/>
          </a:p>
        </p:txBody>
      </p:sp>
      <p:sp>
        <p:nvSpPr>
          <p:cNvPr id="26" name="label_channel_reach_tt"/>
          <p:cNvSpPr/>
          <p:nvPr/>
        </p:nvSpPr>
        <p:spPr>
          <a:xfrm>
            <a:off x="6830568" y="2196620"/>
            <a:ext cx="9692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1,9M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8138160" y="1021455"/>
            <a:ext cx="2834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21426"/>
                </a:solidFill>
              </a:rPr>
              <a:t>E.R. por canal</a:t>
            </a:r>
            <a:endParaRPr lang="en-US" sz="950" dirty="0"/>
          </a:p>
        </p:txBody>
      </p:sp>
      <p:sp>
        <p:nvSpPr>
          <p:cNvPr id="28" name="bar_channel_er_ig"/>
          <p:cNvSpPr/>
          <p:nvPr/>
        </p:nvSpPr>
        <p:spPr>
          <a:xfrm>
            <a:off x="8350758" y="1417320"/>
            <a:ext cx="519684" cy="1920240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Text 27"/>
          <p:cNvSpPr/>
          <p:nvPr/>
        </p:nvSpPr>
        <p:spPr>
          <a:xfrm>
            <a:off x="8213598" y="3410712"/>
            <a:ext cx="7940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Instagram</a:t>
            </a:r>
            <a:endParaRPr lang="en-US" sz="750" dirty="0"/>
          </a:p>
        </p:txBody>
      </p:sp>
      <p:sp>
        <p:nvSpPr>
          <p:cNvPr id="30" name="label_channel_er_ig"/>
          <p:cNvSpPr/>
          <p:nvPr/>
        </p:nvSpPr>
        <p:spPr>
          <a:xfrm>
            <a:off x="8167878" y="1199440"/>
            <a:ext cx="8854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1,4%</a:t>
            </a:r>
            <a:endParaRPr lang="en-US" sz="750" dirty="0"/>
          </a:p>
        </p:txBody>
      </p:sp>
      <p:sp>
        <p:nvSpPr>
          <p:cNvPr id="31" name="bar_channel_er_fb"/>
          <p:cNvSpPr/>
          <p:nvPr/>
        </p:nvSpPr>
        <p:spPr>
          <a:xfrm>
            <a:off x="9295638" y="3063240"/>
            <a:ext cx="519684" cy="274320"/>
          </a:xfrm>
          <a:prstGeom prst="rect">
            <a:avLst/>
          </a:prstGeom>
          <a:solidFill>
            <a:srgbClr val="20294A"/>
          </a:solidFill>
          <a:ln w="12700">
            <a:solidFill>
              <a:srgbClr val="2029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ext 30"/>
          <p:cNvSpPr/>
          <p:nvPr/>
        </p:nvSpPr>
        <p:spPr>
          <a:xfrm>
            <a:off x="9158478" y="3410712"/>
            <a:ext cx="7940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Facebook</a:t>
            </a:r>
            <a:endParaRPr lang="en-US" sz="750" dirty="0"/>
          </a:p>
        </p:txBody>
      </p:sp>
      <p:sp>
        <p:nvSpPr>
          <p:cNvPr id="33" name="label_channel_er_fb"/>
          <p:cNvSpPr/>
          <p:nvPr/>
        </p:nvSpPr>
        <p:spPr>
          <a:xfrm>
            <a:off x="9112758" y="2845360"/>
            <a:ext cx="8854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0,2%</a:t>
            </a:r>
            <a:endParaRPr lang="en-US" sz="750" dirty="0"/>
          </a:p>
        </p:txBody>
      </p:sp>
      <p:sp>
        <p:nvSpPr>
          <p:cNvPr id="34" name="bar_channel_er_tt"/>
          <p:cNvSpPr/>
          <p:nvPr/>
        </p:nvSpPr>
        <p:spPr>
          <a:xfrm>
            <a:off x="10240518" y="2103120"/>
            <a:ext cx="519684" cy="1234440"/>
          </a:xfrm>
          <a:prstGeom prst="rect">
            <a:avLst/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Text 33"/>
          <p:cNvSpPr/>
          <p:nvPr/>
        </p:nvSpPr>
        <p:spPr>
          <a:xfrm>
            <a:off x="10103358" y="3410712"/>
            <a:ext cx="7940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TikTok</a:t>
            </a:r>
            <a:endParaRPr lang="en-US" sz="750" dirty="0"/>
          </a:p>
        </p:txBody>
      </p:sp>
      <p:sp>
        <p:nvSpPr>
          <p:cNvPr id="36" name="label_channel_er_tt"/>
          <p:cNvSpPr/>
          <p:nvPr/>
        </p:nvSpPr>
        <p:spPr>
          <a:xfrm>
            <a:off x="10057638" y="1885240"/>
            <a:ext cx="8854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0,9%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777240" y="4041648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Text 36"/>
          <p:cNvSpPr/>
          <p:nvPr/>
        </p:nvSpPr>
        <p:spPr>
          <a:xfrm>
            <a:off x="960120" y="4251960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B008B"/>
                </a:solidFill>
              </a:rPr>
              <a:t>Instagram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960120" y="4553712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121426"/>
                </a:solidFill>
              </a:rPr>
              <a:t>Inspiración + cultura pop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960120" y="4901184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6E7280"/>
                </a:solidFill>
              </a:rPr>
              <a:t>332.382 seguidores · 58.723 interacciones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343400" y="4041648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Text 40"/>
          <p:cNvSpPr/>
          <p:nvPr/>
        </p:nvSpPr>
        <p:spPr>
          <a:xfrm>
            <a:off x="4526280" y="4251960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0294A"/>
                </a:solidFill>
              </a:rPr>
              <a:t>Facebook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4526280" y="4553712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121426"/>
                </a:solidFill>
              </a:rPr>
              <a:t>Comunidad masiva + ofertas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4526280" y="4901184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6E7280"/>
                </a:solidFill>
              </a:rPr>
              <a:t>565.501 seguidores · 4.656 interacciones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7909560" y="4041648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6" name="Text 44"/>
          <p:cNvSpPr/>
          <p:nvPr/>
        </p:nvSpPr>
        <p:spPr>
          <a:xfrm>
            <a:off x="8092440" y="4251960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6C5CE7"/>
                </a:solidFill>
              </a:rPr>
              <a:t>TikTok</a:t>
            </a:r>
            <a:endParaRPr lang="en-US" sz="1400" dirty="0"/>
          </a:p>
        </p:txBody>
      </p:sp>
      <p:sp>
        <p:nvSpPr>
          <p:cNvPr id="47" name="Text 45"/>
          <p:cNvSpPr/>
          <p:nvPr/>
        </p:nvSpPr>
        <p:spPr>
          <a:xfrm>
            <a:off x="8092440" y="4553712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121426"/>
                </a:solidFill>
              </a:rPr>
              <a:t>Descubrimiento + contenido útil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8092440" y="4901184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6E7280"/>
                </a:solidFill>
              </a:rPr>
              <a:t>30.120 seguidores · 17.148 interacciones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777240" y="5779008"/>
            <a:ext cx="10149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21426"/>
                </a:solidFill>
              </a:rPr>
              <a:t>Lectura: IG concentra visibilidad e interacción; Facebook sostiene comunidad y alcance eficiente; TikTok es la apuesta de crecimiento cualitativo por autenticidad.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502920" y="301752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EB00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MARZO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12142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Instagram: visibilidad alta con engagement moderado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0378440" y="36576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EB008B"/>
                </a:solidFill>
              </a:rPr>
              <a:t>maicao+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1143000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804672" y="1289304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6E7280"/>
                </a:solidFill>
              </a:rPr>
              <a:t>SEGUIDORES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804672" y="1554480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EB008B"/>
                </a:solidFill>
              </a:rPr>
              <a:t>332.382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804672" y="1851660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1FA37A"/>
                </a:solidFill>
              </a:rPr>
              <a:t>+1.389 vs mes anterior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2651760" y="1143000"/>
            <a:ext cx="1417320" cy="914400"/>
          </a:xfrm>
          <a:prstGeom prst="roundRect">
            <a:avLst>
              <a:gd name="adj" fmla="val 80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2816352" y="1289304"/>
            <a:ext cx="10881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6E7280"/>
                </a:solidFill>
              </a:rPr>
              <a:t>CONTENIDOS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2816352" y="1554480"/>
            <a:ext cx="1088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EB008B"/>
                </a:solidFill>
              </a:rPr>
              <a:t>92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2743200" y="1854718"/>
            <a:ext cx="10881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FA37A"/>
                </a:solidFill>
              </a:rPr>
              <a:t>+10 vs febrero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4251960" y="1143000"/>
            <a:ext cx="1417320" cy="914400"/>
          </a:xfrm>
          <a:prstGeom prst="roundRect">
            <a:avLst>
              <a:gd name="adj" fmla="val 80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4416552" y="1289304"/>
            <a:ext cx="10881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6E7280"/>
                </a:solidFill>
              </a:rPr>
              <a:t>E.R.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416552" y="1554480"/>
            <a:ext cx="1088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C74363"/>
                </a:solidFill>
              </a:rPr>
              <a:t>1,4%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4404158" y="1851552"/>
            <a:ext cx="10881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C74363"/>
                </a:solidFill>
              </a:rPr>
              <a:t>antes 3,2%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5852160" y="1143000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6016752" y="1289304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6E7280"/>
                </a:solidFill>
              </a:rPr>
              <a:t>PRESUPUESTO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6016752" y="1554480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E9A300"/>
                </a:solidFill>
              </a:rPr>
              <a:t>$1.670.000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6016752" y="1851552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1FA37A"/>
                </a:solidFill>
              </a:rPr>
              <a:t>antes $850.000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40080" y="2118735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21426"/>
                </a:solidFill>
              </a:rPr>
              <a:t>Mix de formatos</a:t>
            </a:r>
            <a:endParaRPr lang="en-US" sz="950" dirty="0"/>
          </a:p>
        </p:txBody>
      </p:sp>
      <p:sp>
        <p:nvSpPr>
          <p:cNvPr id="24" name="bar_ig_mix_stories"/>
          <p:cNvSpPr/>
          <p:nvPr/>
        </p:nvSpPr>
        <p:spPr>
          <a:xfrm>
            <a:off x="859536" y="2514600"/>
            <a:ext cx="536448" cy="1554480"/>
          </a:xfrm>
          <a:prstGeom prst="rect">
            <a:avLst/>
          </a:prstGeom>
          <a:solidFill>
            <a:srgbClr val="FF6BBF"/>
          </a:solidFill>
          <a:ln w="12700">
            <a:solidFill>
              <a:srgbClr val="FF6B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722376" y="4142232"/>
            <a:ext cx="810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Stories</a:t>
            </a:r>
            <a:endParaRPr lang="en-US" sz="750" dirty="0"/>
          </a:p>
        </p:txBody>
      </p:sp>
      <p:sp>
        <p:nvSpPr>
          <p:cNvPr id="26" name="label_ig_mix_stories"/>
          <p:cNvSpPr/>
          <p:nvPr/>
        </p:nvSpPr>
        <p:spPr>
          <a:xfrm>
            <a:off x="676656" y="2296720"/>
            <a:ext cx="9022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68</a:t>
            </a:r>
            <a:endParaRPr lang="en-US" sz="750" dirty="0"/>
          </a:p>
        </p:txBody>
      </p:sp>
      <p:sp>
        <p:nvSpPr>
          <p:cNvPr id="27" name="bar_ig_mix_reels"/>
          <p:cNvSpPr/>
          <p:nvPr/>
        </p:nvSpPr>
        <p:spPr>
          <a:xfrm>
            <a:off x="1834896" y="3771900"/>
            <a:ext cx="536448" cy="297180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1697736" y="4142232"/>
            <a:ext cx="810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Reels</a:t>
            </a:r>
            <a:endParaRPr lang="en-US" sz="750" dirty="0"/>
          </a:p>
        </p:txBody>
      </p:sp>
      <p:sp>
        <p:nvSpPr>
          <p:cNvPr id="29" name="label_ig_mix_reels"/>
          <p:cNvSpPr/>
          <p:nvPr/>
        </p:nvSpPr>
        <p:spPr>
          <a:xfrm>
            <a:off x="1652016" y="3554020"/>
            <a:ext cx="9022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13</a:t>
            </a:r>
            <a:endParaRPr lang="en-US" sz="750" dirty="0"/>
          </a:p>
        </p:txBody>
      </p:sp>
      <p:sp>
        <p:nvSpPr>
          <p:cNvPr id="30" name="bar_ig_mix_carousels"/>
          <p:cNvSpPr/>
          <p:nvPr/>
        </p:nvSpPr>
        <p:spPr>
          <a:xfrm>
            <a:off x="2810256" y="3840480"/>
            <a:ext cx="536448" cy="228600"/>
          </a:xfrm>
          <a:prstGeom prst="rect">
            <a:avLst/>
          </a:prstGeom>
          <a:solidFill>
            <a:srgbClr val="20294A"/>
          </a:solidFill>
          <a:ln w="12700">
            <a:solidFill>
              <a:srgbClr val="2029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Text 29"/>
          <p:cNvSpPr/>
          <p:nvPr/>
        </p:nvSpPr>
        <p:spPr>
          <a:xfrm>
            <a:off x="2673096" y="4142232"/>
            <a:ext cx="810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Carruseles</a:t>
            </a:r>
            <a:endParaRPr lang="en-US" sz="750" dirty="0"/>
          </a:p>
        </p:txBody>
      </p:sp>
      <p:sp>
        <p:nvSpPr>
          <p:cNvPr id="32" name="label_ig_mix_carousels"/>
          <p:cNvSpPr/>
          <p:nvPr/>
        </p:nvSpPr>
        <p:spPr>
          <a:xfrm>
            <a:off x="2627376" y="3622600"/>
            <a:ext cx="9022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10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3977640" y="2107584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21426"/>
                </a:solidFill>
              </a:rPr>
              <a:t>Top 3 contenido / views</a:t>
            </a:r>
            <a:endParaRPr lang="en-US" sz="950" dirty="0"/>
          </a:p>
        </p:txBody>
      </p:sp>
      <p:sp>
        <p:nvSpPr>
          <p:cNvPr id="34" name="bar_ig_top_1"/>
          <p:cNvSpPr/>
          <p:nvPr/>
        </p:nvSpPr>
        <p:spPr>
          <a:xfrm>
            <a:off x="4251960" y="2680166"/>
            <a:ext cx="670560" cy="1388914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Text 33"/>
          <p:cNvSpPr/>
          <p:nvPr/>
        </p:nvSpPr>
        <p:spPr>
          <a:xfrm>
            <a:off x="4114800" y="4142232"/>
            <a:ext cx="94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Bubble Maybelline</a:t>
            </a:r>
            <a:endParaRPr lang="en-US" sz="750" dirty="0"/>
          </a:p>
        </p:txBody>
      </p:sp>
      <p:sp>
        <p:nvSpPr>
          <p:cNvPr id="36" name="label_ig_top_1"/>
          <p:cNvSpPr/>
          <p:nvPr/>
        </p:nvSpPr>
        <p:spPr>
          <a:xfrm>
            <a:off x="4069080" y="2462286"/>
            <a:ext cx="1036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1,51M</a:t>
            </a:r>
            <a:endParaRPr lang="en-US" sz="750" dirty="0"/>
          </a:p>
        </p:txBody>
      </p:sp>
      <p:sp>
        <p:nvSpPr>
          <p:cNvPr id="37" name="bar_ig_top_2"/>
          <p:cNvSpPr/>
          <p:nvPr/>
        </p:nvSpPr>
        <p:spPr>
          <a:xfrm>
            <a:off x="5471160" y="3367265"/>
            <a:ext cx="670560" cy="701815"/>
          </a:xfrm>
          <a:prstGeom prst="rect">
            <a:avLst/>
          </a:prstGeom>
          <a:solidFill>
            <a:srgbClr val="20294A"/>
          </a:solidFill>
          <a:ln w="12700">
            <a:solidFill>
              <a:srgbClr val="2029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Text 36"/>
          <p:cNvSpPr/>
          <p:nvPr/>
        </p:nvSpPr>
        <p:spPr>
          <a:xfrm>
            <a:off x="5334000" y="4142232"/>
            <a:ext cx="94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Check Bienvenida</a:t>
            </a:r>
            <a:endParaRPr lang="en-US" sz="750" dirty="0"/>
          </a:p>
        </p:txBody>
      </p:sp>
      <p:sp>
        <p:nvSpPr>
          <p:cNvPr id="39" name="label_ig_top_2"/>
          <p:cNvSpPr/>
          <p:nvPr/>
        </p:nvSpPr>
        <p:spPr>
          <a:xfrm>
            <a:off x="5288280" y="3149385"/>
            <a:ext cx="1036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763K</a:t>
            </a:r>
            <a:endParaRPr lang="en-US" sz="750" dirty="0"/>
          </a:p>
        </p:txBody>
      </p:sp>
      <p:sp>
        <p:nvSpPr>
          <p:cNvPr id="40" name="bar_ig_top_3"/>
          <p:cNvSpPr/>
          <p:nvPr/>
        </p:nvSpPr>
        <p:spPr>
          <a:xfrm>
            <a:off x="6690360" y="2514600"/>
            <a:ext cx="670560" cy="1554480"/>
          </a:xfrm>
          <a:prstGeom prst="rect">
            <a:avLst/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Text 39"/>
          <p:cNvSpPr/>
          <p:nvPr/>
        </p:nvSpPr>
        <p:spPr>
          <a:xfrm>
            <a:off x="6553200" y="4142232"/>
            <a:ext cx="94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Make up SAMY</a:t>
            </a:r>
            <a:endParaRPr lang="en-US" sz="750" dirty="0"/>
          </a:p>
        </p:txBody>
      </p:sp>
      <p:sp>
        <p:nvSpPr>
          <p:cNvPr id="42" name="label_ig_top_3"/>
          <p:cNvSpPr/>
          <p:nvPr/>
        </p:nvSpPr>
        <p:spPr>
          <a:xfrm>
            <a:off x="6507480" y="2296720"/>
            <a:ext cx="1036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1,69M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8138160" y="1143000"/>
            <a:ext cx="2880360" cy="4023360"/>
          </a:xfrm>
          <a:prstGeom prst="roundRect">
            <a:avLst>
              <a:gd name="adj" fmla="val 254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4" name="Text 42"/>
          <p:cNvSpPr/>
          <p:nvPr/>
        </p:nvSpPr>
        <p:spPr>
          <a:xfrm>
            <a:off x="8412480" y="141732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21426"/>
                </a:solidFill>
              </a:rPr>
              <a:t>Qué funcionó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8412480" y="1828800"/>
            <a:ext cx="2331720" cy="1417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21426"/>
                </a:solidFill>
              </a:rPr>
              <a:t>• Colaboraciones con creadoras: empujan comentarios desde sus comunidades.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21426"/>
                </a:solidFill>
              </a:rPr>
              <a:t>• Cultura pop y educativo: contenido tipo “Te enseño a…” genera valor y conversión.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21426"/>
                </a:solidFill>
              </a:rPr>
              <a:t>• Audiencia femenina dominante: 92,3% mujeres; mayor foco 25-34.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8412480" y="36118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B008B"/>
                </a:solidFill>
              </a:rPr>
              <a:t>Optimización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8412480" y="3977640"/>
            <a:ext cx="2331720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21426"/>
                </a:solidFill>
              </a:rPr>
              <a:t>Pasar de piezas aisladas a series guardables: tutoriales, comparativas, hacks y CTA de conversación.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5712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502920" y="301752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EB00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MARZO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12142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Facebook: liderazgo comunitario y respuesta a ofertas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0378440" y="36576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EB008B"/>
                </a:solidFill>
              </a:rPr>
              <a:t>maicao+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1143000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804672" y="1289304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6E7280"/>
                </a:solidFill>
              </a:rPr>
              <a:t>SEGUIDORES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804672" y="1554480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20294A"/>
                </a:solidFill>
              </a:rPr>
              <a:t>565.501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771833" y="185180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1FA37A"/>
                </a:solidFill>
              </a:rPr>
              <a:t>+430 vs mes anterior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2651760" y="1143000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2816352" y="1289304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6E7280"/>
                </a:solidFill>
              </a:rPr>
              <a:t>VIEWS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2816352" y="1554480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20294A"/>
                </a:solidFill>
              </a:rPr>
              <a:t>3.223.306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2825965" y="1855223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FA37A"/>
                </a:solidFill>
              </a:rPr>
              <a:t>69,2% aprox vs febrero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4663440" y="1143000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4828032" y="1289304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6E7280"/>
                </a:solidFill>
              </a:rPr>
              <a:t>ALCANCE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828032" y="1554480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20294A"/>
                </a:solidFill>
              </a:rPr>
              <a:t>1.905.477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4838890" y="1853617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FA37A"/>
                </a:solidFill>
              </a:rPr>
              <a:t>70,1% aprox vs febrero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6675120" y="1143000"/>
            <a:ext cx="1417320" cy="914400"/>
          </a:xfrm>
          <a:prstGeom prst="roundRect">
            <a:avLst>
              <a:gd name="adj" fmla="val 80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6839712" y="1289304"/>
            <a:ext cx="10881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6E7280"/>
                </a:solidFill>
              </a:rPr>
              <a:t>E.R.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6839712" y="1554480"/>
            <a:ext cx="1088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C74363"/>
                </a:solidFill>
              </a:rPr>
              <a:t>0,2%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6839547" y="1851009"/>
            <a:ext cx="10881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C74363"/>
                </a:solidFill>
              </a:rPr>
              <a:t>antes 0,3%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40080" y="2118735"/>
            <a:ext cx="3429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21426"/>
                </a:solidFill>
              </a:rPr>
              <a:t>Top 3: views</a:t>
            </a:r>
            <a:endParaRPr lang="en-US" sz="950" dirty="0"/>
          </a:p>
        </p:txBody>
      </p:sp>
      <p:sp>
        <p:nvSpPr>
          <p:cNvPr id="24" name="bar_fb_top_1"/>
          <p:cNvSpPr/>
          <p:nvPr/>
        </p:nvSpPr>
        <p:spPr>
          <a:xfrm>
            <a:off x="897255" y="2530099"/>
            <a:ext cx="628650" cy="1630421"/>
          </a:xfrm>
          <a:prstGeom prst="rect">
            <a:avLst/>
          </a:prstGeom>
          <a:solidFill>
            <a:srgbClr val="20294A"/>
          </a:solidFill>
          <a:ln w="12700">
            <a:solidFill>
              <a:srgbClr val="2029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760095" y="4233672"/>
            <a:ext cx="90297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Prod. $1.000</a:t>
            </a:r>
            <a:endParaRPr lang="en-US" sz="750" dirty="0"/>
          </a:p>
        </p:txBody>
      </p:sp>
      <p:sp>
        <p:nvSpPr>
          <p:cNvPr id="26" name="label_fb_top_1"/>
          <p:cNvSpPr/>
          <p:nvPr/>
        </p:nvSpPr>
        <p:spPr>
          <a:xfrm>
            <a:off x="714375" y="2312219"/>
            <a:ext cx="99441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526K</a:t>
            </a:r>
            <a:endParaRPr lang="en-US" sz="750" dirty="0"/>
          </a:p>
        </p:txBody>
      </p:sp>
      <p:sp>
        <p:nvSpPr>
          <p:cNvPr id="27" name="bar_fb_top_2"/>
          <p:cNvSpPr/>
          <p:nvPr/>
        </p:nvSpPr>
        <p:spPr>
          <a:xfrm>
            <a:off x="2040255" y="2585893"/>
            <a:ext cx="628650" cy="1574627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1903095" y="4233672"/>
            <a:ext cx="90297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Máscara Bubble</a:t>
            </a:r>
            <a:endParaRPr lang="en-US" sz="750" dirty="0"/>
          </a:p>
        </p:txBody>
      </p:sp>
      <p:sp>
        <p:nvSpPr>
          <p:cNvPr id="29" name="label_fb_top_2"/>
          <p:cNvSpPr/>
          <p:nvPr/>
        </p:nvSpPr>
        <p:spPr>
          <a:xfrm>
            <a:off x="1857375" y="2368013"/>
            <a:ext cx="99441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508K</a:t>
            </a:r>
            <a:endParaRPr lang="en-US" sz="750" dirty="0"/>
          </a:p>
        </p:txBody>
      </p:sp>
      <p:sp>
        <p:nvSpPr>
          <p:cNvPr id="30" name="bar_fb_top_3"/>
          <p:cNvSpPr/>
          <p:nvPr/>
        </p:nvSpPr>
        <p:spPr>
          <a:xfrm>
            <a:off x="3183255" y="2514600"/>
            <a:ext cx="628650" cy="1645920"/>
          </a:xfrm>
          <a:prstGeom prst="rect">
            <a:avLst/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Text 29"/>
          <p:cNvSpPr/>
          <p:nvPr/>
        </p:nvSpPr>
        <p:spPr>
          <a:xfrm>
            <a:off x="3046095" y="4233672"/>
            <a:ext cx="90297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SAMY</a:t>
            </a:r>
            <a:endParaRPr lang="en-US" sz="750" dirty="0"/>
          </a:p>
        </p:txBody>
      </p:sp>
      <p:sp>
        <p:nvSpPr>
          <p:cNvPr id="32" name="label_fb_top_3"/>
          <p:cNvSpPr/>
          <p:nvPr/>
        </p:nvSpPr>
        <p:spPr>
          <a:xfrm>
            <a:off x="3000375" y="2296720"/>
            <a:ext cx="99441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531K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4480560" y="2118735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21426"/>
                </a:solidFill>
              </a:rPr>
              <a:t>Formatos publicados</a:t>
            </a:r>
            <a:endParaRPr lang="en-US" sz="950" dirty="0"/>
          </a:p>
        </p:txBody>
      </p:sp>
      <p:sp>
        <p:nvSpPr>
          <p:cNvPr id="34" name="bar_fb_format_stories"/>
          <p:cNvSpPr/>
          <p:nvPr/>
        </p:nvSpPr>
        <p:spPr>
          <a:xfrm>
            <a:off x="4660583" y="2514600"/>
            <a:ext cx="440055" cy="1645920"/>
          </a:xfrm>
          <a:prstGeom prst="rect">
            <a:avLst/>
          </a:prstGeom>
          <a:solidFill>
            <a:srgbClr val="FF6BBF"/>
          </a:solidFill>
          <a:ln w="12700">
            <a:solidFill>
              <a:srgbClr val="FF6B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Text 33"/>
          <p:cNvSpPr/>
          <p:nvPr/>
        </p:nvSpPr>
        <p:spPr>
          <a:xfrm>
            <a:off x="4523423" y="4233672"/>
            <a:ext cx="71437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Stories</a:t>
            </a:r>
            <a:endParaRPr lang="en-US" sz="750" dirty="0"/>
          </a:p>
        </p:txBody>
      </p:sp>
      <p:sp>
        <p:nvSpPr>
          <p:cNvPr id="36" name="label_fb_format_stories"/>
          <p:cNvSpPr/>
          <p:nvPr/>
        </p:nvSpPr>
        <p:spPr>
          <a:xfrm>
            <a:off x="4477703" y="2296720"/>
            <a:ext cx="8058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19</a:t>
            </a:r>
            <a:endParaRPr lang="en-US" sz="750" dirty="0"/>
          </a:p>
        </p:txBody>
      </p:sp>
      <p:sp>
        <p:nvSpPr>
          <p:cNvPr id="37" name="bar_fb_format_reels"/>
          <p:cNvSpPr/>
          <p:nvPr/>
        </p:nvSpPr>
        <p:spPr>
          <a:xfrm>
            <a:off x="5460683" y="3380874"/>
            <a:ext cx="440055" cy="779646"/>
          </a:xfrm>
          <a:prstGeom prst="rect">
            <a:avLst/>
          </a:prstGeom>
          <a:solidFill>
            <a:srgbClr val="20294A"/>
          </a:solidFill>
          <a:ln w="12700">
            <a:solidFill>
              <a:srgbClr val="2029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Text 36"/>
          <p:cNvSpPr/>
          <p:nvPr/>
        </p:nvSpPr>
        <p:spPr>
          <a:xfrm>
            <a:off x="5323523" y="4233672"/>
            <a:ext cx="71437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Reels</a:t>
            </a:r>
            <a:endParaRPr lang="en-US" sz="750" dirty="0"/>
          </a:p>
        </p:txBody>
      </p:sp>
      <p:sp>
        <p:nvSpPr>
          <p:cNvPr id="39" name="label_fb_format_reels"/>
          <p:cNvSpPr/>
          <p:nvPr/>
        </p:nvSpPr>
        <p:spPr>
          <a:xfrm>
            <a:off x="5277803" y="3162994"/>
            <a:ext cx="8058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9</a:t>
            </a:r>
            <a:endParaRPr lang="en-US" sz="750" dirty="0"/>
          </a:p>
        </p:txBody>
      </p:sp>
      <p:sp>
        <p:nvSpPr>
          <p:cNvPr id="40" name="bar_fb_format_carousels"/>
          <p:cNvSpPr/>
          <p:nvPr/>
        </p:nvSpPr>
        <p:spPr>
          <a:xfrm>
            <a:off x="6260783" y="3987266"/>
            <a:ext cx="440055" cy="173254"/>
          </a:xfrm>
          <a:prstGeom prst="rect">
            <a:avLst/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Text 39"/>
          <p:cNvSpPr/>
          <p:nvPr/>
        </p:nvSpPr>
        <p:spPr>
          <a:xfrm>
            <a:off x="6123623" y="4233672"/>
            <a:ext cx="71437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Carruseles</a:t>
            </a:r>
            <a:endParaRPr lang="en-US" sz="750" dirty="0"/>
          </a:p>
        </p:txBody>
      </p:sp>
      <p:sp>
        <p:nvSpPr>
          <p:cNvPr id="42" name="label_fb_format_carousels"/>
          <p:cNvSpPr/>
          <p:nvPr/>
        </p:nvSpPr>
        <p:spPr>
          <a:xfrm>
            <a:off x="6077903" y="3769386"/>
            <a:ext cx="8058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2</a:t>
            </a:r>
            <a:endParaRPr lang="en-US" sz="750" dirty="0"/>
          </a:p>
        </p:txBody>
      </p:sp>
      <p:sp>
        <p:nvSpPr>
          <p:cNvPr id="43" name="bar_fb_format_post"/>
          <p:cNvSpPr/>
          <p:nvPr/>
        </p:nvSpPr>
        <p:spPr>
          <a:xfrm>
            <a:off x="7060883" y="4073893"/>
            <a:ext cx="440055" cy="86627"/>
          </a:xfrm>
          <a:prstGeom prst="rect">
            <a:avLst/>
          </a:prstGeom>
          <a:solidFill>
            <a:srgbClr val="E9A300"/>
          </a:solidFill>
          <a:ln w="12700">
            <a:solidFill>
              <a:srgbClr val="E9A30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4" name="Text 42"/>
          <p:cNvSpPr/>
          <p:nvPr/>
        </p:nvSpPr>
        <p:spPr>
          <a:xfrm>
            <a:off x="6923723" y="4233672"/>
            <a:ext cx="71437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Post</a:t>
            </a:r>
            <a:endParaRPr lang="en-US" sz="750" dirty="0"/>
          </a:p>
        </p:txBody>
      </p:sp>
      <p:sp>
        <p:nvSpPr>
          <p:cNvPr id="45" name="label_fb_format_post"/>
          <p:cNvSpPr/>
          <p:nvPr/>
        </p:nvSpPr>
        <p:spPr>
          <a:xfrm>
            <a:off x="6878003" y="3856013"/>
            <a:ext cx="8058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1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8138160" y="1508760"/>
            <a:ext cx="2834640" cy="3611880"/>
          </a:xfrm>
          <a:prstGeom prst="roundRect">
            <a:avLst>
              <a:gd name="adj" fmla="val 2581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45"/>
          <p:cNvSpPr/>
          <p:nvPr/>
        </p:nvSpPr>
        <p:spPr>
          <a:xfrm>
            <a:off x="8366760" y="178308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21426"/>
                </a:solidFill>
              </a:rPr>
              <a:t>Lectura visual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8366760" y="2194560"/>
            <a:ext cx="2286000" cy="10058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21426"/>
                </a:solidFill>
              </a:rPr>
              <a:t>Facebook sigue siendo el canal de comunidad más grande. Las piezas de oferta generan mayor reacción y conversación, especialmente cuando el beneficio es directo.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8366760" y="3675888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B008B"/>
                </a:solidFill>
              </a:rPr>
              <a:t>Nota de data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8366760" y="4041648"/>
            <a:ext cx="2286000" cy="594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21426"/>
                </a:solidFill>
              </a:rPr>
              <a:t>Las stories no tienen totales completos por error de plataforma antes del 20 de marzo.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502920" y="301752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EB00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MARZO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12142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TikTok: motor de visibilidad y autenticidad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0378440" y="36576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EB008B"/>
                </a:solidFill>
              </a:rPr>
              <a:t>maicao+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1143000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804672" y="1289304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6E7280"/>
                </a:solidFill>
              </a:rPr>
              <a:t>SEGUIDORES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804672" y="1554480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6C5CE7"/>
                </a:solidFill>
              </a:rPr>
              <a:t>30.120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795528" y="185168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1FA37A"/>
                </a:solidFill>
              </a:rPr>
              <a:t>+2.768 vs mes anterior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2651760" y="1143000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2816352" y="1289304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6E7280"/>
                </a:solidFill>
              </a:rPr>
              <a:t>VIEWS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2816352" y="1554480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6C5CE7"/>
                </a:solidFill>
              </a:rPr>
              <a:t>4.522.490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2816352" y="185168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FA37A"/>
                </a:solidFill>
              </a:rPr>
              <a:t>15,7% vs febrero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4663440" y="1143000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4828032" y="1289304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6E7280"/>
                </a:solidFill>
              </a:rPr>
              <a:t>INTERACCIONES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828032" y="1554480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6C5CE7"/>
                </a:solidFill>
              </a:rPr>
              <a:t>17.148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4818888" y="1855914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FA37A"/>
                </a:solidFill>
              </a:rPr>
              <a:t>7,8% vs febrero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6675120" y="1143000"/>
            <a:ext cx="1417320" cy="914400"/>
          </a:xfrm>
          <a:prstGeom prst="roundRect">
            <a:avLst>
              <a:gd name="adj" fmla="val 80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6839712" y="1289304"/>
            <a:ext cx="10881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6E7280"/>
                </a:solidFill>
              </a:rPr>
              <a:t>E.R.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6839712" y="1554480"/>
            <a:ext cx="1088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1FA37A"/>
                </a:solidFill>
              </a:rPr>
              <a:t>0,9%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6821043" y="1849310"/>
            <a:ext cx="10881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1FA37A"/>
                </a:solidFill>
              </a:rPr>
              <a:t>antes 0,7%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40080" y="2118735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21426"/>
                </a:solidFill>
              </a:rPr>
              <a:t>Público por edad</a:t>
            </a:r>
            <a:endParaRPr lang="en-US" sz="950" dirty="0"/>
          </a:p>
        </p:txBody>
      </p:sp>
      <p:sp>
        <p:nvSpPr>
          <p:cNvPr id="24" name="bar_tt_age_18_24"/>
          <p:cNvSpPr/>
          <p:nvPr/>
        </p:nvSpPr>
        <p:spPr>
          <a:xfrm>
            <a:off x="804672" y="2514600"/>
            <a:ext cx="402336" cy="1600200"/>
          </a:xfrm>
          <a:prstGeom prst="rect">
            <a:avLst/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667512" y="4187952"/>
            <a:ext cx="6766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18-24</a:t>
            </a:r>
            <a:endParaRPr lang="en-US" sz="750" dirty="0"/>
          </a:p>
        </p:txBody>
      </p:sp>
      <p:sp>
        <p:nvSpPr>
          <p:cNvPr id="26" name="label_tt_age_18_24"/>
          <p:cNvSpPr/>
          <p:nvPr/>
        </p:nvSpPr>
        <p:spPr>
          <a:xfrm>
            <a:off x="621792" y="2296720"/>
            <a:ext cx="7680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36%</a:t>
            </a:r>
            <a:endParaRPr lang="en-US" sz="750" dirty="0"/>
          </a:p>
        </p:txBody>
      </p:sp>
      <p:sp>
        <p:nvSpPr>
          <p:cNvPr id="27" name="bar_tt_age_25_34"/>
          <p:cNvSpPr/>
          <p:nvPr/>
        </p:nvSpPr>
        <p:spPr>
          <a:xfrm>
            <a:off x="1536192" y="2692400"/>
            <a:ext cx="402336" cy="1422400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1399032" y="4187952"/>
            <a:ext cx="6766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25-34</a:t>
            </a:r>
            <a:endParaRPr lang="en-US" sz="750" dirty="0"/>
          </a:p>
        </p:txBody>
      </p:sp>
      <p:sp>
        <p:nvSpPr>
          <p:cNvPr id="29" name="label_tt_age_25_34"/>
          <p:cNvSpPr/>
          <p:nvPr/>
        </p:nvSpPr>
        <p:spPr>
          <a:xfrm>
            <a:off x="1353312" y="2474520"/>
            <a:ext cx="7680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32%</a:t>
            </a:r>
            <a:endParaRPr lang="en-US" sz="750" dirty="0"/>
          </a:p>
        </p:txBody>
      </p:sp>
      <p:sp>
        <p:nvSpPr>
          <p:cNvPr id="30" name="bar_tt_age_35_44"/>
          <p:cNvSpPr/>
          <p:nvPr/>
        </p:nvSpPr>
        <p:spPr>
          <a:xfrm>
            <a:off x="2267712" y="3536950"/>
            <a:ext cx="402336" cy="577850"/>
          </a:xfrm>
          <a:prstGeom prst="rect">
            <a:avLst/>
          </a:prstGeom>
          <a:solidFill>
            <a:srgbClr val="20294A"/>
          </a:solidFill>
          <a:ln w="12700">
            <a:solidFill>
              <a:srgbClr val="2029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Text 29"/>
          <p:cNvSpPr/>
          <p:nvPr/>
        </p:nvSpPr>
        <p:spPr>
          <a:xfrm>
            <a:off x="2130552" y="4187952"/>
            <a:ext cx="6766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35-44</a:t>
            </a:r>
            <a:endParaRPr lang="en-US" sz="750" dirty="0"/>
          </a:p>
        </p:txBody>
      </p:sp>
      <p:sp>
        <p:nvSpPr>
          <p:cNvPr id="32" name="label_tt_age_35_44"/>
          <p:cNvSpPr/>
          <p:nvPr/>
        </p:nvSpPr>
        <p:spPr>
          <a:xfrm>
            <a:off x="2084832" y="3319070"/>
            <a:ext cx="7680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13%</a:t>
            </a:r>
            <a:endParaRPr lang="en-US" sz="750" dirty="0"/>
          </a:p>
        </p:txBody>
      </p:sp>
      <p:sp>
        <p:nvSpPr>
          <p:cNvPr id="33" name="bar_tt_age_45_54"/>
          <p:cNvSpPr/>
          <p:nvPr/>
        </p:nvSpPr>
        <p:spPr>
          <a:xfrm>
            <a:off x="2999232" y="3759200"/>
            <a:ext cx="402336" cy="355600"/>
          </a:xfrm>
          <a:prstGeom prst="rect">
            <a:avLst/>
          </a:prstGeom>
          <a:solidFill>
            <a:srgbClr val="E6E7EB"/>
          </a:solidFill>
          <a:ln w="12700">
            <a:solidFill>
              <a:srgbClr val="E6E7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Text 32"/>
          <p:cNvSpPr/>
          <p:nvPr/>
        </p:nvSpPr>
        <p:spPr>
          <a:xfrm>
            <a:off x="2862072" y="4187952"/>
            <a:ext cx="6766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45-54</a:t>
            </a:r>
            <a:endParaRPr lang="en-US" sz="750" dirty="0"/>
          </a:p>
        </p:txBody>
      </p:sp>
      <p:sp>
        <p:nvSpPr>
          <p:cNvPr id="35" name="label_tt_age_45_54"/>
          <p:cNvSpPr/>
          <p:nvPr/>
        </p:nvSpPr>
        <p:spPr>
          <a:xfrm>
            <a:off x="2816352" y="3541320"/>
            <a:ext cx="7680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8%</a:t>
            </a:r>
            <a:endParaRPr lang="en-US" sz="750" dirty="0"/>
          </a:p>
        </p:txBody>
      </p:sp>
      <p:sp>
        <p:nvSpPr>
          <p:cNvPr id="36" name="bar_tt_age_55"/>
          <p:cNvSpPr/>
          <p:nvPr/>
        </p:nvSpPr>
        <p:spPr>
          <a:xfrm>
            <a:off x="3730752" y="3670300"/>
            <a:ext cx="402336" cy="444500"/>
          </a:xfrm>
          <a:prstGeom prst="rect">
            <a:avLst/>
          </a:prstGeom>
          <a:solidFill>
            <a:srgbClr val="E9A300"/>
          </a:solidFill>
          <a:ln w="12700">
            <a:solidFill>
              <a:srgbClr val="E9A30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Text 35"/>
          <p:cNvSpPr/>
          <p:nvPr/>
        </p:nvSpPr>
        <p:spPr>
          <a:xfrm>
            <a:off x="3593592" y="4187952"/>
            <a:ext cx="6766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55+</a:t>
            </a:r>
            <a:endParaRPr lang="en-US" sz="750" dirty="0"/>
          </a:p>
        </p:txBody>
      </p:sp>
      <p:sp>
        <p:nvSpPr>
          <p:cNvPr id="38" name="label_tt_age_55"/>
          <p:cNvSpPr/>
          <p:nvPr/>
        </p:nvSpPr>
        <p:spPr>
          <a:xfrm>
            <a:off x="3547872" y="3452420"/>
            <a:ext cx="7680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10%</a:t>
            </a:r>
            <a:endParaRPr lang="en-US" sz="750" dirty="0"/>
          </a:p>
        </p:txBody>
      </p:sp>
      <p:sp>
        <p:nvSpPr>
          <p:cNvPr id="39" name="Text 37"/>
          <p:cNvSpPr/>
          <p:nvPr/>
        </p:nvSpPr>
        <p:spPr>
          <a:xfrm>
            <a:off x="4709160" y="2118735"/>
            <a:ext cx="3337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21426"/>
                </a:solidFill>
              </a:rPr>
              <a:t>Top 3: interacciones</a:t>
            </a:r>
            <a:endParaRPr lang="en-US" sz="950" dirty="0"/>
          </a:p>
        </p:txBody>
      </p:sp>
      <p:sp>
        <p:nvSpPr>
          <p:cNvPr id="40" name="bar_tt_top_1"/>
          <p:cNvSpPr/>
          <p:nvPr/>
        </p:nvSpPr>
        <p:spPr>
          <a:xfrm>
            <a:off x="4959477" y="2514600"/>
            <a:ext cx="611886" cy="1600200"/>
          </a:xfrm>
          <a:prstGeom prst="rect">
            <a:avLst/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Text 39"/>
          <p:cNvSpPr/>
          <p:nvPr/>
        </p:nvSpPr>
        <p:spPr>
          <a:xfrm>
            <a:off x="4822317" y="4187952"/>
            <a:ext cx="88620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Maquillaje principiantes</a:t>
            </a:r>
            <a:endParaRPr lang="en-US" sz="750" dirty="0"/>
          </a:p>
        </p:txBody>
      </p:sp>
      <p:sp>
        <p:nvSpPr>
          <p:cNvPr id="42" name="label_tt_top_1"/>
          <p:cNvSpPr/>
          <p:nvPr/>
        </p:nvSpPr>
        <p:spPr>
          <a:xfrm>
            <a:off x="4776597" y="2296720"/>
            <a:ext cx="97764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2.880</a:t>
            </a:r>
            <a:endParaRPr lang="en-US" sz="750" dirty="0"/>
          </a:p>
        </p:txBody>
      </p:sp>
      <p:sp>
        <p:nvSpPr>
          <p:cNvPr id="43" name="bar_tt_top_2"/>
          <p:cNvSpPr/>
          <p:nvPr/>
        </p:nvSpPr>
        <p:spPr>
          <a:xfrm>
            <a:off x="6071997" y="3764757"/>
            <a:ext cx="611886" cy="350043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4" name="Text 42"/>
          <p:cNvSpPr/>
          <p:nvPr/>
        </p:nvSpPr>
        <p:spPr>
          <a:xfrm>
            <a:off x="5934837" y="4187952"/>
            <a:ext cx="88620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EGC Garnier</a:t>
            </a:r>
            <a:endParaRPr lang="en-US" sz="750" dirty="0"/>
          </a:p>
        </p:txBody>
      </p:sp>
      <p:sp>
        <p:nvSpPr>
          <p:cNvPr id="45" name="label_tt_top_2"/>
          <p:cNvSpPr/>
          <p:nvPr/>
        </p:nvSpPr>
        <p:spPr>
          <a:xfrm>
            <a:off x="5889117" y="3546877"/>
            <a:ext cx="97764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630</a:t>
            </a:r>
            <a:endParaRPr lang="en-US" sz="750" dirty="0"/>
          </a:p>
        </p:txBody>
      </p:sp>
      <p:sp>
        <p:nvSpPr>
          <p:cNvPr id="46" name="bar_tt_top_3"/>
          <p:cNvSpPr/>
          <p:nvPr/>
        </p:nvSpPr>
        <p:spPr>
          <a:xfrm>
            <a:off x="7184517" y="3344149"/>
            <a:ext cx="611886" cy="770651"/>
          </a:xfrm>
          <a:prstGeom prst="rect">
            <a:avLst/>
          </a:prstGeom>
          <a:solidFill>
            <a:srgbClr val="20294A"/>
          </a:solidFill>
          <a:ln w="12700">
            <a:solidFill>
              <a:srgbClr val="2029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45"/>
          <p:cNvSpPr/>
          <p:nvPr/>
        </p:nvSpPr>
        <p:spPr>
          <a:xfrm>
            <a:off x="7047357" y="4187952"/>
            <a:ext cx="88620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UGC hábitos piel</a:t>
            </a:r>
            <a:endParaRPr lang="en-US" sz="750" dirty="0"/>
          </a:p>
        </p:txBody>
      </p:sp>
      <p:sp>
        <p:nvSpPr>
          <p:cNvPr id="48" name="label_tt_top_3"/>
          <p:cNvSpPr/>
          <p:nvPr/>
        </p:nvSpPr>
        <p:spPr>
          <a:xfrm>
            <a:off x="7001637" y="3126269"/>
            <a:ext cx="97764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1.387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8366760" y="1143000"/>
            <a:ext cx="2606040" cy="4297680"/>
          </a:xfrm>
          <a:prstGeom prst="roundRect">
            <a:avLst>
              <a:gd name="adj" fmla="val 2807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0" name="Text 48"/>
          <p:cNvSpPr/>
          <p:nvPr/>
        </p:nvSpPr>
        <p:spPr>
          <a:xfrm>
            <a:off x="8595360" y="141732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21426"/>
                </a:solidFill>
              </a:rPr>
              <a:t>Principio de contenido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8595360" y="1828800"/>
            <a:ext cx="2057400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21426"/>
                </a:solidFill>
              </a:rPr>
              <a:t>Funciona cuando habla el lenguaje de la plataforma: auténtico, real, educativo y menos publicitario.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8595360" y="3127248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6C5CE7"/>
                </a:solidFill>
              </a:rPr>
              <a:t>Oportunidad</a:t>
            </a:r>
            <a:endParaRPr lang="en-US" sz="1300" dirty="0"/>
          </a:p>
        </p:txBody>
      </p:sp>
      <p:sp>
        <p:nvSpPr>
          <p:cNvPr id="53" name="Text 51"/>
          <p:cNvSpPr/>
          <p:nvPr/>
        </p:nvSpPr>
        <p:spPr>
          <a:xfrm>
            <a:off x="8595360" y="3502152"/>
            <a:ext cx="205740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21426"/>
                </a:solidFill>
              </a:rPr>
              <a:t>Replicar contenidos de trabajadoras y formatos con datos, precios y beneficios concretos. Potenciar CTA a comentar, guardar y seguir.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502920" y="301752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EB00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MARZO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12142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TikTok: mix creativo por objetivo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0378440" y="36576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EB008B"/>
                </a:solidFill>
              </a:rPr>
              <a:t>maicao+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85800" y="1234440"/>
            <a:ext cx="53730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21426"/>
                </a:solidFill>
              </a:rPr>
              <a:t>Volumen para alcance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68796" y="1234440"/>
            <a:ext cx="46497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21426"/>
                </a:solidFill>
              </a:rPr>
              <a:t>Profundidad para interacción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31520" y="1691640"/>
            <a:ext cx="2926080" cy="3840480"/>
          </a:xfrm>
          <a:prstGeom prst="roundRect">
            <a:avLst>
              <a:gd name="adj" fmla="val 25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914400" y="194767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6C5CE7"/>
                </a:solidFill>
              </a:rPr>
              <a:t>UGC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77240" y="2606040"/>
            <a:ext cx="1828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6C5CE7"/>
                </a:solidFill>
              </a:rPr>
              <a:t>3,1M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777240" y="2953512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6E7280"/>
                </a:solidFill>
              </a:rPr>
              <a:t>views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1828800" y="2606040"/>
            <a:ext cx="1828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6C5CE7"/>
                </a:solidFill>
              </a:rPr>
              <a:t>7.222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828800" y="2953512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6E7280"/>
                </a:solidFill>
              </a:rPr>
              <a:t>interacciones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325880" y="3703320"/>
            <a:ext cx="1828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6C5CE7"/>
                </a:solidFill>
              </a:rPr>
              <a:t>0,5%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325880" y="4050792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6E7280"/>
                </a:solidFill>
              </a:rPr>
              <a:t>E.R.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1005840" y="4709160"/>
            <a:ext cx="2331720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21426"/>
                </a:solidFill>
              </a:rPr>
              <a:t>Volumen, frecuencia y exposición continua.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251960" y="1691640"/>
            <a:ext cx="2926080" cy="3840480"/>
          </a:xfrm>
          <a:prstGeom prst="roundRect">
            <a:avLst>
              <a:gd name="adj" fmla="val 25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4434840" y="194767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B008B"/>
                </a:solidFill>
              </a:rPr>
              <a:t>EGC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4297680" y="2606040"/>
            <a:ext cx="1828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B008B"/>
                </a:solidFill>
              </a:rPr>
              <a:t>1,2M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4297680" y="2953512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6E7280"/>
                </a:solidFill>
              </a:rPr>
              <a:t>views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349240" y="2606040"/>
            <a:ext cx="1828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B008B"/>
                </a:solidFill>
              </a:rPr>
              <a:t>2.166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5349240" y="2953512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6E7280"/>
                </a:solidFill>
              </a:rPr>
              <a:t>interacciones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4846320" y="3703320"/>
            <a:ext cx="1828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B008B"/>
                </a:solidFill>
              </a:rPr>
              <a:t>0,6%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4846320" y="4050792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6E7280"/>
                </a:solidFill>
              </a:rPr>
              <a:t>E.R.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4526280" y="4709160"/>
            <a:ext cx="2331720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21426"/>
                </a:solidFill>
              </a:rPr>
              <a:t>Cercanía, confianza y conversación con consejeras.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7772400" y="1691640"/>
            <a:ext cx="2926080" cy="3840480"/>
          </a:xfrm>
          <a:prstGeom prst="roundRect">
            <a:avLst>
              <a:gd name="adj" fmla="val 25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7955280" y="194767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0294A"/>
                </a:solidFill>
              </a:rPr>
              <a:t>Extras y campañas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7818120" y="2606040"/>
            <a:ext cx="1828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0294A"/>
                </a:solidFill>
              </a:rPr>
              <a:t>0,3M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7818120" y="2953512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6E7280"/>
                </a:solidFill>
              </a:rPr>
              <a:t>views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8869680" y="2606040"/>
            <a:ext cx="1828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0294A"/>
                </a:solidFill>
              </a:rPr>
              <a:t>7.760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8869680" y="2953512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6E7280"/>
                </a:solidFill>
              </a:rPr>
              <a:t>interacciones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8366760" y="3703320"/>
            <a:ext cx="1828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0294A"/>
                </a:solidFill>
              </a:rPr>
              <a:t>3,0%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8366760" y="4050792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6E7280"/>
                </a:solidFill>
              </a:rPr>
              <a:t>E.R.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8046720" y="4709160"/>
            <a:ext cx="2331720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21426"/>
                </a:solidFill>
              </a:rPr>
              <a:t>Menor volumen, mayor engagement por oportunidad cultural.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868680" y="5897880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21426"/>
                </a:solidFill>
              </a:rPr>
              <a:t>Lectura: UGC debe seguir alimentando volumen; EGC debe usarse para confianza; campañas deben seleccionarse por oportunidad de conversación, no solo por calendario.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502920" y="301752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EB00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MARZO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02920" y="541503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0000" lnSpcReduction="20000"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12142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Squad: menos volumen de perfiles grandes, buen amortiguador con Disley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0378440" y="36576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EB008B"/>
                </a:solidFill>
              </a:rPr>
              <a:t>maicao+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1143000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804672" y="1289304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6E7280"/>
                </a:solidFill>
              </a:rPr>
              <a:t>VIEWS SQUAD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804672" y="1554480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EB008B"/>
                </a:solidFill>
              </a:rPr>
              <a:t>4.637.075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804672" y="1855986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C74363"/>
                </a:solidFill>
              </a:rPr>
              <a:t>antes 5.568.079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2651760" y="1143000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2816352" y="1289304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6E7280"/>
                </a:solidFill>
              </a:rPr>
              <a:t>ALCANCE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2816352" y="1554480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EB008B"/>
                </a:solidFill>
              </a:rPr>
              <a:t>2.020.826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2816352" y="1851660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C74363"/>
                </a:solidFill>
              </a:rPr>
              <a:t>antes 3.768.390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4663440" y="1143000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4828032" y="1289304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6E7280"/>
                </a:solidFill>
              </a:rPr>
              <a:t>INTERACCIONES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828032" y="1554480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6C5CE7"/>
                </a:solidFill>
              </a:rPr>
              <a:t>60.146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4828032" y="1855986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6E7280"/>
                </a:solidFill>
              </a:rPr>
              <a:t>alta concentración Skar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6675120" y="1143000"/>
            <a:ext cx="1417320" cy="914400"/>
          </a:xfrm>
          <a:prstGeom prst="roundRect">
            <a:avLst>
              <a:gd name="adj" fmla="val 80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6839712" y="1289304"/>
            <a:ext cx="10881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6E7280"/>
                </a:solidFill>
              </a:rPr>
              <a:t>E.R.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6839712" y="1554480"/>
            <a:ext cx="1088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C74363"/>
                </a:solidFill>
              </a:rPr>
              <a:t>3,0%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6839712" y="1822679"/>
            <a:ext cx="10881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C74363"/>
                </a:solidFill>
              </a:rPr>
              <a:t>antes 4,4%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40080" y="2121408"/>
            <a:ext cx="3886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21426"/>
                </a:solidFill>
              </a:rPr>
              <a:t>Views por integrante</a:t>
            </a:r>
            <a:endParaRPr lang="en-US" sz="950" dirty="0"/>
          </a:p>
        </p:txBody>
      </p:sp>
      <p:sp>
        <p:nvSpPr>
          <p:cNvPr id="24" name="bar_squad_views_skar"/>
          <p:cNvSpPr/>
          <p:nvPr/>
        </p:nvSpPr>
        <p:spPr>
          <a:xfrm>
            <a:off x="858679" y="2514600"/>
            <a:ext cx="534353" cy="1737360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721519" y="4325112"/>
            <a:ext cx="80867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Skarleth</a:t>
            </a:r>
            <a:endParaRPr lang="en-US" sz="750" dirty="0"/>
          </a:p>
        </p:txBody>
      </p:sp>
      <p:sp>
        <p:nvSpPr>
          <p:cNvPr id="26" name="label_squad_views_skar"/>
          <p:cNvSpPr/>
          <p:nvPr/>
        </p:nvSpPr>
        <p:spPr>
          <a:xfrm>
            <a:off x="675799" y="2296720"/>
            <a:ext cx="90011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2,1M</a:t>
            </a:r>
            <a:endParaRPr lang="en-US" sz="750" dirty="0"/>
          </a:p>
        </p:txBody>
      </p:sp>
      <p:sp>
        <p:nvSpPr>
          <p:cNvPr id="27" name="bar_squad_views_busquilla"/>
          <p:cNvSpPr/>
          <p:nvPr/>
        </p:nvSpPr>
        <p:spPr>
          <a:xfrm>
            <a:off x="1830229" y="4177566"/>
            <a:ext cx="534353" cy="74394"/>
          </a:xfrm>
          <a:prstGeom prst="rect">
            <a:avLst/>
          </a:prstGeom>
          <a:solidFill>
            <a:srgbClr val="20294A"/>
          </a:solidFill>
          <a:ln w="12700">
            <a:solidFill>
              <a:srgbClr val="2029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1693069" y="4325112"/>
            <a:ext cx="80867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Busquilla</a:t>
            </a:r>
            <a:endParaRPr lang="en-US" sz="750" dirty="0"/>
          </a:p>
        </p:txBody>
      </p:sp>
      <p:sp>
        <p:nvSpPr>
          <p:cNvPr id="29" name="label_squad_views_busquilla"/>
          <p:cNvSpPr/>
          <p:nvPr/>
        </p:nvSpPr>
        <p:spPr>
          <a:xfrm>
            <a:off x="1647349" y="3959686"/>
            <a:ext cx="90011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88K</a:t>
            </a:r>
            <a:endParaRPr lang="en-US" sz="750" dirty="0"/>
          </a:p>
        </p:txBody>
      </p:sp>
      <p:sp>
        <p:nvSpPr>
          <p:cNvPr id="30" name="bar_squad_views_cami"/>
          <p:cNvSpPr/>
          <p:nvPr/>
        </p:nvSpPr>
        <p:spPr>
          <a:xfrm>
            <a:off x="2801779" y="3565078"/>
            <a:ext cx="534353" cy="686882"/>
          </a:xfrm>
          <a:prstGeom prst="rect">
            <a:avLst/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Text 29"/>
          <p:cNvSpPr/>
          <p:nvPr/>
        </p:nvSpPr>
        <p:spPr>
          <a:xfrm>
            <a:off x="2664619" y="4325112"/>
            <a:ext cx="80867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Cami</a:t>
            </a:r>
            <a:endParaRPr lang="en-US" sz="750" dirty="0"/>
          </a:p>
        </p:txBody>
      </p:sp>
      <p:sp>
        <p:nvSpPr>
          <p:cNvPr id="32" name="label_squad_views_cami"/>
          <p:cNvSpPr/>
          <p:nvPr/>
        </p:nvSpPr>
        <p:spPr>
          <a:xfrm>
            <a:off x="2618899" y="3347198"/>
            <a:ext cx="90011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811K</a:t>
            </a:r>
            <a:endParaRPr lang="en-US" sz="750" dirty="0"/>
          </a:p>
        </p:txBody>
      </p:sp>
      <p:sp>
        <p:nvSpPr>
          <p:cNvPr id="33" name="bar_squad_views_disley"/>
          <p:cNvSpPr/>
          <p:nvPr/>
        </p:nvSpPr>
        <p:spPr>
          <a:xfrm>
            <a:off x="3773329" y="2824896"/>
            <a:ext cx="534353" cy="1427064"/>
          </a:xfrm>
          <a:prstGeom prst="rect">
            <a:avLst/>
          </a:prstGeom>
          <a:solidFill>
            <a:srgbClr val="E9A300"/>
          </a:solidFill>
          <a:ln w="12700">
            <a:solidFill>
              <a:srgbClr val="E9A30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Text 32"/>
          <p:cNvSpPr/>
          <p:nvPr/>
        </p:nvSpPr>
        <p:spPr>
          <a:xfrm>
            <a:off x="3636169" y="4325112"/>
            <a:ext cx="80867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Disley</a:t>
            </a:r>
            <a:endParaRPr lang="en-US" sz="750" dirty="0"/>
          </a:p>
        </p:txBody>
      </p:sp>
      <p:sp>
        <p:nvSpPr>
          <p:cNvPr id="35" name="label_squad_views_disley"/>
          <p:cNvSpPr/>
          <p:nvPr/>
        </p:nvSpPr>
        <p:spPr>
          <a:xfrm>
            <a:off x="3590449" y="2607016"/>
            <a:ext cx="90011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1,7M</a:t>
            </a:r>
            <a:endParaRPr lang="en-US" sz="750" dirty="0"/>
          </a:p>
        </p:txBody>
      </p:sp>
      <p:sp>
        <p:nvSpPr>
          <p:cNvPr id="36" name="Text 34"/>
          <p:cNvSpPr/>
          <p:nvPr/>
        </p:nvSpPr>
        <p:spPr>
          <a:xfrm>
            <a:off x="4884610" y="2121408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21426"/>
                </a:solidFill>
              </a:rPr>
              <a:t>E.R. por integrante</a:t>
            </a:r>
            <a:endParaRPr lang="en-US" sz="950" dirty="0"/>
          </a:p>
        </p:txBody>
      </p:sp>
      <p:sp>
        <p:nvSpPr>
          <p:cNvPr id="37" name="bar_squad_er_skar"/>
          <p:cNvSpPr/>
          <p:nvPr/>
        </p:nvSpPr>
        <p:spPr>
          <a:xfrm>
            <a:off x="5082350" y="2514600"/>
            <a:ext cx="465201" cy="1737360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Text 36"/>
          <p:cNvSpPr/>
          <p:nvPr/>
        </p:nvSpPr>
        <p:spPr>
          <a:xfrm>
            <a:off x="4945189" y="4325112"/>
            <a:ext cx="73952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Skarleth</a:t>
            </a:r>
            <a:endParaRPr lang="en-US" sz="750" dirty="0"/>
          </a:p>
        </p:txBody>
      </p:sp>
      <p:sp>
        <p:nvSpPr>
          <p:cNvPr id="39" name="label_squad_er_skar"/>
          <p:cNvSpPr/>
          <p:nvPr/>
        </p:nvSpPr>
        <p:spPr>
          <a:xfrm>
            <a:off x="4899469" y="2296720"/>
            <a:ext cx="83096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4,5%</a:t>
            </a:r>
            <a:endParaRPr lang="en-US" sz="750" dirty="0"/>
          </a:p>
        </p:txBody>
      </p:sp>
      <p:sp>
        <p:nvSpPr>
          <p:cNvPr id="40" name="bar_squad_er_busquilla"/>
          <p:cNvSpPr/>
          <p:nvPr/>
        </p:nvSpPr>
        <p:spPr>
          <a:xfrm>
            <a:off x="5928169" y="3827272"/>
            <a:ext cx="465201" cy="424688"/>
          </a:xfrm>
          <a:prstGeom prst="rect">
            <a:avLst/>
          </a:prstGeom>
          <a:solidFill>
            <a:srgbClr val="20294A"/>
          </a:solidFill>
          <a:ln w="12700">
            <a:solidFill>
              <a:srgbClr val="2029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Text 39"/>
          <p:cNvSpPr/>
          <p:nvPr/>
        </p:nvSpPr>
        <p:spPr>
          <a:xfrm>
            <a:off x="5791009" y="4325112"/>
            <a:ext cx="73952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Busquilla</a:t>
            </a:r>
            <a:endParaRPr lang="en-US" sz="750" dirty="0"/>
          </a:p>
        </p:txBody>
      </p:sp>
      <p:sp>
        <p:nvSpPr>
          <p:cNvPr id="42" name="label_squad_er_busquilla"/>
          <p:cNvSpPr/>
          <p:nvPr/>
        </p:nvSpPr>
        <p:spPr>
          <a:xfrm>
            <a:off x="5745289" y="3609392"/>
            <a:ext cx="83096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1,1%</a:t>
            </a:r>
            <a:endParaRPr lang="en-US" sz="750" dirty="0"/>
          </a:p>
        </p:txBody>
      </p:sp>
      <p:sp>
        <p:nvSpPr>
          <p:cNvPr id="43" name="bar_squad_er_cami"/>
          <p:cNvSpPr/>
          <p:nvPr/>
        </p:nvSpPr>
        <p:spPr>
          <a:xfrm>
            <a:off x="6773989" y="3943096"/>
            <a:ext cx="465201" cy="308864"/>
          </a:xfrm>
          <a:prstGeom prst="rect">
            <a:avLst/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4" name="Text 42"/>
          <p:cNvSpPr/>
          <p:nvPr/>
        </p:nvSpPr>
        <p:spPr>
          <a:xfrm>
            <a:off x="6636829" y="4325112"/>
            <a:ext cx="73952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Cami</a:t>
            </a:r>
            <a:endParaRPr lang="en-US" sz="750" dirty="0"/>
          </a:p>
        </p:txBody>
      </p:sp>
      <p:sp>
        <p:nvSpPr>
          <p:cNvPr id="45" name="label_squad_er_cami"/>
          <p:cNvSpPr/>
          <p:nvPr/>
        </p:nvSpPr>
        <p:spPr>
          <a:xfrm>
            <a:off x="6591109" y="3725216"/>
            <a:ext cx="83096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0,8%</a:t>
            </a:r>
            <a:endParaRPr lang="en-US" sz="750" dirty="0"/>
          </a:p>
        </p:txBody>
      </p:sp>
      <p:sp>
        <p:nvSpPr>
          <p:cNvPr id="46" name="bar_squad_er_disley"/>
          <p:cNvSpPr/>
          <p:nvPr/>
        </p:nvSpPr>
        <p:spPr>
          <a:xfrm>
            <a:off x="7619810" y="3402584"/>
            <a:ext cx="465201" cy="849376"/>
          </a:xfrm>
          <a:prstGeom prst="rect">
            <a:avLst/>
          </a:prstGeom>
          <a:solidFill>
            <a:srgbClr val="E9A300"/>
          </a:solidFill>
          <a:ln w="12700">
            <a:solidFill>
              <a:srgbClr val="E9A30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45"/>
          <p:cNvSpPr/>
          <p:nvPr/>
        </p:nvSpPr>
        <p:spPr>
          <a:xfrm>
            <a:off x="7482650" y="4325112"/>
            <a:ext cx="73952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Disley</a:t>
            </a:r>
            <a:endParaRPr lang="en-US" sz="750" dirty="0"/>
          </a:p>
        </p:txBody>
      </p:sp>
      <p:sp>
        <p:nvSpPr>
          <p:cNvPr id="48" name="label_squad_er_disley"/>
          <p:cNvSpPr/>
          <p:nvPr/>
        </p:nvSpPr>
        <p:spPr>
          <a:xfrm>
            <a:off x="7436930" y="3184704"/>
            <a:ext cx="83096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2,2%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8641080" y="1188720"/>
            <a:ext cx="2423160" cy="4297680"/>
          </a:xfrm>
          <a:prstGeom prst="roundRect">
            <a:avLst>
              <a:gd name="adj" fmla="val 3019"/>
            </a:avLst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0" name="Text 48"/>
          <p:cNvSpPr/>
          <p:nvPr/>
        </p:nvSpPr>
        <p:spPr>
          <a:xfrm>
            <a:off x="8887968" y="15087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Aprendizaje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8887968" y="1965960"/>
            <a:ext cx="1901952" cy="1554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sz="1250" b="0">
                <a:solidFill>
                  <a:srgbClr val="FFFFFF"/>
                </a:solidFill>
                <a:latin typeface="Arial"/>
              </a:rPr>
              <a:t>Skar sostiene interacción alta; Disley abre volumen nuevo con tono humorístico y cercano. Para próximos meses, combinar perfiles de alto alcance con micro-nichos de expertise.</a:t>
            </a:r>
          </a:p>
        </p:txBody>
      </p:sp>
      <p:sp>
        <p:nvSpPr>
          <p:cNvPr id="52" name="Text 50"/>
          <p:cNvSpPr/>
          <p:nvPr/>
        </p:nvSpPr>
        <p:spPr>
          <a:xfrm>
            <a:off x="8887968" y="416052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/>
          </a:p>
        </p:txBody>
      </p:sp>
      <p:sp>
        <p:nvSpPr>
          <p:cNvPr id="53" name="Text 51"/>
          <p:cNvSpPr/>
          <p:nvPr/>
        </p:nvSpPr>
        <p:spPr>
          <a:xfrm>
            <a:off x="8887968" y="4526280"/>
            <a:ext cx="1901952" cy="594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8887968" y="4160520"/>
            <a:ext cx="19019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Arial"/>
              </a:rPr>
              <a:t>Presupuesto Squad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887968" y="4480560"/>
            <a:ext cx="19019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1">
                <a:solidFill>
                  <a:srgbClr val="FFFFFF"/>
                </a:solidFill>
                <a:latin typeface="Arial"/>
              </a:rPr>
              <a:t>$400K · antes $700K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887968" y="4800600"/>
            <a:ext cx="19019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Entregables por rostro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887968" y="5056632"/>
            <a:ext cx="190195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FFFFFF"/>
                </a:solidFill>
                <a:latin typeface="Arial"/>
              </a:rPr>
              <a:t>Skar: 3 · Busquilla: 4
Cami: 3 · Disley: 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8142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502920" y="301752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EB00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MARZO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12142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MMPP: buen recibimiento y aporte a construcción de valor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0378440" y="36576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EB008B"/>
                </a:solidFill>
              </a:rPr>
              <a:t>maicao+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31520" y="1234440"/>
            <a:ext cx="2194560" cy="914400"/>
          </a:xfrm>
          <a:prstGeom prst="roundRect">
            <a:avLst>
              <a:gd name="adj" fmla="val 80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896112" y="1380744"/>
            <a:ext cx="18653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6E7280"/>
                </a:solidFill>
              </a:rPr>
              <a:t>VISUALIZACIONES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896112" y="1645920"/>
            <a:ext cx="18653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EB008B"/>
                </a:solidFill>
              </a:rPr>
              <a:t>3.336.786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896112" y="1938528"/>
            <a:ext cx="18653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sz="950" b="1">
                <a:solidFill>
                  <a:srgbClr val="616777"/>
                </a:solidFill>
                <a:latin typeface="Arial"/>
              </a:rPr>
              <a:t>marcas presentes + menciones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3154680" y="1234440"/>
            <a:ext cx="2011680" cy="914400"/>
          </a:xfrm>
          <a:prstGeom prst="roundRect">
            <a:avLst>
              <a:gd name="adj" fmla="val 80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3319272" y="1380744"/>
            <a:ext cx="16824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6E7280"/>
                </a:solidFill>
              </a:rPr>
              <a:t>ALCANCE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3319272" y="1645920"/>
            <a:ext cx="1682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20294A"/>
                </a:solidFill>
              </a:rPr>
              <a:t>1.443.025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3319272" y="1934342"/>
            <a:ext cx="16824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6E7280"/>
                </a:solidFill>
              </a:rPr>
              <a:t>cuentas alcanzadas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5394960" y="1234440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5559552" y="1380744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6E7280"/>
                </a:solidFill>
              </a:rPr>
              <a:t>INTERACCIONES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5559552" y="1645920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6C5CE7"/>
                </a:solidFill>
              </a:rPr>
              <a:t>13.463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5559552" y="1934342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6E7280"/>
                </a:solidFill>
              </a:rPr>
              <a:t>comentarios positivos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7452360" y="1234440"/>
            <a:ext cx="1371600" cy="914400"/>
          </a:xfrm>
          <a:prstGeom prst="roundRect">
            <a:avLst>
              <a:gd name="adj" fmla="val 80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7616952" y="1380744"/>
            <a:ext cx="10424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6E7280"/>
                </a:solidFill>
              </a:rPr>
              <a:t>E.R.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7616952" y="1645920"/>
            <a:ext cx="10424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1FA37A"/>
                </a:solidFill>
              </a:rPr>
              <a:t>1,0%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7616952" y="1934342"/>
            <a:ext cx="10424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6E7280"/>
                </a:solidFill>
              </a:rPr>
              <a:t>engagement de campaña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77240" y="2484495"/>
            <a:ext cx="3154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21426"/>
                </a:solidFill>
              </a:rPr>
              <a:t>Mix de 14 contenidos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1013841" y="2880360"/>
            <a:ext cx="578358" cy="1645920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876681" y="4599432"/>
            <a:ext cx="85267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IG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830961" y="2651760"/>
            <a:ext cx="94411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Instagram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2065401" y="3429000"/>
            <a:ext cx="578358" cy="1097280"/>
          </a:xfrm>
          <a:prstGeom prst="rect">
            <a:avLst/>
          </a:prstGeom>
          <a:solidFill>
            <a:srgbClr val="20294A"/>
          </a:solidFill>
          <a:ln w="12700">
            <a:solidFill>
              <a:srgbClr val="2029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1928241" y="4599432"/>
            <a:ext cx="85267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FB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1882521" y="3200400"/>
            <a:ext cx="94411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Facebook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3116961" y="3429000"/>
            <a:ext cx="578358" cy="1097280"/>
          </a:xfrm>
          <a:prstGeom prst="rect">
            <a:avLst/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Text 29"/>
          <p:cNvSpPr/>
          <p:nvPr/>
        </p:nvSpPr>
        <p:spPr>
          <a:xfrm>
            <a:off x="2979801" y="4599432"/>
            <a:ext cx="85267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TikTok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2934081" y="3200400"/>
            <a:ext cx="94411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TikTok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4343400" y="2743200"/>
            <a:ext cx="6172200" cy="1920240"/>
          </a:xfrm>
          <a:prstGeom prst="roundRect">
            <a:avLst>
              <a:gd name="adj" fmla="val 381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Text 32"/>
          <p:cNvSpPr/>
          <p:nvPr/>
        </p:nvSpPr>
        <p:spPr>
          <a:xfrm>
            <a:off x="4617720" y="306324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1426"/>
                </a:solidFill>
              </a:rPr>
              <a:t>Lectura cualitativa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4617720" y="3493008"/>
            <a:ext cx="5440680" cy="8686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sz="1200" b="0">
                <a:solidFill>
                  <a:srgbClr val="10152B"/>
                </a:solidFill>
                <a:latin typeface="Arial"/>
              </a:rPr>
              <a:t>El mix permitió ampliar la presencia de marcas propias y menciones asociadas a calidad, precio y valor práctico. Para reforzar la lectura, se recomienda mostrar el ecosistema completo de marcas y no solo la pieza destacada.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4617720" y="4434840"/>
            <a:ext cx="914400" cy="475488"/>
          </a:xfrm>
          <a:prstGeom prst="roundRect">
            <a:avLst>
              <a:gd name="adj" fmla="val 9615"/>
            </a:avLst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Text 35"/>
          <p:cNvSpPr/>
          <p:nvPr/>
        </p:nvSpPr>
        <p:spPr>
          <a:xfrm>
            <a:off x="4727448" y="4544568"/>
            <a:ext cx="6949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715000" y="4434840"/>
            <a:ext cx="914400" cy="475488"/>
          </a:xfrm>
          <a:prstGeom prst="roundRect">
            <a:avLst>
              <a:gd name="adj" fmla="val 9615"/>
            </a:avLst>
          </a:prstGeom>
          <a:solidFill>
            <a:srgbClr val="20294A"/>
          </a:solidFill>
          <a:ln w="12700">
            <a:solidFill>
              <a:srgbClr val="2029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Text 37"/>
          <p:cNvSpPr/>
          <p:nvPr/>
        </p:nvSpPr>
        <p:spPr>
          <a:xfrm>
            <a:off x="5824728" y="4544568"/>
            <a:ext cx="6949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6812280" y="4434840"/>
            <a:ext cx="1371600" cy="475488"/>
          </a:xfrm>
          <a:prstGeom prst="roundRect">
            <a:avLst>
              <a:gd name="adj" fmla="val 9615"/>
            </a:avLst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Text 39"/>
          <p:cNvSpPr/>
          <p:nvPr/>
        </p:nvSpPr>
        <p:spPr>
          <a:xfrm>
            <a:off x="6922008" y="4544568"/>
            <a:ext cx="11521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868680" y="5669280"/>
            <a:ext cx="9966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21426"/>
                </a:solidFill>
              </a:rPr>
              <a:t>Próximo paso: convertir menciones de marca propia en “pruebas visuales” comparativas: antes/después, precio vs resultado, rutina completa.</a:t>
            </a:r>
            <a:endParaRPr lang="en-US" sz="1300" dirty="0"/>
          </a:p>
        </p:txBody>
      </p:sp>
      <p:sp>
        <p:nvSpPr>
          <p:cNvPr id="43" name="Rectangle 42"/>
          <p:cNvSpPr/>
          <p:nvPr/>
        </p:nvSpPr>
        <p:spPr>
          <a:xfrm>
            <a:off x="4480560" y="4261104"/>
            <a:ext cx="5806440" cy="685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4617720" y="4261104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E6007E"/>
                </a:solidFill>
                <a:latin typeface="Arial"/>
              </a:rPr>
              <a:t>Marcas presentes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617720" y="4535424"/>
            <a:ext cx="822960" cy="256032"/>
          </a:xfrm>
          <a:prstGeom prst="roundRect">
            <a:avLst/>
          </a:prstGeom>
          <a:solidFill>
            <a:srgbClr val="E600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SAMY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532120" y="4535424"/>
            <a:ext cx="1325880" cy="256032"/>
          </a:xfrm>
          <a:prstGeom prst="roundRect">
            <a:avLst/>
          </a:prstGeom>
          <a:solidFill>
            <a:srgbClr val="1015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869" b="1">
                <a:solidFill>
                  <a:srgbClr val="FFFFFF"/>
                </a:solidFill>
                <a:latin typeface="Arial"/>
              </a:rPr>
              <a:t>The Pure Solutions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949440" y="4535424"/>
            <a:ext cx="914400" cy="256032"/>
          </a:xfrm>
          <a:prstGeom prst="roundRect">
            <a:avLst/>
          </a:prstGeom>
          <a:solidFill>
            <a:srgbClr val="6B57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Face Facts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973568" y="4535424"/>
            <a:ext cx="658368" cy="256032"/>
          </a:xfrm>
          <a:prstGeom prst="roundRect">
            <a:avLst/>
          </a:prstGeom>
          <a:solidFill>
            <a:srgbClr val="ECA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00" b="1">
                <a:solidFill>
                  <a:srgbClr val="10152B"/>
                </a:solidFill>
                <a:latin typeface="Arial"/>
              </a:rPr>
              <a:t>Wave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732520" y="4535424"/>
            <a:ext cx="960120" cy="256032"/>
          </a:xfrm>
          <a:prstGeom prst="roundRect">
            <a:avLst/>
          </a:prstGeom>
          <a:solidFill>
            <a:srgbClr val="E6E6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00" b="1">
                <a:solidFill>
                  <a:srgbClr val="10152B"/>
                </a:solidFill>
                <a:latin typeface="Arial"/>
              </a:rPr>
              <a:t>Beauty 100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502920" y="301752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EB00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MARZO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sz="2700" b="1">
                <a:solidFill>
                  <a:srgbClr val="10152B"/>
                </a:solidFill>
                <a:latin typeface="Arial"/>
              </a:rPr>
              <a:t>Competencia: lectura cualitativa y oportunidad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0378440" y="36576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EB008B"/>
                </a:solidFill>
              </a:rPr>
              <a:t>maicao+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85800" y="1234440"/>
            <a:ext cx="3063240" cy="2057400"/>
          </a:xfrm>
          <a:prstGeom prst="roundRect">
            <a:avLst>
              <a:gd name="adj" fmla="val 3556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914400" y="15544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21426"/>
                </a:solidFill>
              </a:rPr>
              <a:t>Facebook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14400" y="1938528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A37A"/>
                </a:solidFill>
              </a:rPr>
              <a:t>Liderazgo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14400" y="2359152"/>
            <a:ext cx="2514600" cy="594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21426"/>
                </a:solidFill>
              </a:rPr>
              <a:t>Maicao lidera comunidad; crecimiento estable, oportunidad en oferta y contenido gráfico.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251960" y="1234440"/>
            <a:ext cx="3063240" cy="2057400"/>
          </a:xfrm>
          <a:prstGeom prst="roundRect">
            <a:avLst>
              <a:gd name="adj" fmla="val 3556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4480560" y="15544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21426"/>
                </a:solidFill>
              </a:rPr>
              <a:t>Instagram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480560" y="1938528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9A300"/>
                </a:solidFill>
              </a:rPr>
              <a:t>Posición intermedia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80560" y="2359152"/>
            <a:ext cx="2514600" cy="594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21426"/>
                </a:solidFill>
              </a:rPr>
              <a:t>DBS domina estética; Maicao crece con contenido y creators.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818120" y="1234440"/>
            <a:ext cx="3063240" cy="2057400"/>
          </a:xfrm>
          <a:prstGeom prst="roundRect">
            <a:avLst>
              <a:gd name="adj" fmla="val 3556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8046720" y="15544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21426"/>
                </a:solidFill>
              </a:rPr>
              <a:t>TikTok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046720" y="1938528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74363"/>
                </a:solidFill>
              </a:rPr>
              <a:t>Brecha de crecimiento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046720" y="2359152"/>
            <a:ext cx="2514600" cy="594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21426"/>
                </a:solidFill>
              </a:rPr>
              <a:t>Dr. Simi y el contenido social/humano marcan la conversación; Maicao tiene el mayor espacio para posicionarse.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85800" y="3703320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EB008B"/>
                </a:solidFill>
              </a:rPr>
              <a:t>SEÑALES DE LA COMPETENCIA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731520" y="4142232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121426"/>
                </a:solidFill>
              </a:rPr>
              <a:t>Preunic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1965960" y="4178808"/>
            <a:ext cx="3200400" cy="118872"/>
          </a:xfrm>
          <a:prstGeom prst="rect">
            <a:avLst/>
          </a:prstGeom>
          <a:solidFill>
            <a:srgbClr val="E6E7EB"/>
          </a:solidFill>
          <a:ln w="12700">
            <a:solidFill>
              <a:srgbClr val="E6E7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Shape 20"/>
          <p:cNvSpPr/>
          <p:nvPr/>
        </p:nvSpPr>
        <p:spPr>
          <a:xfrm>
            <a:off x="1965960" y="4178808"/>
            <a:ext cx="2667000" cy="118872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5257800" y="4142232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6E7280"/>
                </a:solidFill>
              </a:rPr>
              <a:t>5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731520" y="4507992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121426"/>
                </a:solidFill>
              </a:rPr>
              <a:t>DBS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1965960" y="4544568"/>
            <a:ext cx="3200400" cy="118872"/>
          </a:xfrm>
          <a:prstGeom prst="rect">
            <a:avLst/>
          </a:prstGeom>
          <a:solidFill>
            <a:srgbClr val="E6E7EB"/>
          </a:solidFill>
          <a:ln w="12700">
            <a:solidFill>
              <a:srgbClr val="E6E7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Shape 24"/>
          <p:cNvSpPr/>
          <p:nvPr/>
        </p:nvSpPr>
        <p:spPr>
          <a:xfrm>
            <a:off x="1965960" y="4544568"/>
            <a:ext cx="2133600" cy="118872"/>
          </a:xfrm>
          <a:prstGeom prst="rect">
            <a:avLst/>
          </a:prstGeom>
          <a:solidFill>
            <a:srgbClr val="20294A"/>
          </a:solidFill>
          <a:ln w="12700">
            <a:solidFill>
              <a:srgbClr val="2029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5257800" y="4507992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6E7280"/>
                </a:solidFill>
              </a:rPr>
              <a:t>4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731520" y="4873752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121426"/>
                </a:solidFill>
              </a:rPr>
              <a:t>Blush-Bar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1965960" y="4910328"/>
            <a:ext cx="3200400" cy="118872"/>
          </a:xfrm>
          <a:prstGeom prst="rect">
            <a:avLst/>
          </a:prstGeom>
          <a:solidFill>
            <a:srgbClr val="E6E7EB"/>
          </a:solidFill>
          <a:ln w="12700">
            <a:solidFill>
              <a:srgbClr val="E6E7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Shape 28"/>
          <p:cNvSpPr/>
          <p:nvPr/>
        </p:nvSpPr>
        <p:spPr>
          <a:xfrm>
            <a:off x="1965960" y="4910328"/>
            <a:ext cx="2667000" cy="118872"/>
          </a:xfrm>
          <a:prstGeom prst="rect">
            <a:avLst/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Text 29"/>
          <p:cNvSpPr/>
          <p:nvPr/>
        </p:nvSpPr>
        <p:spPr>
          <a:xfrm>
            <a:off x="5257800" y="4873752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6E7280"/>
                </a:solidFill>
              </a:rPr>
              <a:t>5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731520" y="5239512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121426"/>
                </a:solidFill>
              </a:rPr>
              <a:t>Beauty Plus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1965960" y="5276088"/>
            <a:ext cx="3200400" cy="118872"/>
          </a:xfrm>
          <a:prstGeom prst="rect">
            <a:avLst/>
          </a:prstGeom>
          <a:solidFill>
            <a:srgbClr val="E6E7EB"/>
          </a:solidFill>
          <a:ln w="12700">
            <a:solidFill>
              <a:srgbClr val="E6E7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Shape 32"/>
          <p:cNvSpPr/>
          <p:nvPr/>
        </p:nvSpPr>
        <p:spPr>
          <a:xfrm>
            <a:off x="1965960" y="5276088"/>
            <a:ext cx="1600200" cy="118872"/>
          </a:xfrm>
          <a:prstGeom prst="rect">
            <a:avLst/>
          </a:prstGeom>
          <a:solidFill>
            <a:srgbClr val="E9A300"/>
          </a:solidFill>
          <a:ln w="12700">
            <a:solidFill>
              <a:srgbClr val="E9A30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Text 33"/>
          <p:cNvSpPr/>
          <p:nvPr/>
        </p:nvSpPr>
        <p:spPr>
          <a:xfrm>
            <a:off x="5257800" y="5239512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6E7280"/>
                </a:solidFill>
              </a:rPr>
              <a:t>3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5806440" y="3886200"/>
            <a:ext cx="5074920" cy="1463040"/>
          </a:xfrm>
          <a:prstGeom prst="roundRect">
            <a:avLst>
              <a:gd name="adj" fmla="val 5000"/>
            </a:avLst>
          </a:prstGeom>
          <a:solidFill>
            <a:srgbClr val="121426"/>
          </a:solidFill>
          <a:ln w="12700">
            <a:solidFill>
              <a:srgbClr val="121426"/>
            </a:solidFill>
            <a:prstDash val="solid"/>
          </a:ln>
        </p:spPr>
        <p:txBody>
          <a:bodyPr/>
          <a:lstStyle/>
          <a:p>
            <a:endParaRPr lang="es-CL" dirty="0"/>
          </a:p>
        </p:txBody>
      </p:sp>
      <p:sp>
        <p:nvSpPr>
          <p:cNvPr id="37" name="Text 35"/>
          <p:cNvSpPr/>
          <p:nvPr/>
        </p:nvSpPr>
        <p:spPr>
          <a:xfrm>
            <a:off x="6080760" y="416052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Benchmark útil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6080760" y="4526280"/>
            <a:ext cx="443484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chemeClr val="bg1"/>
                </a:solidFill>
              </a:rPr>
              <a:t>Competidores activan Pinterest-like, creators, eventos y contenido humano. Maicao puede diferenciarse con utilidad + cercanía + retail expertise.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94360" y="3520440"/>
            <a:ext cx="10378440" cy="2148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ounded Rectangle 39"/>
          <p:cNvSpPr/>
          <p:nvPr/>
        </p:nvSpPr>
        <p:spPr>
          <a:xfrm>
            <a:off x="713232" y="3675887"/>
            <a:ext cx="4709160" cy="1719072"/>
          </a:xfrm>
          <a:prstGeom prst="roundRect">
            <a:avLst/>
          </a:prstGeom>
          <a:solidFill>
            <a:srgbClr val="F7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914400" y="3822191"/>
            <a:ext cx="4114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E6007E"/>
                </a:solidFill>
                <a:latin typeface="Arial"/>
              </a:rPr>
              <a:t>Qué está haciendo la competencia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" y="4133087"/>
            <a:ext cx="4206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40" b="0">
                <a:solidFill>
                  <a:srgbClr val="10152B"/>
                </a:solidFill>
                <a:latin typeface="Arial"/>
              </a:rPr>
              <a:t>Preunic: campañas tácticas + creators + activaciones.
DBS: estética aspiracional + eventos + contenido tipo Pinterest.
Blush-Bar: experiencias, alianzas y contenido lifestyle.
Beauty Plus: nichos y colaboraciones puntuales.
Dr. Simi: contenido humano/social con alta conexión emocional.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687568" y="3675887"/>
            <a:ext cx="4892040" cy="1719072"/>
          </a:xfrm>
          <a:prstGeom prst="roundRect">
            <a:avLst/>
          </a:prstGeom>
          <a:solidFill>
            <a:srgbClr val="F7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5925312" y="3822191"/>
            <a:ext cx="4114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E6007E"/>
                </a:solidFill>
                <a:latin typeface="Arial"/>
              </a:rPr>
              <a:t>Lectura cualitativa / oportunidad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25312" y="4133087"/>
            <a:ext cx="4251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10152B"/>
                </a:solidFill>
                <a:latin typeface="Arial"/>
              </a:rPr>
              <a:t>La competencia está activando desde tres frentes: oferta, estética y vínculo humano.
Oportunidad Maicao: diferenciarse combinando utilidad, cercanía y expertise retail, especialmente en TT con contenido nativo y guardable.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502920" y="301752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EB00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MARZO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sz="2700" b="1" dirty="0">
                <a:solidFill>
                  <a:srgbClr val="10152B"/>
                </a:solidFill>
                <a:latin typeface="Arial"/>
              </a:rPr>
              <a:t>Plan visual de </a:t>
            </a:r>
            <a:r>
              <a:rPr sz="2700" b="1" dirty="0" err="1">
                <a:solidFill>
                  <a:srgbClr val="10152B"/>
                </a:solidFill>
                <a:latin typeface="Arial"/>
              </a:rPr>
              <a:t>próximos</a:t>
            </a:r>
            <a:r>
              <a:rPr sz="2700" b="1" dirty="0">
                <a:solidFill>
                  <a:srgbClr val="10152B"/>
                </a:solidFill>
                <a:latin typeface="Arial"/>
              </a:rPr>
              <a:t> 30 días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0378440" y="36576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EB008B"/>
                </a:solidFill>
              </a:rPr>
              <a:t>maicao+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85800" y="1234440"/>
            <a:ext cx="4892040" cy="1691640"/>
          </a:xfrm>
          <a:prstGeom prst="roundRect">
            <a:avLst>
              <a:gd name="adj" fmla="val 4324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886968" y="1545336"/>
            <a:ext cx="658368" cy="658368"/>
          </a:xfrm>
          <a:prstGeom prst="ellipse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886968" y="170078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01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709928" y="149047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600" b="1" dirty="0" err="1">
                <a:solidFill>
                  <a:srgbClr val="10152B"/>
                </a:solidFill>
                <a:latin typeface="Arial"/>
              </a:rPr>
              <a:t>Retención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709928" y="1856232"/>
            <a:ext cx="3337560" cy="4297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sz="1100" b="0">
                <a:solidFill>
                  <a:srgbClr val="10152B"/>
                </a:solidFill>
                <a:latin typeface="Arial"/>
              </a:rPr>
              <a:t>Hooks de 3 segundos, captions con promesa clara y edición nativa para TikTok.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709928" y="246888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B008B"/>
                </a:solidFill>
              </a:rPr>
              <a:t>Meta: subir ER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126480" y="1234440"/>
            <a:ext cx="4892040" cy="1691640"/>
          </a:xfrm>
          <a:prstGeom prst="roundRect">
            <a:avLst>
              <a:gd name="adj" fmla="val 4324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6327648" y="1545336"/>
            <a:ext cx="658368" cy="658368"/>
          </a:xfrm>
          <a:prstGeom prst="ellipse">
            <a:avLst/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6327648" y="170078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02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150608" y="149047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600" b="1" dirty="0" err="1">
                <a:solidFill>
                  <a:srgbClr val="10152B"/>
                </a:solidFill>
                <a:latin typeface="Arial"/>
              </a:rPr>
              <a:t>Contenido</a:t>
            </a:r>
            <a:r>
              <a:rPr sz="1600" b="1" dirty="0">
                <a:solidFill>
                  <a:srgbClr val="10152B"/>
                </a:solidFill>
                <a:latin typeface="Arial"/>
              </a:rPr>
              <a:t> </a:t>
            </a:r>
            <a:r>
              <a:rPr sz="1600" b="1" dirty="0" err="1">
                <a:solidFill>
                  <a:srgbClr val="10152B"/>
                </a:solidFill>
                <a:latin typeface="Arial"/>
              </a:rPr>
              <a:t>útil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7150608" y="1856232"/>
            <a:ext cx="3337560" cy="4297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sz="1100" b="0">
                <a:solidFill>
                  <a:srgbClr val="10152B"/>
                </a:solidFill>
                <a:latin typeface="Arial"/>
              </a:rPr>
              <a:t>Series guardables en TT: tutoriales, hacks, precio vs resultado y rutinas rápidas.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7150608" y="246888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6C5CE7"/>
                </a:solidFill>
              </a:rPr>
              <a:t>Meta: más guardados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85800" y="3383280"/>
            <a:ext cx="4892040" cy="1691640"/>
          </a:xfrm>
          <a:prstGeom prst="roundRect">
            <a:avLst>
              <a:gd name="adj" fmla="val 4324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Shape 18"/>
          <p:cNvSpPr/>
          <p:nvPr/>
        </p:nvSpPr>
        <p:spPr>
          <a:xfrm>
            <a:off x="886968" y="3694176"/>
            <a:ext cx="658368" cy="658368"/>
          </a:xfrm>
          <a:prstGeom prst="ellipse">
            <a:avLst/>
          </a:prstGeom>
          <a:solidFill>
            <a:srgbClr val="20294A"/>
          </a:solidFill>
          <a:ln w="12700">
            <a:solidFill>
              <a:srgbClr val="2029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886968" y="384962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03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709928" y="363931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600" b="1" dirty="0" err="1">
                <a:solidFill>
                  <a:srgbClr val="10152B"/>
                </a:solidFill>
                <a:latin typeface="Arial"/>
              </a:rPr>
              <a:t>Conversación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709928" y="4005072"/>
            <a:ext cx="3337560" cy="4297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sz="1100" b="0">
                <a:solidFill>
                  <a:srgbClr val="10152B"/>
                </a:solidFill>
                <a:latin typeface="Arial"/>
              </a:rPr>
              <a:t>CTA de comentario, votación y preguntas simples para activar participación real en TT.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709928" y="461772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0294A"/>
                </a:solidFill>
              </a:rPr>
              <a:t>Meta: interacción real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126480" y="3383280"/>
            <a:ext cx="4892040" cy="1691640"/>
          </a:xfrm>
          <a:prstGeom prst="roundRect">
            <a:avLst>
              <a:gd name="adj" fmla="val 4324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Shape 24"/>
          <p:cNvSpPr/>
          <p:nvPr/>
        </p:nvSpPr>
        <p:spPr>
          <a:xfrm>
            <a:off x="6327648" y="3694176"/>
            <a:ext cx="658368" cy="658368"/>
          </a:xfrm>
          <a:prstGeom prst="ellipse">
            <a:avLst/>
          </a:prstGeom>
          <a:solidFill>
            <a:srgbClr val="E9A300"/>
          </a:solidFill>
          <a:ln w="12700">
            <a:solidFill>
              <a:srgbClr val="E9A30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6327648" y="384962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04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7150608" y="363931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600" b="1" dirty="0" err="1">
                <a:solidFill>
                  <a:srgbClr val="10152B"/>
                </a:solidFill>
                <a:latin typeface="Arial"/>
              </a:rPr>
              <a:t>Nichos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7150608" y="4005072"/>
            <a:ext cx="3337560" cy="4297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sz="1100" b="0">
                <a:solidFill>
                  <a:srgbClr val="10152B"/>
                </a:solidFill>
                <a:latin typeface="Arial"/>
              </a:rPr>
              <a:t>Talentos de skincare, maquillaje pro y Gen Z para micro-comunidades con alto potencial.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7150608" y="461772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9A300"/>
                </a:solidFill>
              </a:rPr>
              <a:t>Meta: relevancia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685800" y="5742432"/>
            <a:ext cx="10195560" cy="475488"/>
          </a:xfrm>
          <a:prstGeom prst="roundRect">
            <a:avLst>
              <a:gd name="adj" fmla="val 11538"/>
            </a:avLst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ext 30"/>
          <p:cNvSpPr/>
          <p:nvPr/>
        </p:nvSpPr>
        <p:spPr>
          <a:xfrm>
            <a:off x="1005840" y="5897880"/>
            <a:ext cx="9509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sz="1100" b="1" dirty="0">
                <a:solidFill>
                  <a:schemeClr val="bg1"/>
                </a:solidFill>
                <a:latin typeface="Arial"/>
              </a:rPr>
              <a:t>KPIs de control TT: </a:t>
            </a:r>
            <a:r>
              <a:rPr sz="1100" b="1" dirty="0" err="1">
                <a:solidFill>
                  <a:schemeClr val="bg1"/>
                </a:solidFill>
                <a:latin typeface="Arial"/>
              </a:rPr>
              <a:t>retención</a:t>
            </a:r>
            <a:r>
              <a:rPr sz="1100" b="1" dirty="0">
                <a:solidFill>
                  <a:schemeClr val="bg1"/>
                </a:solidFill>
                <a:latin typeface="Arial"/>
              </a:rPr>
              <a:t> de video · </a:t>
            </a:r>
            <a:r>
              <a:rPr sz="1100" b="1" dirty="0" err="1">
                <a:solidFill>
                  <a:schemeClr val="bg1"/>
                </a:solidFill>
                <a:latin typeface="Arial"/>
              </a:rPr>
              <a:t>guardados</a:t>
            </a:r>
            <a:r>
              <a:rPr sz="1100" b="1" dirty="0">
                <a:solidFill>
                  <a:schemeClr val="bg1"/>
                </a:solidFill>
                <a:latin typeface="Arial"/>
              </a:rPr>
              <a:t> · </a:t>
            </a:r>
            <a:r>
              <a:rPr sz="1100" b="1" dirty="0" err="1">
                <a:solidFill>
                  <a:schemeClr val="bg1"/>
                </a:solidFill>
                <a:latin typeface="Arial"/>
              </a:rPr>
              <a:t>comentarios</a:t>
            </a:r>
            <a:r>
              <a:rPr sz="1100" b="1" dirty="0">
                <a:solidFill>
                  <a:schemeClr val="bg1"/>
                </a:solidFill>
                <a:latin typeface="Arial"/>
              </a:rPr>
              <a:t> · </a:t>
            </a:r>
            <a:r>
              <a:rPr sz="1100" b="1" dirty="0" err="1">
                <a:solidFill>
                  <a:schemeClr val="bg1"/>
                </a:solidFill>
                <a:latin typeface="Arial"/>
              </a:rPr>
              <a:t>crecimiento</a:t>
            </a:r>
            <a:r>
              <a:rPr sz="1100" b="1" dirty="0">
                <a:solidFill>
                  <a:schemeClr val="bg1"/>
                </a:solidFill>
                <a:latin typeface="Arial"/>
              </a:rPr>
              <a:t> </a:t>
            </a:r>
            <a:r>
              <a:rPr sz="1100" b="1" dirty="0" err="1">
                <a:solidFill>
                  <a:schemeClr val="bg1"/>
                </a:solidFill>
                <a:latin typeface="Arial"/>
              </a:rPr>
              <a:t>seguidores</a:t>
            </a:r>
            <a:r>
              <a:rPr sz="1100" b="1" dirty="0">
                <a:solidFill>
                  <a:schemeClr val="bg1"/>
                </a:solidFill>
                <a:latin typeface="Arial"/>
              </a:rPr>
              <a:t> · ratio paid/</a:t>
            </a:r>
            <a:r>
              <a:rPr sz="1100" b="1" dirty="0" err="1">
                <a:solidFill>
                  <a:schemeClr val="bg1"/>
                </a:solidFill>
                <a:latin typeface="Arial"/>
              </a:rPr>
              <a:t>orgánico</a:t>
            </a:r>
            <a:endParaRPr lang="en-US" sz="105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</TotalTime>
  <Words>1388</Words>
  <Application>Microsoft Macintosh PowerPoint</Application>
  <PresentationFormat>Panorámica</PresentationFormat>
  <Paragraphs>370</Paragraphs>
  <Slides>12</Slides>
  <Notes>12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12</vt:i4>
      </vt:variant>
    </vt:vector>
  </HeadingPairs>
  <TitlesOfParts>
    <vt:vector size="17" baseType="lpstr">
      <vt:lpstr>Aptos</vt:lpstr>
      <vt:lpstr>Aptos Display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FAMOSOS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Reporte Mensual Maicao Marzo 2026</dc:title>
  <dc:subject>Reporte Mensual Maicao Marzo 2026 - rediseño visual</dc:subject>
  <dc:creator>OpenAI</dc:creator>
  <cp:lastModifiedBy>Microsoft Office User</cp:lastModifiedBy>
  <cp:revision>8</cp:revision>
  <dcterms:created xsi:type="dcterms:W3CDTF">2026-05-12T11:56:18Z</dcterms:created>
  <dcterms:modified xsi:type="dcterms:W3CDTF">2026-05-13T09:49:50Z</dcterms:modified>
</cp:coreProperties>
</file>