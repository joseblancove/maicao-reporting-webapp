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1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4711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" y="1234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 dirty="0">
                <a:solidFill>
                  <a:srgbClr val="EB00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REPORTE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EB00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MENSUAL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77824" y="2971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21426"/>
                </a:solidFill>
              </a:rPr>
              <a:t>Levantamiento y análisis de plataformas digitales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3429000"/>
            <a:ext cx="2468880" cy="347472"/>
          </a:xfrm>
          <a:prstGeom prst="rect">
            <a:avLst/>
          </a:prstGeom>
          <a:solidFill>
            <a:srgbClr val="EB008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Maicao · Marzo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77824" y="599846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280"/>
                </a:solidFill>
              </a:rPr>
              <a:t>Versión reestructurada para lectura ejecutiva y visual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680960" y="502920"/>
            <a:ext cx="3566160" cy="3566160"/>
          </a:xfrm>
          <a:prstGeom prst="arc">
            <a:avLst/>
          </a:prstGeom>
          <a:noFill/>
          <a:ln w="12700">
            <a:solidFill>
              <a:srgbClr val="EB008B">
                <a:alpha val="4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7543800" y="1143000"/>
            <a:ext cx="1691640" cy="1691640"/>
          </a:xfrm>
          <a:prstGeom prst="ellipse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616952" y="1616659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16,5M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16952" y="2124151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235440" y="2331720"/>
            <a:ext cx="1508760" cy="1508760"/>
          </a:xfrm>
          <a:prstGeom prst="ellipse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9308592" y="2754173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8,2M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308592" y="3206801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Alcance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909560" y="3794760"/>
            <a:ext cx="1325880" cy="132588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7982712" y="4166006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110,7K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982712" y="456377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195560" y="6080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EB008B"/>
                </a:solidFill>
              </a:rPr>
              <a:t>maicao+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Dashboard ejecutivo: 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58952" y="131673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58952" y="15819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16.486.179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58952" y="1920240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24,5% vs febrero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880360" y="117043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044952" y="131673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044952" y="15819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8.211.420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044952" y="1926465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0,2%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66360" y="1170432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330952" y="131673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ENGAGEMENT RATE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330952" y="158191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1,3%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314819" y="1926465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−53,5%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132320" y="1170432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296912" y="131673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296912" y="158191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110.695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96912" y="1926465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−53,0% vs febrero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9098280" y="117043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262872" y="1316736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INVERSIÓN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262872" y="1581912"/>
            <a:ext cx="1728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9A300"/>
                </a:solidFill>
              </a:rPr>
              <a:t>$3.800.400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262872" y="19154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78,4% vs febrero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94360" y="2423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LECTURA DE NEGOCIO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94360" y="26517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Febrero 2026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66966" y="3302958"/>
            <a:ext cx="666369" cy="172624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29806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Views Feb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84085" y="3074358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13,2M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078546" y="2880360"/>
            <a:ext cx="666369" cy="21488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1941386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Views Mar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895666" y="2651760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16,5M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290125" y="4998481"/>
            <a:ext cx="666369" cy="30719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3152965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Inter Feb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107245" y="4769881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235,7K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501706" y="5014772"/>
            <a:ext cx="666369" cy="14428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4364545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Inter Mar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318826" y="4786172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110,7K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806440" y="2651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121426"/>
          </a:solidFill>
          <a:ln w="12700">
            <a:solidFill>
              <a:srgbClr val="1214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6144768" y="3063240"/>
            <a:ext cx="47091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La inversión amplificó la visibilidad, pero el engagement cayó por cambio de contexto: de festivales/verano a vuelta a la rutina. La prioridad ahora es retención y conversación, no solo alcance.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144768" y="4343400"/>
            <a:ext cx="1691640" cy="475488"/>
          </a:xfrm>
          <a:prstGeom prst="roundRect">
            <a:avLst>
              <a:gd name="adj" fmla="val 9615"/>
            </a:avLst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254496" y="4453128"/>
            <a:ext cx="1472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alcance pagado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01000" y="4343400"/>
            <a:ext cx="1874520" cy="475488"/>
          </a:xfrm>
          <a:prstGeom prst="roundRect">
            <a:avLst>
              <a:gd name="adj" fmla="val 9615"/>
            </a:avLst>
          </a:prstGeom>
          <a:solidFill>
            <a:srgbClr val="C74363"/>
          </a:solidFill>
          <a:ln w="12700">
            <a:solidFill>
              <a:srgbClr val="C743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8110728" y="4453128"/>
            <a:ext cx="1655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Menos chispa orgánica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040112" y="4343400"/>
            <a:ext cx="960120" cy="475488"/>
          </a:xfrm>
          <a:prstGeom prst="roundRect">
            <a:avLst>
              <a:gd name="adj" fmla="val 9615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10149840" y="4453128"/>
            <a:ext cx="740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TikTok motor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cambió: de volumen a profundidad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1887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CAUSA → EFECTO → DECISIÓN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601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Cambio de temporada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14600"/>
            <a:ext cx="2331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La conversación espontánea bajó al salir de hitos de alto interés como festivales/verano.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ER Feb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9456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19456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401122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2.9%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6012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ER Mar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19456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194560" y="4178808"/>
            <a:ext cx="614855" cy="118872"/>
          </a:xfrm>
          <a:prstGeom prst="rect">
            <a:avLst/>
          </a:prstGeom>
          <a:solidFill>
            <a:srgbClr val="C74363"/>
          </a:solidFill>
          <a:ln w="12700">
            <a:solidFill>
              <a:srgbClr val="C743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401124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/>
              <a:t>1.3%</a:t>
            </a:r>
          </a:p>
        </p:txBody>
      </p:sp>
      <p:sp>
        <p:nvSpPr>
          <p:cNvPr id="20" name="Shape 18"/>
          <p:cNvSpPr/>
          <p:nvPr/>
        </p:nvSpPr>
        <p:spPr>
          <a:xfrm>
            <a:off x="384048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06908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2628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Inversión crece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069080" y="2514600"/>
            <a:ext cx="2331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El paid empuja visibilidad (+24,5% views), pero diluye la tasa al abrir públicos menos fidelizados.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06908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Ppto Feb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30352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5303520" y="3813048"/>
            <a:ext cx="768737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264760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2.130.000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06908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Ppto Mar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30352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5303520" y="4178808"/>
            <a:ext cx="1371600" cy="118872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253605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/>
              <a:t>3.800.400</a:t>
            </a:r>
          </a:p>
        </p:txBody>
      </p:sp>
      <p:sp>
        <p:nvSpPr>
          <p:cNvPr id="32" name="Shape 30"/>
          <p:cNvSpPr/>
          <p:nvPr/>
        </p:nvSpPr>
        <p:spPr>
          <a:xfrm>
            <a:off x="694944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71780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63524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Nuevo mix creativo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514600"/>
            <a:ext cx="233172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EGC, UGC y creators acercan la marca. Los contenidos útiles y auténticos son los que más se guardan/comentan.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17804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Cont Feb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41248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8412480" y="3813048"/>
            <a:ext cx="1230923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9574438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140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17804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Cont Mar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841248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8412480" y="4178808"/>
            <a:ext cx="1371600" cy="118872"/>
          </a:xfrm>
          <a:prstGeom prst="rect">
            <a:avLst/>
          </a:prstGeom>
          <a:solidFill>
            <a:srgbClr val="1FA37A"/>
          </a:solidFill>
          <a:ln w="12700">
            <a:solidFill>
              <a:srgbClr val="1FA3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585591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/>
              <a:t>156</a:t>
            </a:r>
          </a:p>
        </p:txBody>
      </p:sp>
      <p:sp>
        <p:nvSpPr>
          <p:cNvPr id="44" name="Shape 42"/>
          <p:cNvSpPr/>
          <p:nvPr/>
        </p:nvSpPr>
        <p:spPr>
          <a:xfrm>
            <a:off x="594360" y="5532120"/>
            <a:ext cx="10652760" cy="658368"/>
          </a:xfrm>
          <a:prstGeom prst="roundRect">
            <a:avLst>
              <a:gd name="adj" fmla="val 11111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868680" y="5705856"/>
            <a:ext cx="10104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Decisión recomendada: mantener escala, pero rediseñar el contenido para retener: hooks de 3 segundos + contenido útil + CTA conversacional.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Portafolio de canales: rol claro por plataforma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21455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Visualizaciones por canal</a:t>
            </a:r>
            <a:endParaRPr lang="en-US" sz="950" dirty="0"/>
          </a:p>
        </p:txBody>
      </p:sp>
      <p:sp>
        <p:nvSpPr>
          <p:cNvPr id="8" name="bar_channel_views_ig"/>
          <p:cNvSpPr/>
          <p:nvPr/>
        </p:nvSpPr>
        <p:spPr>
          <a:xfrm>
            <a:off x="928116" y="1417320"/>
            <a:ext cx="704088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9095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10" name="label_channel_views_ig"/>
          <p:cNvSpPr/>
          <p:nvPr/>
        </p:nvSpPr>
        <p:spPr>
          <a:xfrm>
            <a:off x="745236" y="119944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8,2M</a:t>
            </a:r>
            <a:endParaRPr lang="en-US" sz="750" dirty="0"/>
          </a:p>
        </p:txBody>
      </p:sp>
      <p:sp>
        <p:nvSpPr>
          <p:cNvPr id="11" name="bar_channel_views_fb"/>
          <p:cNvSpPr/>
          <p:nvPr/>
        </p:nvSpPr>
        <p:spPr>
          <a:xfrm>
            <a:off x="2208276" y="2585595"/>
            <a:ext cx="704088" cy="751965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07111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13" name="label_channel_views_fb"/>
          <p:cNvSpPr/>
          <p:nvPr/>
        </p:nvSpPr>
        <p:spPr>
          <a:xfrm>
            <a:off x="2025396" y="2367715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3,2M</a:t>
            </a:r>
            <a:endParaRPr lang="en-US" sz="750" dirty="0"/>
          </a:p>
        </p:txBody>
      </p:sp>
      <p:sp>
        <p:nvSpPr>
          <p:cNvPr id="14" name="bar_channel_views_tt"/>
          <p:cNvSpPr/>
          <p:nvPr/>
        </p:nvSpPr>
        <p:spPr>
          <a:xfrm>
            <a:off x="3488436" y="2282508"/>
            <a:ext cx="704088" cy="105505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35127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16" name="label_channel_views_tt"/>
          <p:cNvSpPr/>
          <p:nvPr/>
        </p:nvSpPr>
        <p:spPr>
          <a:xfrm>
            <a:off x="3305556" y="206462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4,5M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572000" y="1021455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Alcance por canal</a:t>
            </a:r>
            <a:endParaRPr lang="en-US" sz="950" dirty="0"/>
          </a:p>
        </p:txBody>
      </p:sp>
      <p:sp>
        <p:nvSpPr>
          <p:cNvPr id="18" name="bar_channel_reach_ig"/>
          <p:cNvSpPr/>
          <p:nvPr/>
        </p:nvSpPr>
        <p:spPr>
          <a:xfrm>
            <a:off x="4818888" y="1417320"/>
            <a:ext cx="603504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68172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20" name="label_channel_reach_ig"/>
          <p:cNvSpPr/>
          <p:nvPr/>
        </p:nvSpPr>
        <p:spPr>
          <a:xfrm>
            <a:off x="4636008" y="1199440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4,0M</a:t>
            </a:r>
            <a:endParaRPr lang="en-US" sz="750" dirty="0"/>
          </a:p>
        </p:txBody>
      </p:sp>
      <p:sp>
        <p:nvSpPr>
          <p:cNvPr id="21" name="bar_channel_reach_fb"/>
          <p:cNvSpPr/>
          <p:nvPr/>
        </p:nvSpPr>
        <p:spPr>
          <a:xfrm>
            <a:off x="5916168" y="2414187"/>
            <a:ext cx="603504" cy="923373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77900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23" name="label_channel_reach_fb"/>
          <p:cNvSpPr/>
          <p:nvPr/>
        </p:nvSpPr>
        <p:spPr>
          <a:xfrm>
            <a:off x="5733288" y="2196307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1,9M</a:t>
            </a:r>
            <a:endParaRPr lang="en-US" sz="750" dirty="0"/>
          </a:p>
        </p:txBody>
      </p:sp>
      <p:sp>
        <p:nvSpPr>
          <p:cNvPr id="24" name="bar_channel_reach_tt"/>
          <p:cNvSpPr/>
          <p:nvPr/>
        </p:nvSpPr>
        <p:spPr>
          <a:xfrm>
            <a:off x="7013448" y="2414500"/>
            <a:ext cx="603504" cy="92306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87628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26" name="label_channel_reach_tt"/>
          <p:cNvSpPr/>
          <p:nvPr/>
        </p:nvSpPr>
        <p:spPr>
          <a:xfrm>
            <a:off x="6830568" y="2196620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1,9M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8138160" y="1021455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E.R. por canal</a:t>
            </a:r>
            <a:endParaRPr lang="en-US" sz="950" dirty="0"/>
          </a:p>
        </p:txBody>
      </p:sp>
      <p:sp>
        <p:nvSpPr>
          <p:cNvPr id="28" name="bar_channel_er_ig"/>
          <p:cNvSpPr/>
          <p:nvPr/>
        </p:nvSpPr>
        <p:spPr>
          <a:xfrm>
            <a:off x="8350758" y="1417320"/>
            <a:ext cx="519684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821359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30" name="label_channel_er_ig"/>
          <p:cNvSpPr/>
          <p:nvPr/>
        </p:nvSpPr>
        <p:spPr>
          <a:xfrm>
            <a:off x="8167878" y="119944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1,4%</a:t>
            </a:r>
            <a:endParaRPr lang="en-US" sz="750" dirty="0"/>
          </a:p>
        </p:txBody>
      </p:sp>
      <p:sp>
        <p:nvSpPr>
          <p:cNvPr id="31" name="bar_channel_er_fb"/>
          <p:cNvSpPr/>
          <p:nvPr/>
        </p:nvSpPr>
        <p:spPr>
          <a:xfrm>
            <a:off x="9295638" y="3063240"/>
            <a:ext cx="519684" cy="27432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15847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33" name="label_channel_er_fb"/>
          <p:cNvSpPr/>
          <p:nvPr/>
        </p:nvSpPr>
        <p:spPr>
          <a:xfrm>
            <a:off x="9112758" y="284536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0,2%</a:t>
            </a:r>
            <a:endParaRPr lang="en-US" sz="750" dirty="0"/>
          </a:p>
        </p:txBody>
      </p:sp>
      <p:sp>
        <p:nvSpPr>
          <p:cNvPr id="34" name="bar_channel_er_tt"/>
          <p:cNvSpPr/>
          <p:nvPr/>
        </p:nvSpPr>
        <p:spPr>
          <a:xfrm>
            <a:off x="10240518" y="2103120"/>
            <a:ext cx="519684" cy="123444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1010335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36" name="label_channel_er_tt"/>
          <p:cNvSpPr/>
          <p:nvPr/>
        </p:nvSpPr>
        <p:spPr>
          <a:xfrm>
            <a:off x="10057638" y="188524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0,9%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7724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96012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B008B"/>
                </a:solidFill>
              </a:rPr>
              <a:t>Instagram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6012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Inspiración + cultura pop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6012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332.382 seguidores · 58.723 interacciones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34340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452628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94A"/>
                </a:solidFill>
              </a:rPr>
              <a:t>Facebook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2628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Comunidad masiva + ofertas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2628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565.501 seguidores · 4.656 interacciones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90956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809244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5CE7"/>
                </a:solidFill>
              </a:rPr>
              <a:t>TikTok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09244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Descubrimiento + contenido útil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09244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30.120 seguidores · 17.148 interacciones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77240" y="5779008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426"/>
                </a:solidFill>
              </a:rPr>
              <a:t>Lectura: IG concentra visibilidad e interacción; Facebook sostiene comunidad y alcance eficiente; TikTok es la apuesta de crecimiento cualitativo por autenticidad.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Instagram: visibilidad alta con engagement moderado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332.382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91729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1FA37A"/>
                </a:solidFill>
              </a:rPr>
              <a:t>+1.389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81635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CONTENIDOS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92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743200" y="1844142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+10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5196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41655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41655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1,4%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16552" y="191729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C74363"/>
                </a:solidFill>
              </a:rPr>
              <a:t>antes 3,2%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8521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0167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167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9A300"/>
                </a:solidFill>
              </a:rPr>
              <a:t>$1.670.000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016752" y="191729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1FA37A"/>
                </a:solidFill>
              </a:rPr>
              <a:t>antes $850.000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18735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Mix de formatos</a:t>
            </a:r>
            <a:endParaRPr lang="en-US" sz="950" dirty="0"/>
          </a:p>
        </p:txBody>
      </p:sp>
      <p:sp>
        <p:nvSpPr>
          <p:cNvPr id="24" name="bar_ig_mix_stories"/>
          <p:cNvSpPr/>
          <p:nvPr/>
        </p:nvSpPr>
        <p:spPr>
          <a:xfrm>
            <a:off x="859536" y="2514600"/>
            <a:ext cx="536448" cy="1554480"/>
          </a:xfrm>
          <a:prstGeom prst="rect">
            <a:avLst/>
          </a:prstGeom>
          <a:solidFill>
            <a:srgbClr val="FF6BBF"/>
          </a:solidFill>
          <a:ln w="12700">
            <a:solidFill>
              <a:srgbClr val="FF6B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2237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Stories</a:t>
            </a:r>
            <a:endParaRPr lang="en-US" sz="750" dirty="0"/>
          </a:p>
        </p:txBody>
      </p:sp>
      <p:sp>
        <p:nvSpPr>
          <p:cNvPr id="26" name="label_ig_mix_stories"/>
          <p:cNvSpPr/>
          <p:nvPr/>
        </p:nvSpPr>
        <p:spPr>
          <a:xfrm>
            <a:off x="676656" y="229672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68</a:t>
            </a:r>
            <a:endParaRPr lang="en-US" sz="750" dirty="0"/>
          </a:p>
        </p:txBody>
      </p:sp>
      <p:sp>
        <p:nvSpPr>
          <p:cNvPr id="27" name="bar_ig_mix_reels"/>
          <p:cNvSpPr/>
          <p:nvPr/>
        </p:nvSpPr>
        <p:spPr>
          <a:xfrm>
            <a:off x="1834896" y="3771900"/>
            <a:ext cx="536448" cy="29718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69773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Reels</a:t>
            </a:r>
            <a:endParaRPr lang="en-US" sz="750" dirty="0"/>
          </a:p>
        </p:txBody>
      </p:sp>
      <p:sp>
        <p:nvSpPr>
          <p:cNvPr id="29" name="label_ig_mix_reels"/>
          <p:cNvSpPr/>
          <p:nvPr/>
        </p:nvSpPr>
        <p:spPr>
          <a:xfrm>
            <a:off x="1652016" y="355402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</a:t>
            </a:r>
            <a:endParaRPr lang="en-US" sz="750" dirty="0"/>
          </a:p>
        </p:txBody>
      </p:sp>
      <p:sp>
        <p:nvSpPr>
          <p:cNvPr id="30" name="bar_ig_mix_carousels"/>
          <p:cNvSpPr/>
          <p:nvPr/>
        </p:nvSpPr>
        <p:spPr>
          <a:xfrm>
            <a:off x="2810256" y="3840480"/>
            <a:ext cx="536448" cy="22860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267309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Carruseles</a:t>
            </a:r>
            <a:endParaRPr lang="en-US" sz="750" dirty="0"/>
          </a:p>
        </p:txBody>
      </p:sp>
      <p:sp>
        <p:nvSpPr>
          <p:cNvPr id="32" name="label_ig_mix_carousels"/>
          <p:cNvSpPr/>
          <p:nvPr/>
        </p:nvSpPr>
        <p:spPr>
          <a:xfrm>
            <a:off x="2627376" y="362260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10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977640" y="21075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 contenido / views</a:t>
            </a:r>
            <a:endParaRPr lang="en-US" sz="950" dirty="0"/>
          </a:p>
        </p:txBody>
      </p:sp>
      <p:sp>
        <p:nvSpPr>
          <p:cNvPr id="34" name="bar_ig_top_1"/>
          <p:cNvSpPr/>
          <p:nvPr/>
        </p:nvSpPr>
        <p:spPr>
          <a:xfrm>
            <a:off x="4251960" y="2680166"/>
            <a:ext cx="670560" cy="1388914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41148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Bubble Maybelline</a:t>
            </a:r>
            <a:endParaRPr lang="en-US" sz="750" dirty="0"/>
          </a:p>
        </p:txBody>
      </p:sp>
      <p:sp>
        <p:nvSpPr>
          <p:cNvPr id="36" name="label_ig_top_1"/>
          <p:cNvSpPr/>
          <p:nvPr/>
        </p:nvSpPr>
        <p:spPr>
          <a:xfrm>
            <a:off x="4069080" y="2462286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1,51M</a:t>
            </a:r>
            <a:endParaRPr lang="en-US" sz="750" dirty="0"/>
          </a:p>
        </p:txBody>
      </p:sp>
      <p:sp>
        <p:nvSpPr>
          <p:cNvPr id="37" name="bar_ig_top_2"/>
          <p:cNvSpPr/>
          <p:nvPr/>
        </p:nvSpPr>
        <p:spPr>
          <a:xfrm>
            <a:off x="5471160" y="3367265"/>
            <a:ext cx="670560" cy="701815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53340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Check Bienvenida</a:t>
            </a:r>
            <a:endParaRPr lang="en-US" sz="750" dirty="0"/>
          </a:p>
        </p:txBody>
      </p:sp>
      <p:sp>
        <p:nvSpPr>
          <p:cNvPr id="39" name="label_ig_top_2"/>
          <p:cNvSpPr/>
          <p:nvPr/>
        </p:nvSpPr>
        <p:spPr>
          <a:xfrm>
            <a:off x="5288280" y="3149385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763K</a:t>
            </a:r>
            <a:endParaRPr lang="en-US" sz="750" dirty="0"/>
          </a:p>
        </p:txBody>
      </p:sp>
      <p:sp>
        <p:nvSpPr>
          <p:cNvPr id="40" name="bar_ig_top_3"/>
          <p:cNvSpPr/>
          <p:nvPr/>
        </p:nvSpPr>
        <p:spPr>
          <a:xfrm>
            <a:off x="6690360" y="2514600"/>
            <a:ext cx="670560" cy="155448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5532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Make up SAMY</a:t>
            </a:r>
            <a:endParaRPr lang="en-US" sz="750" dirty="0"/>
          </a:p>
        </p:txBody>
      </p:sp>
      <p:sp>
        <p:nvSpPr>
          <p:cNvPr id="42" name="label_ig_top_3"/>
          <p:cNvSpPr/>
          <p:nvPr/>
        </p:nvSpPr>
        <p:spPr>
          <a:xfrm>
            <a:off x="6507480" y="2296720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1,69M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38160" y="1143000"/>
            <a:ext cx="2880360" cy="402336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8412480" y="14173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Qué funcionó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412480" y="1828800"/>
            <a:ext cx="233172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Colaboraciones con creadoras: empujan comentarios desde sus comunidades.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Cultura pop y educativo: contenido tipo “Te enseño a…” genera valor y conversión.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Audiencia femenina dominante: 92,3% mujeres; mayor foco 25-34.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412480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008B"/>
                </a:solidFill>
              </a:rPr>
              <a:t>Optimización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412480" y="3977640"/>
            <a:ext cx="23317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Pasar de piezas aisladas a series guardables: tutoriales, comparativas, hacks y CTA de conversación.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5712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Facebook: liderazgo comunitario y respuesta a ofertas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565.501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95312" y="1950345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1FA37A"/>
                </a:solidFill>
              </a:rPr>
              <a:t>+430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3.223.306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04350" y="1878045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69,2% aprox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1.905.477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50892" y="187534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70,1% aprox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0,2%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0570" y="1951197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C74363"/>
                </a:solidFill>
              </a:rPr>
              <a:t>antes 0,3%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18735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3: views</a:t>
            </a:r>
            <a:endParaRPr lang="en-US" sz="950" dirty="0"/>
          </a:p>
        </p:txBody>
      </p:sp>
      <p:sp>
        <p:nvSpPr>
          <p:cNvPr id="24" name="bar_fb_top_1"/>
          <p:cNvSpPr/>
          <p:nvPr/>
        </p:nvSpPr>
        <p:spPr>
          <a:xfrm>
            <a:off x="897255" y="2530099"/>
            <a:ext cx="628650" cy="1630421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60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Prod. $1.000</a:t>
            </a:r>
            <a:endParaRPr lang="en-US" sz="750" dirty="0"/>
          </a:p>
        </p:txBody>
      </p:sp>
      <p:sp>
        <p:nvSpPr>
          <p:cNvPr id="26" name="label_fb_top_1"/>
          <p:cNvSpPr/>
          <p:nvPr/>
        </p:nvSpPr>
        <p:spPr>
          <a:xfrm>
            <a:off x="714375" y="2312219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526K</a:t>
            </a:r>
            <a:endParaRPr lang="en-US" sz="750" dirty="0"/>
          </a:p>
        </p:txBody>
      </p:sp>
      <p:sp>
        <p:nvSpPr>
          <p:cNvPr id="27" name="bar_fb_top_2"/>
          <p:cNvSpPr/>
          <p:nvPr/>
        </p:nvSpPr>
        <p:spPr>
          <a:xfrm>
            <a:off x="2040255" y="2585893"/>
            <a:ext cx="628650" cy="1574627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903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Máscara Bubble</a:t>
            </a:r>
            <a:endParaRPr lang="en-US" sz="750" dirty="0"/>
          </a:p>
        </p:txBody>
      </p:sp>
      <p:sp>
        <p:nvSpPr>
          <p:cNvPr id="29" name="label_fb_top_2"/>
          <p:cNvSpPr/>
          <p:nvPr/>
        </p:nvSpPr>
        <p:spPr>
          <a:xfrm>
            <a:off x="1857375" y="2368013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508K</a:t>
            </a:r>
            <a:endParaRPr lang="en-US" sz="750" dirty="0"/>
          </a:p>
        </p:txBody>
      </p:sp>
      <p:sp>
        <p:nvSpPr>
          <p:cNvPr id="30" name="bar_fb_top_3"/>
          <p:cNvSpPr/>
          <p:nvPr/>
        </p:nvSpPr>
        <p:spPr>
          <a:xfrm>
            <a:off x="3183255" y="2514600"/>
            <a:ext cx="628650" cy="164592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3046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SAMY</a:t>
            </a:r>
            <a:endParaRPr lang="en-US" sz="750" dirty="0"/>
          </a:p>
        </p:txBody>
      </p:sp>
      <p:sp>
        <p:nvSpPr>
          <p:cNvPr id="32" name="label_fb_top_3"/>
          <p:cNvSpPr/>
          <p:nvPr/>
        </p:nvSpPr>
        <p:spPr>
          <a:xfrm>
            <a:off x="3000375" y="2296720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531K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480560" y="2118735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Formatos publicados</a:t>
            </a:r>
            <a:endParaRPr lang="en-US" sz="950" dirty="0"/>
          </a:p>
        </p:txBody>
      </p:sp>
      <p:sp>
        <p:nvSpPr>
          <p:cNvPr id="34" name="bar_fb_format_stories"/>
          <p:cNvSpPr/>
          <p:nvPr/>
        </p:nvSpPr>
        <p:spPr>
          <a:xfrm>
            <a:off x="4660583" y="2514600"/>
            <a:ext cx="440055" cy="1645920"/>
          </a:xfrm>
          <a:prstGeom prst="rect">
            <a:avLst/>
          </a:prstGeom>
          <a:solidFill>
            <a:srgbClr val="FF6BBF"/>
          </a:solidFill>
          <a:ln w="12700">
            <a:solidFill>
              <a:srgbClr val="FF6B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45234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Stories</a:t>
            </a:r>
            <a:endParaRPr lang="en-US" sz="750" dirty="0"/>
          </a:p>
        </p:txBody>
      </p:sp>
      <p:sp>
        <p:nvSpPr>
          <p:cNvPr id="36" name="label_fb_format_stories"/>
          <p:cNvSpPr/>
          <p:nvPr/>
        </p:nvSpPr>
        <p:spPr>
          <a:xfrm>
            <a:off x="4477703" y="2296720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19</a:t>
            </a:r>
            <a:endParaRPr lang="en-US" sz="750" dirty="0"/>
          </a:p>
        </p:txBody>
      </p:sp>
      <p:sp>
        <p:nvSpPr>
          <p:cNvPr id="37" name="bar_fb_format_reels"/>
          <p:cNvSpPr/>
          <p:nvPr/>
        </p:nvSpPr>
        <p:spPr>
          <a:xfrm>
            <a:off x="5460683" y="3380874"/>
            <a:ext cx="440055" cy="779646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53235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Reels</a:t>
            </a:r>
            <a:endParaRPr lang="en-US" sz="750" dirty="0"/>
          </a:p>
        </p:txBody>
      </p:sp>
      <p:sp>
        <p:nvSpPr>
          <p:cNvPr id="39" name="label_fb_format_reels"/>
          <p:cNvSpPr/>
          <p:nvPr/>
        </p:nvSpPr>
        <p:spPr>
          <a:xfrm>
            <a:off x="5277803" y="3162994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9</a:t>
            </a:r>
            <a:endParaRPr lang="en-US" sz="750" dirty="0"/>
          </a:p>
        </p:txBody>
      </p:sp>
      <p:sp>
        <p:nvSpPr>
          <p:cNvPr id="40" name="bar_fb_format_carousels"/>
          <p:cNvSpPr/>
          <p:nvPr/>
        </p:nvSpPr>
        <p:spPr>
          <a:xfrm>
            <a:off x="6260783" y="3987266"/>
            <a:ext cx="440055" cy="173254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1236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Carruseles</a:t>
            </a:r>
            <a:endParaRPr lang="en-US" sz="750" dirty="0"/>
          </a:p>
        </p:txBody>
      </p:sp>
      <p:sp>
        <p:nvSpPr>
          <p:cNvPr id="42" name="label_fb_format_carousels"/>
          <p:cNvSpPr/>
          <p:nvPr/>
        </p:nvSpPr>
        <p:spPr>
          <a:xfrm>
            <a:off x="6077903" y="3769386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</a:t>
            </a:r>
            <a:endParaRPr lang="en-US" sz="750" dirty="0"/>
          </a:p>
        </p:txBody>
      </p:sp>
      <p:sp>
        <p:nvSpPr>
          <p:cNvPr id="43" name="bar_fb_format_post"/>
          <p:cNvSpPr/>
          <p:nvPr/>
        </p:nvSpPr>
        <p:spPr>
          <a:xfrm>
            <a:off x="7060883" y="4073893"/>
            <a:ext cx="440055" cy="86627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9237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Post</a:t>
            </a:r>
            <a:endParaRPr lang="en-US" sz="750" dirty="0"/>
          </a:p>
        </p:txBody>
      </p:sp>
      <p:sp>
        <p:nvSpPr>
          <p:cNvPr id="45" name="label_fb_format_post"/>
          <p:cNvSpPr/>
          <p:nvPr/>
        </p:nvSpPr>
        <p:spPr>
          <a:xfrm>
            <a:off x="6878003" y="3856013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8138160" y="1508760"/>
            <a:ext cx="2834640" cy="3611880"/>
          </a:xfrm>
          <a:prstGeom prst="roundRect">
            <a:avLst>
              <a:gd name="adj" fmla="val 258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8366760" y="1783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Lectura visual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366760" y="2194560"/>
            <a:ext cx="228600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Facebook sigue siendo el canal de comunidad más grande. Las piezas de oferta generan mayor reacción y conversación, especialmente cuando el beneficio es directo.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366760" y="36758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008B"/>
                </a:solidFill>
              </a:rPr>
              <a:t>Nota de data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366760" y="4041648"/>
            <a:ext cx="22860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Las stories no tienen totales completos por error de plataforma antes del 20 de marzo.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TikTok: motor de visibilidad y autenticidad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30.120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950345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1FA37A"/>
                </a:solidFill>
              </a:rPr>
              <a:t>+2.768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4.522.490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87490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15,7%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17.148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18888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7,8%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FA37A"/>
                </a:solidFill>
              </a:rPr>
              <a:t>0,9%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0407" y="1948881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1FA37A"/>
                </a:solidFill>
              </a:rPr>
              <a:t>antes 0,7%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18735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Público por edad</a:t>
            </a:r>
            <a:endParaRPr lang="en-US" sz="950" dirty="0"/>
          </a:p>
        </p:txBody>
      </p:sp>
      <p:sp>
        <p:nvSpPr>
          <p:cNvPr id="24" name="bar_tt_age_18_24"/>
          <p:cNvSpPr/>
          <p:nvPr/>
        </p:nvSpPr>
        <p:spPr>
          <a:xfrm>
            <a:off x="804672" y="2514600"/>
            <a:ext cx="402336" cy="160020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6751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18-24</a:t>
            </a:r>
            <a:endParaRPr lang="en-US" sz="750" dirty="0"/>
          </a:p>
        </p:txBody>
      </p:sp>
      <p:sp>
        <p:nvSpPr>
          <p:cNvPr id="26" name="label_tt_age_18_24"/>
          <p:cNvSpPr/>
          <p:nvPr/>
        </p:nvSpPr>
        <p:spPr>
          <a:xfrm>
            <a:off x="621792" y="229672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36%</a:t>
            </a:r>
            <a:endParaRPr lang="en-US" sz="750" dirty="0"/>
          </a:p>
        </p:txBody>
      </p:sp>
      <p:sp>
        <p:nvSpPr>
          <p:cNvPr id="27" name="bar_tt_age_25_34"/>
          <p:cNvSpPr/>
          <p:nvPr/>
        </p:nvSpPr>
        <p:spPr>
          <a:xfrm>
            <a:off x="1536192" y="2692400"/>
            <a:ext cx="402336" cy="142240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39903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25-34</a:t>
            </a:r>
            <a:endParaRPr lang="en-US" sz="750" dirty="0"/>
          </a:p>
        </p:txBody>
      </p:sp>
      <p:sp>
        <p:nvSpPr>
          <p:cNvPr id="29" name="label_tt_age_25_34"/>
          <p:cNvSpPr/>
          <p:nvPr/>
        </p:nvSpPr>
        <p:spPr>
          <a:xfrm>
            <a:off x="1353312" y="247452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32%</a:t>
            </a:r>
            <a:endParaRPr lang="en-US" sz="750" dirty="0"/>
          </a:p>
        </p:txBody>
      </p:sp>
      <p:sp>
        <p:nvSpPr>
          <p:cNvPr id="30" name="bar_tt_age_35_44"/>
          <p:cNvSpPr/>
          <p:nvPr/>
        </p:nvSpPr>
        <p:spPr>
          <a:xfrm>
            <a:off x="2267712" y="3536950"/>
            <a:ext cx="402336" cy="57785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213055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35-44</a:t>
            </a:r>
            <a:endParaRPr lang="en-US" sz="750" dirty="0"/>
          </a:p>
        </p:txBody>
      </p:sp>
      <p:sp>
        <p:nvSpPr>
          <p:cNvPr id="32" name="label_tt_age_35_44"/>
          <p:cNvSpPr/>
          <p:nvPr/>
        </p:nvSpPr>
        <p:spPr>
          <a:xfrm>
            <a:off x="2084832" y="331907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13%</a:t>
            </a:r>
            <a:endParaRPr lang="en-US" sz="750" dirty="0"/>
          </a:p>
        </p:txBody>
      </p:sp>
      <p:sp>
        <p:nvSpPr>
          <p:cNvPr id="33" name="bar_tt_age_45_54"/>
          <p:cNvSpPr/>
          <p:nvPr/>
        </p:nvSpPr>
        <p:spPr>
          <a:xfrm>
            <a:off x="2999232" y="3759200"/>
            <a:ext cx="402336" cy="355600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286207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45-54</a:t>
            </a:r>
            <a:endParaRPr lang="en-US" sz="750" dirty="0"/>
          </a:p>
        </p:txBody>
      </p:sp>
      <p:sp>
        <p:nvSpPr>
          <p:cNvPr id="35" name="label_tt_age_45_54"/>
          <p:cNvSpPr/>
          <p:nvPr/>
        </p:nvSpPr>
        <p:spPr>
          <a:xfrm>
            <a:off x="2816352" y="354132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8%</a:t>
            </a:r>
            <a:endParaRPr lang="en-US" sz="750" dirty="0"/>
          </a:p>
        </p:txBody>
      </p:sp>
      <p:sp>
        <p:nvSpPr>
          <p:cNvPr id="36" name="bar_tt_age_55"/>
          <p:cNvSpPr/>
          <p:nvPr/>
        </p:nvSpPr>
        <p:spPr>
          <a:xfrm>
            <a:off x="3730752" y="3670300"/>
            <a:ext cx="402336" cy="444500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359359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55+</a:t>
            </a:r>
            <a:endParaRPr lang="en-US" sz="750" dirty="0"/>
          </a:p>
        </p:txBody>
      </p:sp>
      <p:sp>
        <p:nvSpPr>
          <p:cNvPr id="38" name="label_tt_age_55"/>
          <p:cNvSpPr/>
          <p:nvPr/>
        </p:nvSpPr>
        <p:spPr>
          <a:xfrm>
            <a:off x="3547872" y="345242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10%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709160" y="2118735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3: interacciones</a:t>
            </a:r>
            <a:endParaRPr lang="en-US" sz="950" dirty="0"/>
          </a:p>
        </p:txBody>
      </p:sp>
      <p:sp>
        <p:nvSpPr>
          <p:cNvPr id="40" name="bar_tt_top_1"/>
          <p:cNvSpPr/>
          <p:nvPr/>
        </p:nvSpPr>
        <p:spPr>
          <a:xfrm>
            <a:off x="4959477" y="2514600"/>
            <a:ext cx="611886" cy="160020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482231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Maquillaje principiantes</a:t>
            </a:r>
            <a:endParaRPr lang="en-US" sz="750" dirty="0"/>
          </a:p>
        </p:txBody>
      </p:sp>
      <p:sp>
        <p:nvSpPr>
          <p:cNvPr id="42" name="label_tt_top_1"/>
          <p:cNvSpPr/>
          <p:nvPr/>
        </p:nvSpPr>
        <p:spPr>
          <a:xfrm>
            <a:off x="4776597" y="2296720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2.880</a:t>
            </a:r>
            <a:endParaRPr lang="en-US" sz="750" dirty="0"/>
          </a:p>
        </p:txBody>
      </p:sp>
      <p:sp>
        <p:nvSpPr>
          <p:cNvPr id="43" name="bar_tt_top_2"/>
          <p:cNvSpPr/>
          <p:nvPr/>
        </p:nvSpPr>
        <p:spPr>
          <a:xfrm>
            <a:off x="6071997" y="3764757"/>
            <a:ext cx="611886" cy="350043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593483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EGC Garnier</a:t>
            </a:r>
            <a:endParaRPr lang="en-US" sz="750" dirty="0"/>
          </a:p>
        </p:txBody>
      </p:sp>
      <p:sp>
        <p:nvSpPr>
          <p:cNvPr id="45" name="label_tt_top_2"/>
          <p:cNvSpPr/>
          <p:nvPr/>
        </p:nvSpPr>
        <p:spPr>
          <a:xfrm>
            <a:off x="5889117" y="3546877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630</a:t>
            </a:r>
            <a:endParaRPr lang="en-US" sz="750" dirty="0"/>
          </a:p>
        </p:txBody>
      </p:sp>
      <p:sp>
        <p:nvSpPr>
          <p:cNvPr id="46" name="bar_tt_top_3"/>
          <p:cNvSpPr/>
          <p:nvPr/>
        </p:nvSpPr>
        <p:spPr>
          <a:xfrm>
            <a:off x="7184517" y="3344149"/>
            <a:ext cx="611886" cy="770651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704735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UGC hábitos piel</a:t>
            </a:r>
            <a:endParaRPr lang="en-US" sz="750" dirty="0"/>
          </a:p>
        </p:txBody>
      </p:sp>
      <p:sp>
        <p:nvSpPr>
          <p:cNvPr id="48" name="label_tt_top_3"/>
          <p:cNvSpPr/>
          <p:nvPr/>
        </p:nvSpPr>
        <p:spPr>
          <a:xfrm>
            <a:off x="7001637" y="3126269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1.387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366760" y="1143000"/>
            <a:ext cx="2606040" cy="4297680"/>
          </a:xfrm>
          <a:prstGeom prst="roundRect">
            <a:avLst>
              <a:gd name="adj" fmla="val 2807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8595360" y="14173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Principio de contenido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595360" y="1828800"/>
            <a:ext cx="205740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Funciona cuando habla el lenguaje de la plataforma: auténtico, real, educativo y menos publicitario.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595360" y="31272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5CE7"/>
                </a:solidFill>
              </a:rPr>
              <a:t>Oportunidad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595360" y="3502152"/>
            <a:ext cx="2057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Replicar contenidos de trabajadoras y formatos con datos, precios y beneficios concretos. Potenciar CTA a comentar, guardar y seguir.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TikTok: mix creativo por objetivo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234440"/>
            <a:ext cx="5373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1426"/>
                </a:solidFill>
              </a:rPr>
              <a:t>Volumen para alcance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68796" y="1234440"/>
            <a:ext cx="46497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1426"/>
                </a:solidFill>
              </a:rPr>
              <a:t>Profundidad para interacción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1440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C5CE7"/>
                </a:solidFill>
              </a:rPr>
              <a:t>UGC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3,1M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82880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7.222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2880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32588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0,5%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32588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0584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Volumen, frecuencia y exposición continua.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5196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43484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B008B"/>
                </a:solidFill>
              </a:rPr>
              <a:t>EGC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29768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1,2M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29768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34924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2.166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4924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4632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0,6%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84632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52628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Cercanía, confianza y conversación con consejeras.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95528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94A"/>
                </a:solidFill>
              </a:rPr>
              <a:t>Extras y campañas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81812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0,3M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81812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86968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7.760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86968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36676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3,0%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36676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04672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Menor volumen, mayor engagement por oportunidad cultural.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68680" y="589788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426"/>
                </a:solidFill>
              </a:rPr>
              <a:t>Lectura: UGC debe seguir alimentando volumen; EGC debe usarse para confianza; campañas deben seleccionarse por oportunidad de conversación, no solo por calendario.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41503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Squad: menos volumen de perfiles grandes, buen amortiguador con Disley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 SQUAD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4.637.075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85598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5.568.079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2.020.826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851660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3.768.390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60.146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28032" y="185598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alta concentración Skar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3,0%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712" y="1822679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4,4%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21408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Views por integrante</a:t>
            </a:r>
            <a:endParaRPr lang="en-US" sz="950" dirty="0"/>
          </a:p>
        </p:txBody>
      </p:sp>
      <p:sp>
        <p:nvSpPr>
          <p:cNvPr id="24" name="bar_squad_views_skar"/>
          <p:cNvSpPr/>
          <p:nvPr/>
        </p:nvSpPr>
        <p:spPr>
          <a:xfrm>
            <a:off x="858679" y="2514600"/>
            <a:ext cx="534353" cy="173736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2151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Skarleth</a:t>
            </a:r>
            <a:endParaRPr lang="en-US" sz="750" dirty="0"/>
          </a:p>
        </p:txBody>
      </p:sp>
      <p:sp>
        <p:nvSpPr>
          <p:cNvPr id="26" name="label_squad_views_skar"/>
          <p:cNvSpPr/>
          <p:nvPr/>
        </p:nvSpPr>
        <p:spPr>
          <a:xfrm>
            <a:off x="675799" y="2296720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2,1M</a:t>
            </a:r>
            <a:endParaRPr lang="en-US" sz="750" dirty="0"/>
          </a:p>
        </p:txBody>
      </p:sp>
      <p:sp>
        <p:nvSpPr>
          <p:cNvPr id="27" name="bar_squad_views_busquilla"/>
          <p:cNvSpPr/>
          <p:nvPr/>
        </p:nvSpPr>
        <p:spPr>
          <a:xfrm>
            <a:off x="1830229" y="4177566"/>
            <a:ext cx="534353" cy="74394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69306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Busquilla</a:t>
            </a:r>
            <a:endParaRPr lang="en-US" sz="750" dirty="0"/>
          </a:p>
        </p:txBody>
      </p:sp>
      <p:sp>
        <p:nvSpPr>
          <p:cNvPr id="29" name="label_squad_views_busquilla"/>
          <p:cNvSpPr/>
          <p:nvPr/>
        </p:nvSpPr>
        <p:spPr>
          <a:xfrm>
            <a:off x="1647349" y="3959686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88K</a:t>
            </a:r>
            <a:endParaRPr lang="en-US" sz="750" dirty="0"/>
          </a:p>
        </p:txBody>
      </p:sp>
      <p:sp>
        <p:nvSpPr>
          <p:cNvPr id="30" name="bar_squad_views_cami"/>
          <p:cNvSpPr/>
          <p:nvPr/>
        </p:nvSpPr>
        <p:spPr>
          <a:xfrm>
            <a:off x="2801779" y="3565078"/>
            <a:ext cx="534353" cy="68688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266461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Cami</a:t>
            </a:r>
            <a:endParaRPr lang="en-US" sz="750" dirty="0"/>
          </a:p>
        </p:txBody>
      </p:sp>
      <p:sp>
        <p:nvSpPr>
          <p:cNvPr id="32" name="label_squad_views_cami"/>
          <p:cNvSpPr/>
          <p:nvPr/>
        </p:nvSpPr>
        <p:spPr>
          <a:xfrm>
            <a:off x="2618899" y="3347198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811K</a:t>
            </a:r>
            <a:endParaRPr lang="en-US" sz="750" dirty="0"/>
          </a:p>
        </p:txBody>
      </p:sp>
      <p:sp>
        <p:nvSpPr>
          <p:cNvPr id="33" name="bar_squad_views_disley"/>
          <p:cNvSpPr/>
          <p:nvPr/>
        </p:nvSpPr>
        <p:spPr>
          <a:xfrm>
            <a:off x="3773329" y="2824896"/>
            <a:ext cx="534353" cy="1427064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363616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Disley</a:t>
            </a:r>
            <a:endParaRPr lang="en-US" sz="750" dirty="0"/>
          </a:p>
        </p:txBody>
      </p:sp>
      <p:sp>
        <p:nvSpPr>
          <p:cNvPr id="35" name="label_squad_views_disley"/>
          <p:cNvSpPr/>
          <p:nvPr/>
        </p:nvSpPr>
        <p:spPr>
          <a:xfrm>
            <a:off x="3590449" y="2607016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1,7M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884610" y="212140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E.R. por integrante</a:t>
            </a:r>
            <a:endParaRPr lang="en-US" sz="950" dirty="0"/>
          </a:p>
        </p:txBody>
      </p:sp>
      <p:sp>
        <p:nvSpPr>
          <p:cNvPr id="37" name="bar_squad_er_skar"/>
          <p:cNvSpPr/>
          <p:nvPr/>
        </p:nvSpPr>
        <p:spPr>
          <a:xfrm>
            <a:off x="5082350" y="2514600"/>
            <a:ext cx="465201" cy="173736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494518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Skarleth</a:t>
            </a:r>
            <a:endParaRPr lang="en-US" sz="750" dirty="0"/>
          </a:p>
        </p:txBody>
      </p:sp>
      <p:sp>
        <p:nvSpPr>
          <p:cNvPr id="39" name="label_squad_er_skar"/>
          <p:cNvSpPr/>
          <p:nvPr/>
        </p:nvSpPr>
        <p:spPr>
          <a:xfrm>
            <a:off x="4899469" y="2296720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4,5%</a:t>
            </a:r>
            <a:endParaRPr lang="en-US" sz="750" dirty="0"/>
          </a:p>
        </p:txBody>
      </p:sp>
      <p:sp>
        <p:nvSpPr>
          <p:cNvPr id="40" name="bar_squad_er_busquilla"/>
          <p:cNvSpPr/>
          <p:nvPr/>
        </p:nvSpPr>
        <p:spPr>
          <a:xfrm>
            <a:off x="5928169" y="3827272"/>
            <a:ext cx="465201" cy="424688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579100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Busquilla</a:t>
            </a:r>
            <a:endParaRPr lang="en-US" sz="750" dirty="0"/>
          </a:p>
        </p:txBody>
      </p:sp>
      <p:sp>
        <p:nvSpPr>
          <p:cNvPr id="42" name="label_squad_er_busquilla"/>
          <p:cNvSpPr/>
          <p:nvPr/>
        </p:nvSpPr>
        <p:spPr>
          <a:xfrm>
            <a:off x="5745289" y="3609392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1,1%</a:t>
            </a:r>
            <a:endParaRPr lang="en-US" sz="750" dirty="0"/>
          </a:p>
        </p:txBody>
      </p:sp>
      <p:sp>
        <p:nvSpPr>
          <p:cNvPr id="43" name="bar_squad_er_cami"/>
          <p:cNvSpPr/>
          <p:nvPr/>
        </p:nvSpPr>
        <p:spPr>
          <a:xfrm>
            <a:off x="6773989" y="3943096"/>
            <a:ext cx="465201" cy="308864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63682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Cami</a:t>
            </a:r>
            <a:endParaRPr lang="en-US" sz="750" dirty="0"/>
          </a:p>
        </p:txBody>
      </p:sp>
      <p:sp>
        <p:nvSpPr>
          <p:cNvPr id="45" name="label_squad_er_cami"/>
          <p:cNvSpPr/>
          <p:nvPr/>
        </p:nvSpPr>
        <p:spPr>
          <a:xfrm>
            <a:off x="6591109" y="3725216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0,8%</a:t>
            </a:r>
            <a:endParaRPr lang="en-US" sz="750" dirty="0"/>
          </a:p>
        </p:txBody>
      </p:sp>
      <p:sp>
        <p:nvSpPr>
          <p:cNvPr id="46" name="bar_squad_er_disley"/>
          <p:cNvSpPr/>
          <p:nvPr/>
        </p:nvSpPr>
        <p:spPr>
          <a:xfrm>
            <a:off x="7619810" y="3402584"/>
            <a:ext cx="465201" cy="849376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7482650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Disley</a:t>
            </a:r>
            <a:endParaRPr lang="en-US" sz="750" dirty="0"/>
          </a:p>
        </p:txBody>
      </p:sp>
      <p:sp>
        <p:nvSpPr>
          <p:cNvPr id="48" name="label_squad_er_disley"/>
          <p:cNvSpPr/>
          <p:nvPr/>
        </p:nvSpPr>
        <p:spPr>
          <a:xfrm>
            <a:off x="7436930" y="3184704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2,2%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641080" y="1188720"/>
            <a:ext cx="2423160" cy="4297680"/>
          </a:xfrm>
          <a:prstGeom prst="roundRect">
            <a:avLst>
              <a:gd name="adj" fmla="val 3019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8887968" y="15087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Aprendizaje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887968" y="1965960"/>
            <a:ext cx="1901952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250" b="0">
                <a:solidFill>
                  <a:srgbClr val="FFFFFF"/>
                </a:solidFill>
                <a:latin typeface="Arial"/>
              </a:rPr>
              <a:t>Skar sostiene interacción alta; Disley abre volumen nuevo con tono humorístico y cercano. Para próximos meses, combinar perfiles de alto alcance con micro-nichos de expertise.</a:t>
            </a:r>
          </a:p>
        </p:txBody>
      </p:sp>
      <p:sp>
        <p:nvSpPr>
          <p:cNvPr id="52" name="Text 50"/>
          <p:cNvSpPr/>
          <p:nvPr/>
        </p:nvSpPr>
        <p:spPr>
          <a:xfrm>
            <a:off x="8887968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887968" y="4526280"/>
            <a:ext cx="190195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887968" y="4160520"/>
            <a:ext cx="19019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Presupuesto Squad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87968" y="4480560"/>
            <a:ext cx="19019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FFFFF"/>
                </a:solidFill>
                <a:latin typeface="Arial"/>
              </a:rPr>
              <a:t>$400K · antes $700K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87968" y="4800600"/>
            <a:ext cx="19019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Entregables por rostro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87968" y="5056632"/>
            <a:ext cx="1901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FFFFFF"/>
                </a:solidFill>
                <a:latin typeface="Arial"/>
              </a:rPr>
              <a:t>Skar: 3 · Busquilla: 4
Cami: 3 · Disley: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8142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MMPP: buen recibimiento y aporte a construcción de valor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1380744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96112" y="164592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3.336.786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938528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950" b="1">
                <a:solidFill>
                  <a:srgbClr val="616777"/>
                </a:solidFill>
                <a:latin typeface="Arial"/>
              </a:rPr>
              <a:t>marcas presentes + menciones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154680" y="12344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319272" y="1380744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319272" y="16459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1.443.025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19272" y="1934342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cuentas alcanzadas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39496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559552" y="138074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559552" y="164592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13.463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59552" y="1934342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comentarios positivos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52360" y="123444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616952" y="1380744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616952" y="1645920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FA37A"/>
                </a:solidFill>
              </a:rPr>
              <a:t>1,0%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616952" y="1934342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engagement de campaña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2484495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Mix de 14 contenidos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13841" y="2880360"/>
            <a:ext cx="578358" cy="164592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7668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IG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30961" y="265176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Instagram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065401" y="3429000"/>
            <a:ext cx="578358" cy="109728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92824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FB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82521" y="320040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Facebook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16961" y="3429000"/>
            <a:ext cx="578358" cy="109728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297980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934081" y="320040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TikTok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343400" y="2743200"/>
            <a:ext cx="6172200" cy="1920240"/>
          </a:xfrm>
          <a:prstGeom prst="roundRect">
            <a:avLst>
              <a:gd name="adj" fmla="val 381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4617720" y="3063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Lectura cualitativa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617720" y="3493008"/>
            <a:ext cx="544068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200" b="0">
                <a:solidFill>
                  <a:srgbClr val="10152B"/>
                </a:solidFill>
                <a:latin typeface="Arial"/>
              </a:rPr>
              <a:t>El mix permitió ampliar la presencia de marcas propias y menciones asociadas a calidad, precio y valor práctico. Para reforzar la lectura, se recomienda mostrar el ecosistema completo de marcas y no solo la pieza destacada.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617720" y="4434840"/>
            <a:ext cx="914400" cy="475488"/>
          </a:xfrm>
          <a:prstGeom prst="roundRect">
            <a:avLst>
              <a:gd name="adj" fmla="val 9615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4727448" y="454456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715000" y="4434840"/>
            <a:ext cx="914400" cy="475488"/>
          </a:xfrm>
          <a:prstGeom prst="roundRect">
            <a:avLst>
              <a:gd name="adj" fmla="val 9615"/>
            </a:avLst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5824728" y="454456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812280" y="4434840"/>
            <a:ext cx="1371600" cy="475488"/>
          </a:xfrm>
          <a:prstGeom prst="roundRect">
            <a:avLst>
              <a:gd name="adj" fmla="val 9615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922008" y="454456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68680" y="56692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1426"/>
                </a:solidFill>
              </a:rPr>
              <a:t>Próximo paso: convertir menciones de marca propia en “pruebas visuales” comparativas: antes/después, precio vs resultado, rutina completa.</a:t>
            </a:r>
            <a:endParaRPr lang="en-US" sz="1300" dirty="0"/>
          </a:p>
        </p:txBody>
      </p:sp>
      <p:sp>
        <p:nvSpPr>
          <p:cNvPr id="43" name="Rectangle 42"/>
          <p:cNvSpPr/>
          <p:nvPr/>
        </p:nvSpPr>
        <p:spPr>
          <a:xfrm>
            <a:off x="4480560" y="4261104"/>
            <a:ext cx="58064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617720" y="426110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6007E"/>
                </a:solidFill>
                <a:latin typeface="Arial"/>
              </a:rPr>
              <a:t>Marcas presentes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4535424"/>
            <a:ext cx="822960" cy="256032"/>
          </a:xfrm>
          <a:prstGeom prst="roundRect">
            <a:avLst/>
          </a:prstGeom>
          <a:solidFill>
            <a:srgbClr val="E60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SAMY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32120" y="4535424"/>
            <a:ext cx="1325880" cy="256032"/>
          </a:xfrm>
          <a:prstGeom prst="roundRect">
            <a:avLst/>
          </a:prstGeom>
          <a:solidFill>
            <a:srgbClr val="1015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69" b="1">
                <a:solidFill>
                  <a:srgbClr val="FFFFFF"/>
                </a:solidFill>
                <a:latin typeface="Arial"/>
              </a:rPr>
              <a:t>The Pure Solutions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949440" y="4535424"/>
            <a:ext cx="914400" cy="256032"/>
          </a:xfrm>
          <a:prstGeom prst="roundRect">
            <a:avLst/>
          </a:prstGeom>
          <a:solidFill>
            <a:srgbClr val="6B5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Face Facts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73568" y="4535424"/>
            <a:ext cx="658368" cy="256032"/>
          </a:xfrm>
          <a:prstGeom prst="roundRect">
            <a:avLst/>
          </a:prstGeom>
          <a:solidFill>
            <a:srgbClr val="E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10152B"/>
                </a:solidFill>
                <a:latin typeface="Arial"/>
              </a:rPr>
              <a:t>Wave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732520" y="4535424"/>
            <a:ext cx="960120" cy="256032"/>
          </a:xfrm>
          <a:prstGeom prst="roundRect">
            <a:avLst/>
          </a:prstGeom>
          <a:solidFill>
            <a:srgbClr val="E6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10152B"/>
                </a:solidFill>
                <a:latin typeface="Arial"/>
              </a:rPr>
              <a:t>Beauty 100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2700" b="1">
                <a:solidFill>
                  <a:srgbClr val="10152B"/>
                </a:solidFill>
                <a:latin typeface="Arial"/>
              </a:rPr>
              <a:t>Competencia: lectura cualitativa y oportunidad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91440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Facebook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A37A"/>
                </a:solidFill>
              </a:rPr>
              <a:t>Liderazgo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Maicao lidera comunidad; crecimiento estable, oportunidad en oferta y contenido gráfico.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5196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48056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Instagram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A300"/>
                </a:solidFill>
              </a:rPr>
              <a:t>Posición intermedia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8056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DBS domina estética; Maicao crece con contenido y creators.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1812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04672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TikTok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4363"/>
                </a:solidFill>
              </a:rPr>
              <a:t>Brecha de crecimiento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4672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Dr. Simi y el contenido social/humano marcan la conversación; Maicao tiene el mayor espacio para posicionarse.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5800" y="370332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SEÑALES DE LA COMPETENCIA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Preunic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965960" y="417880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1965960" y="4178808"/>
            <a:ext cx="2667000" cy="118872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25780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5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1520" y="450799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DBS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965960" y="454456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965960" y="4544568"/>
            <a:ext cx="2133600" cy="118872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5257800" y="450799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4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" y="48737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Blush-Bar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965960" y="491032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1965960" y="4910328"/>
            <a:ext cx="2667000" cy="11887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5257800" y="48737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1520" y="523951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Beauty Plus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965960" y="527608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1965960" y="5276088"/>
            <a:ext cx="1600200" cy="118872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5257800" y="523951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3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806440" y="3886200"/>
            <a:ext cx="5074920" cy="1463040"/>
          </a:xfrm>
          <a:prstGeom prst="roundRect">
            <a:avLst>
              <a:gd name="adj" fmla="val 5000"/>
            </a:avLst>
          </a:prstGeom>
          <a:solidFill>
            <a:srgbClr val="121426"/>
          </a:solidFill>
          <a:ln w="12700">
            <a:solidFill>
              <a:srgbClr val="121426"/>
            </a:solidFill>
            <a:prstDash val="solid"/>
          </a:ln>
        </p:spPr>
        <p:txBody>
          <a:bodyPr/>
          <a:lstStyle/>
          <a:p>
            <a:endParaRPr lang="es-CL" dirty="0"/>
          </a:p>
        </p:txBody>
      </p:sp>
      <p:sp>
        <p:nvSpPr>
          <p:cNvPr id="37" name="Text 35"/>
          <p:cNvSpPr/>
          <p:nvPr/>
        </p:nvSpPr>
        <p:spPr>
          <a:xfrm>
            <a:off x="6080760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Benchmark útil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080760" y="4526280"/>
            <a:ext cx="4434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Competidores activan Pinterest-like, creators, eventos y contenido humano. Maicao puede diferenciarse con utilidad + cercanía + retail expertise.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" y="3520440"/>
            <a:ext cx="1037844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13232" y="3675887"/>
            <a:ext cx="4709160" cy="1719072"/>
          </a:xfrm>
          <a:prstGeom prst="roundRect">
            <a:avLst/>
          </a:prstGeom>
          <a:solidFill>
            <a:srgbClr val="F7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4400" y="3822191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6007E"/>
                </a:solidFill>
                <a:latin typeface="Arial"/>
              </a:rPr>
              <a:t>Qué está haciendo la competencia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133087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40" b="0">
                <a:solidFill>
                  <a:srgbClr val="10152B"/>
                </a:solidFill>
                <a:latin typeface="Arial"/>
              </a:rPr>
              <a:t>Preunic: campañas tácticas + creators + activaciones.
DBS: estética aspiracional + eventos + contenido tipo Pinterest.
Blush-Bar: experiencias, alianzas y contenido lifestyle.
Beauty Plus: nichos y colaboraciones puntuales.
Dr. Simi: contenido humano/social con alta conexión emocional.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87568" y="3675887"/>
            <a:ext cx="4892040" cy="1719072"/>
          </a:xfrm>
          <a:prstGeom prst="roundRect">
            <a:avLst/>
          </a:prstGeom>
          <a:solidFill>
            <a:srgbClr val="F7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925312" y="3822191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6007E"/>
                </a:solidFill>
                <a:latin typeface="Arial"/>
              </a:rPr>
              <a:t>Lectura cualitativa / oportunidad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25312" y="4133087"/>
            <a:ext cx="4251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0152B"/>
                </a:solidFill>
                <a:latin typeface="Arial"/>
              </a:rPr>
              <a:t>La competencia está activando desde tres frentes: oferta, estética y vínculo humano.
Oportunidad Maicao: diferenciarse combinando utilidad, cercanía y expertise retail, especialmente en TT con contenido nativo y guardable.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2700" b="1">
                <a:solidFill>
                  <a:srgbClr val="10152B"/>
                </a:solidFill>
                <a:latin typeface="Arial"/>
              </a:rPr>
              <a:t>Plan visual de próximos 30 días · foco TT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86968" y="1545336"/>
            <a:ext cx="658368" cy="658368"/>
          </a:xfrm>
          <a:prstGeom prst="ellipse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86968" y="1700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0992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600" b="1">
                <a:solidFill>
                  <a:srgbClr val="10152B"/>
                </a:solidFill>
                <a:latin typeface="Arial"/>
              </a:rPr>
              <a:t>TT: Retención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09928" y="185623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100" b="0">
                <a:solidFill>
                  <a:srgbClr val="10152B"/>
                </a:solidFill>
                <a:latin typeface="Arial"/>
              </a:rPr>
              <a:t>Hooks de 3 segundos, captions con promesa clara y edición nativa para TikTok.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09928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008B"/>
                </a:solidFill>
              </a:rPr>
              <a:t>Meta: subir 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123444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327648" y="1545336"/>
            <a:ext cx="658368" cy="658368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327648" y="1700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5060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600" b="1">
                <a:solidFill>
                  <a:srgbClr val="10152B"/>
                </a:solidFill>
                <a:latin typeface="Arial"/>
              </a:rPr>
              <a:t>TT: Contenido útil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150608" y="185623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100" b="0">
                <a:solidFill>
                  <a:srgbClr val="10152B"/>
                </a:solidFill>
                <a:latin typeface="Arial"/>
              </a:rPr>
              <a:t>Series guardables en TT: tutoriales, hacks, precio vs resultado y rutinas rápidas.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50608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5CE7"/>
                </a:solidFill>
              </a:rPr>
              <a:t>Meta: más guardados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85800" y="338328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886968" y="3694176"/>
            <a:ext cx="658368" cy="658368"/>
          </a:xfrm>
          <a:prstGeom prst="ellipse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6968" y="3849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70992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600" b="1">
                <a:solidFill>
                  <a:srgbClr val="10152B"/>
                </a:solidFill>
                <a:latin typeface="Arial"/>
              </a:rPr>
              <a:t>TT: Conversación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709928" y="400507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100" b="0">
                <a:solidFill>
                  <a:srgbClr val="10152B"/>
                </a:solidFill>
                <a:latin typeface="Arial"/>
              </a:rPr>
              <a:t>CTA de comentario, votación y preguntas simples para activar participación real en TT.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09928" y="4617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294A"/>
                </a:solidFill>
              </a:rPr>
              <a:t>Meta: interacción real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26480" y="338328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327648" y="3694176"/>
            <a:ext cx="658368" cy="658368"/>
          </a:xfrm>
          <a:prstGeom prst="ellipse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327648" y="3849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5060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600" b="1">
                <a:solidFill>
                  <a:srgbClr val="10152B"/>
                </a:solidFill>
                <a:latin typeface="Arial"/>
              </a:rPr>
              <a:t>TT: Nichos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150608" y="400507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1100" b="0">
                <a:solidFill>
                  <a:srgbClr val="10152B"/>
                </a:solidFill>
                <a:latin typeface="Arial"/>
              </a:rPr>
              <a:t>Talentos de skincare, maquillaje pro y Gen Z para micro-comunidades con alto potencial.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50608" y="4617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9A300"/>
                </a:solidFill>
              </a:rPr>
              <a:t>Meta: relevancia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5800" y="5742432"/>
            <a:ext cx="10195560" cy="475488"/>
          </a:xfrm>
          <a:prstGeom prst="roundRect">
            <a:avLst>
              <a:gd name="adj" fmla="val 11538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1005840" y="5897880"/>
            <a:ext cx="9509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10152B"/>
                </a:solidFill>
                <a:latin typeface="Arial"/>
              </a:rPr>
              <a:t>KPIs de control TT: retención de video · guardados · comentarios · crecimiento seguidores · ratio paid/orgánico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1399</Words>
  <Application>Microsoft Macintosh PowerPoint</Application>
  <PresentationFormat>Panorámica</PresentationFormat>
  <Paragraphs>370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FAMOSOS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Reporte Mensual Maicao Marzo 2026</dc:title>
  <dc:subject>Reporte Mensual Maicao Marzo 2026 - rediseño visual</dc:subject>
  <dc:creator>OpenAI</dc:creator>
  <cp:lastModifiedBy>Microsoft Office User</cp:lastModifiedBy>
  <cp:revision>5</cp:revision>
  <dcterms:created xsi:type="dcterms:W3CDTF">2026-05-12T11:56:18Z</dcterms:created>
  <dcterms:modified xsi:type="dcterms:W3CDTF">2026-05-13T05:58:38Z</dcterms:modified>
</cp:coreProperties>
</file>