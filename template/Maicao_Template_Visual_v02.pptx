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471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12344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REPORTE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EB00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MENSUAL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77824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1426"/>
                </a:solidFill>
              </a:rPr>
              <a:t>Levantamiento y análisis de plataformas digitales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3429000"/>
            <a:ext cx="2468880" cy="347472"/>
          </a:xfrm>
          <a:prstGeom prst="rect">
            <a:avLst/>
          </a:prstGeom>
          <a:solidFill>
            <a:srgbClr val="EB008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Maicao · Marzo 2026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77824" y="59984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280"/>
                </a:solidFill>
              </a:rPr>
              <a:t>Versión reestructurada para lectura ejecutiva y visual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502920"/>
            <a:ext cx="3566160" cy="3566160"/>
          </a:xfrm>
          <a:prstGeom prst="arc">
            <a:avLst/>
          </a:prstGeom>
          <a:noFill/>
          <a:ln w="12700">
            <a:solidFill>
              <a:srgbClr val="EB008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43800" y="1143000"/>
            <a:ext cx="1691640" cy="1691640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16952" y="1616659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16.5M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16952" y="2124151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235440" y="2331720"/>
            <a:ext cx="1508760" cy="1508760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08592" y="2754173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8.2M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308592" y="3206801"/>
            <a:ext cx="1362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Alcance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909560" y="3794760"/>
            <a:ext cx="1325880" cy="1325880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82712" y="4166006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110.7K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982712" y="456377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FFFFF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0195560" y="6080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B008B"/>
                </a:solidFill>
              </a:rPr>
              <a:t>maicao+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Dashboard ejecutivo: 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58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16.486.179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192024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+24,5% vs febrero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880360" y="1170432"/>
            <a:ext cx="214884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131673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044952" y="1581912"/>
            <a:ext cx="1819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8.211.420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044952" y="1926465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+0,2%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6636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ENGAGEMENT RATE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3095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1,3%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314819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-55,2%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132320" y="1170432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96912" y="131673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296912" y="1581912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110.695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96912" y="192646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-56,3% vs febrero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9098280" y="1170432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1316736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INVERSIÓN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262872" y="1581912"/>
            <a:ext cx="1728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$3.800.400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62872" y="1915448"/>
            <a:ext cx="1728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+78,4% vs febrero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2423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LECTURA DE NEGOCIO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651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Febrero vs Marzo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66966" y="3302958"/>
            <a:ext cx="666369" cy="172624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980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Feb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84085" y="3074358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13,2M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078546" y="2880360"/>
            <a:ext cx="666369" cy="21488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41386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Views Mar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895666" y="2651760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16,5M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290125" y="4998481"/>
            <a:ext cx="666369" cy="30719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5296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Feb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107245" y="4769881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235,7K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501706" y="5014772"/>
            <a:ext cx="666369" cy="14428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4545" y="5102352"/>
            <a:ext cx="94068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Inter Mar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318826" y="4786172"/>
            <a:ext cx="103212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110,7K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806440" y="2651760"/>
            <a:ext cx="5440680" cy="2423160"/>
          </a:xfrm>
          <a:prstGeom prst="roundRect">
            <a:avLst>
              <a:gd name="adj" fmla="val 3019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44768" y="3063240"/>
            <a:ext cx="4709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La inversión amplificó la visibilidad, pero el engagement cayó por cambio de contexto: de festivales/verano a vuelta a la rutina. La prioridad ahora es retención y conversación, no solo alcance.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144768" y="4343400"/>
            <a:ext cx="1691640" cy="475488"/>
          </a:xfrm>
          <a:prstGeom prst="roundRect">
            <a:avLst>
              <a:gd name="adj" fmla="val 9615"/>
            </a:avLst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4453128"/>
            <a:ext cx="1472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Más alcance pagado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01000" y="4343400"/>
            <a:ext cx="1874520" cy="475488"/>
          </a:xfrm>
          <a:prstGeom prst="roundRect">
            <a:avLst>
              <a:gd name="adj" fmla="val 9615"/>
            </a:avLst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0728" y="4453128"/>
            <a:ext cx="1655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Menos chispa orgánica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040112" y="4343400"/>
            <a:ext cx="96012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49840" y="4453128"/>
            <a:ext cx="740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TikTok motor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cambió: de volumen a profundidad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1887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CAUSA → EFECTO → DECISIÓN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3152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Cambio de temporada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 conversación espontánea bajó al salir de hitos de alto interés como festivales/verano.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Feb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122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2.9%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9601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ER Mar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19456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4178808"/>
            <a:ext cx="614855" cy="118872"/>
          </a:xfrm>
          <a:prstGeom prst="rect">
            <a:avLst/>
          </a:prstGeom>
          <a:solidFill>
            <a:srgbClr val="C74363"/>
          </a:solidFill>
          <a:ln w="12700">
            <a:solidFill>
              <a:srgbClr val="C743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01124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1.3%</a:t>
            </a:r>
          </a:p>
        </p:txBody>
      </p:sp>
      <p:sp>
        <p:nvSpPr>
          <p:cNvPr id="20" name="Shape 18"/>
          <p:cNvSpPr/>
          <p:nvPr/>
        </p:nvSpPr>
        <p:spPr>
          <a:xfrm>
            <a:off x="384048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2628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Inversión crece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069080" y="2514600"/>
            <a:ext cx="233172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paid empuja visibilidad (+24,5% views), pero diluye la tasa al abrir públicos menos fidelizados.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06908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Feb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30352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03520" y="3813048"/>
            <a:ext cx="768737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64760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2.130.000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6908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Ppto Mar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4178808"/>
            <a:ext cx="13716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3605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3.800.400</a:t>
            </a:r>
          </a:p>
        </p:txBody>
      </p:sp>
      <p:sp>
        <p:nvSpPr>
          <p:cNvPr id="32" name="Shape 30"/>
          <p:cNvSpPr/>
          <p:nvPr/>
        </p:nvSpPr>
        <p:spPr>
          <a:xfrm>
            <a:off x="6949440" y="1600200"/>
            <a:ext cx="2880360" cy="338328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78040" y="1874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635240" y="190195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Nuevo mix creativo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514600"/>
            <a:ext cx="233172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EGC, UGC y creators acercan la marca. Los contenidos útiles y auténticos son los que más se guardan/comentan.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78040" y="377647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Feb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412480" y="381304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3813048"/>
            <a:ext cx="1230923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74438" y="37764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140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7804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Cont Mar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412480" y="4178808"/>
            <a:ext cx="1371600" cy="118872"/>
          </a:xfrm>
          <a:prstGeom prst="rect">
            <a:avLst/>
          </a:prstGeom>
          <a:solidFill>
            <a:srgbClr val="1FA37A"/>
          </a:solidFill>
          <a:ln w="12700">
            <a:solidFill>
              <a:srgbClr val="1FA37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85591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/>
              <a:t>156</a:t>
            </a:r>
          </a:p>
        </p:txBody>
      </p:sp>
      <p:sp>
        <p:nvSpPr>
          <p:cNvPr id="44" name="Shape 42"/>
          <p:cNvSpPr/>
          <p:nvPr/>
        </p:nvSpPr>
        <p:spPr>
          <a:xfrm>
            <a:off x="594360" y="5532120"/>
            <a:ext cx="10652760" cy="658368"/>
          </a:xfrm>
          <a:prstGeom prst="roundRect">
            <a:avLst>
              <a:gd name="adj" fmla="val 11111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68680" y="5705856"/>
            <a:ext cx="10104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Decisión recomendada: mantener escala, pero rediseñar el contenido para retener: hooks de 3 segundos + contenido útil + CTA conversacional.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Portafolio de canales: rol claro por plataforma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021455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Visualizaciones por canal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28116" y="1417320"/>
            <a:ext cx="704088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095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5236" y="118872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8,2M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208276" y="2585595"/>
            <a:ext cx="704088" cy="751965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7111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025396" y="2356995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3,2M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488436" y="2282508"/>
            <a:ext cx="704088" cy="105505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1276" y="3410712"/>
            <a:ext cx="978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305556" y="205390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4,5M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572000" y="1021455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Alcance por canal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818888" y="1417320"/>
            <a:ext cx="60350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36008" y="118872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4,0M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916168" y="2414186"/>
            <a:ext cx="603504" cy="92337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77900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33288" y="2185586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013448" y="2414500"/>
            <a:ext cx="603504" cy="92306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76288" y="3410712"/>
            <a:ext cx="877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830568" y="2185900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1,9M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8138160" y="1021455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canal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350758" y="1417320"/>
            <a:ext cx="519684" cy="192024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1359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Instagram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8167878" y="11887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1,4%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9295638" y="3063240"/>
            <a:ext cx="519684" cy="27432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5847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Facebook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112758" y="283464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0,2%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0240518" y="2103120"/>
            <a:ext cx="519684" cy="123444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03358" y="3410712"/>
            <a:ext cx="794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10057638" y="1874520"/>
            <a:ext cx="8854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0,9%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7724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012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B008B"/>
                </a:solidFill>
              </a:rPr>
              <a:t>Instagram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6012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Inspiración + cultura pop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6012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332.382 seguidores · 58.723 interacciones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34340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2628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94A"/>
                </a:solidFill>
              </a:rPr>
              <a:t>Facebook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452628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Comunidad masiva + ofertas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2628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565.501 seguidores · 4.656 interacciones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909560" y="4041648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2440" y="42519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C5CE7"/>
                </a:solidFill>
              </a:rPr>
              <a:t>TikTok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092440" y="4553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21426"/>
                </a:solidFill>
              </a:rPr>
              <a:t>Descubrimiento + contenido útil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092440" y="49011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E7280"/>
                </a:solidFill>
              </a:rPr>
              <a:t>30.120 seguidores · 17.148 interacciones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77240" y="5779008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IG concentra visibilidad e interacción; Facebook sostiene comunidad y alcance eficiente; TikTok es la apuesta de crecimiento cualitativo por autenticidad.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Instagram: visibilidad alta con engagement moderado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332.382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441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+1.389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CONTENIDOS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92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43200" y="184414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+10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5196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1655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1655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1,4%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16552" y="184414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3,2%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8521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167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0167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9A300"/>
                </a:solidFill>
              </a:rPr>
              <a:t>$1.670.000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16752" y="18441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$850.000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formatos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9536" y="2514600"/>
            <a:ext cx="536448" cy="155448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6656" y="22860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68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4896" y="3771900"/>
            <a:ext cx="536448" cy="29718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773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52016" y="354330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10256" y="3840480"/>
            <a:ext cx="536448" cy="22860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3096" y="4142232"/>
            <a:ext cx="810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27376" y="3611880"/>
            <a:ext cx="902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3977640" y="21075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 contenido / views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251960" y="2676492"/>
            <a:ext cx="670560" cy="139258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Bubble Maybelline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069080" y="2447892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1,51M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71160" y="3365201"/>
            <a:ext cx="670560" cy="703879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340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Check Bienvenida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88280" y="3136601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763K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690360" y="2514600"/>
            <a:ext cx="670560" cy="15544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3200" y="4142232"/>
            <a:ext cx="94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Make up SAMY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507480" y="2286000"/>
            <a:ext cx="103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38160" y="1143000"/>
            <a:ext cx="2880360" cy="4023360"/>
          </a:xfrm>
          <a:prstGeom prst="roundRect">
            <a:avLst>
              <a:gd name="adj" fmla="val 254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1248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Qué funcionó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412480" y="1828800"/>
            <a:ext cx="233172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Colaboraciones con creadoras: empujan comentarios desde sus comunidades.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Cultura pop y educativo: contenido tipo “Te enseño a…” genera valor y conversión.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• Audiencia femenina dominante: 92,3% mujeres; mayor foco 25-34.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412480" y="3611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Optimización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412480" y="3977640"/>
            <a:ext cx="23317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Pasar de piezas aisladas a series guardables: tutoriales, comparativas, hacks y CTA de conversación.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571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Facebook: liderazgo comunitario y respuesta a ofertas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565.501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31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+430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3.223.306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04350" y="1878045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+69% aprox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1.905.477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50892" y="187534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+63% aprox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0,2%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50570" y="1878045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0,3%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views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97255" y="2530709"/>
            <a:ext cx="628650" cy="1629811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0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Prod. $1.000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14375" y="2302109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526K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40255" y="2587401"/>
            <a:ext cx="628650" cy="1573119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03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Máscara Bubble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57375" y="2358801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508K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83255" y="2514600"/>
            <a:ext cx="628650" cy="164592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46095" y="4233672"/>
            <a:ext cx="9029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SAMY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000375" y="2286000"/>
            <a:ext cx="99441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531K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480560" y="2118735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Formatos publicados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0583" y="2514600"/>
            <a:ext cx="440055" cy="1645920"/>
          </a:xfrm>
          <a:prstGeom prst="rect">
            <a:avLst/>
          </a:prstGeom>
          <a:solidFill>
            <a:srgbClr val="FF6BBF"/>
          </a:solidFill>
          <a:ln w="12700">
            <a:solidFill>
              <a:srgbClr val="FF6B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234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Stories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477703" y="2286000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19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60683" y="3380874"/>
            <a:ext cx="440055" cy="779646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35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Reels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277803" y="3152274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9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260783" y="3987265"/>
            <a:ext cx="440055" cy="173255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236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Carruseles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077903" y="3758665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060883" y="4073893"/>
            <a:ext cx="440055" cy="86627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23723" y="4233672"/>
            <a:ext cx="7143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Post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878003" y="3845293"/>
            <a:ext cx="8058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8138160" y="1508760"/>
            <a:ext cx="2834640" cy="3611880"/>
          </a:xfrm>
          <a:prstGeom prst="roundRect">
            <a:avLst>
              <a:gd name="adj" fmla="val 2581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66760" y="178308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Lectura visual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366760" y="2194560"/>
            <a:ext cx="228600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Facebook sigue siendo el canal de comunidad más grande. Las piezas de oferta generan mayor reacción y conversación, especialmente cuando el beneficio es directo.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8366760" y="367588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008B"/>
                </a:solidFill>
              </a:rPr>
              <a:t>Nota de data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366760" y="4041648"/>
            <a:ext cx="22860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Las stories no tienen totales completos por error de plataforma antes del 20 de marzo.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motor de visibilidad y autenticidad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SEGUIDORES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30.120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+2.768 vs mes anterior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4.522.490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7490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+15,7% vs febrero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17.148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18888" y="1877193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+7,8% vs febrero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0,9%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0407" y="187572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FA37A"/>
                </a:solidFill>
              </a:rPr>
              <a:t>antes 0,7%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18735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Público por edad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" y="2514600"/>
            <a:ext cx="40233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18-24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21792" y="22860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36%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536192" y="2692400"/>
            <a:ext cx="402336" cy="142240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9903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25-34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353312" y="24638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32%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267712" y="3536950"/>
            <a:ext cx="402336" cy="57785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3055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35-44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084832" y="330835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13%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999232" y="3759200"/>
            <a:ext cx="402336" cy="355600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6207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45-54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2816352" y="35306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8%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0752" y="3670300"/>
            <a:ext cx="402336" cy="444500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93592" y="418795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55+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547872" y="3441700"/>
            <a:ext cx="768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10%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709160" y="2118735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Top 3: interacciones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959477" y="2514600"/>
            <a:ext cx="611886" cy="160020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231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Maquillaje principiantes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776597" y="2286000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2.880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071997" y="3764756"/>
            <a:ext cx="611886" cy="350044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3483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EGC Garnier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5889117" y="3536156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630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184517" y="3344148"/>
            <a:ext cx="611886" cy="77065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7357" y="4187952"/>
            <a:ext cx="8862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UGC hábitos piel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01637" y="3115548"/>
            <a:ext cx="9776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1.387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366760" y="1143000"/>
            <a:ext cx="2606040" cy="4297680"/>
          </a:xfrm>
          <a:prstGeom prst="roundRect">
            <a:avLst>
              <a:gd name="adj" fmla="val 2807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0" y="1417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1426"/>
                </a:solidFill>
              </a:rPr>
              <a:t>Principio de contenido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95360" y="1828800"/>
            <a:ext cx="205740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Funciona cuando habla el lenguaje de la plataforma: auténtico, real, educativo y menos publicitario.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595360" y="312724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</a:rPr>
              <a:t>Oportunidad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595360" y="3502152"/>
            <a:ext cx="2057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Replicar contenidos de trabajadoras y formatos con datos, precios y beneficios concretos. Potenciar CTA a comentar, guardar y seguir.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TikTok: mix creativo por objetivo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234440"/>
            <a:ext cx="53730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Volumen para alcance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68796" y="1234440"/>
            <a:ext cx="4649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1426"/>
                </a:solidFill>
              </a:rPr>
              <a:t>Profundidad para interacción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C5CE7"/>
                </a:solidFill>
              </a:rPr>
              <a:t>UGC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3,1M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2880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7.222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82880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C5CE7"/>
                </a:solidFill>
              </a:rPr>
              <a:t>0,5%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32588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0584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Volumen, frecuencia y exposición continua.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5196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008B"/>
                </a:solidFill>
              </a:rPr>
              <a:t>EGC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297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1,2M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297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34924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2.166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4632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B008B"/>
                </a:solidFill>
              </a:rPr>
              <a:t>0,6%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84632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52628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Cercanía, confianza y conversación con consejeras.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0" y="1691640"/>
            <a:ext cx="2926080" cy="3840480"/>
          </a:xfrm>
          <a:prstGeom prst="roundRect">
            <a:avLst>
              <a:gd name="adj" fmla="val 25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1947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94A"/>
                </a:solidFill>
              </a:rPr>
              <a:t>Extras y campañas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81812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0,3M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81812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views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869680" y="260604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7.760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0" y="295351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366760" y="3703320"/>
            <a:ext cx="1828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94A"/>
                </a:solidFill>
              </a:rPr>
              <a:t>3,0%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366760" y="4050792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046720" y="4709160"/>
            <a:ext cx="23317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Menor volumen, mayor engagement por oportunidad cultural.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68680" y="589788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1426"/>
                </a:solidFill>
              </a:rPr>
              <a:t>Lectura: UGC debe seguir alimentando volumen; EGC debe usarse para confianza; campañas deben seleccionarse por oportunidad de conversación, no solo por calendario.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41503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Squad: menos volumen de perfiles grandes, buen amortiguador con Disley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VIEWS SQUAD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4.637.075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5.568.079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5176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1635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81635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2.020.826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816352" y="1851660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3.768.390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4300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8032" y="128930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8032" y="155448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60.146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28032" y="1855986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alta concentración Skar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675120" y="1143000"/>
            <a:ext cx="141732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39712" y="1289304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39712" y="1554480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C74363"/>
                </a:solidFill>
              </a:rPr>
              <a:t>3,0%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839712" y="1822679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C74363"/>
                </a:solidFill>
              </a:rPr>
              <a:t>antes 4,4%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121408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Views por integrante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58679" y="2514600"/>
            <a:ext cx="534353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15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75799" y="2286000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2,05M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30229" y="4177566"/>
            <a:ext cx="534353" cy="74394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30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647349" y="394896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88K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801779" y="3565078"/>
            <a:ext cx="534353" cy="68688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461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18899" y="3336478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811K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773329" y="2824896"/>
            <a:ext cx="534353" cy="1427064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36169" y="4325112"/>
            <a:ext cx="8086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3590449" y="2596296"/>
            <a:ext cx="90011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1,69M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84610" y="212140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E.R. por integrante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82350" y="2514600"/>
            <a:ext cx="465201" cy="173736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4518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Skarleth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99469" y="2286000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4,5%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928169" y="3827272"/>
            <a:ext cx="465201" cy="424688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79100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Busquilla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745289" y="3598672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1,1%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73989" y="3943096"/>
            <a:ext cx="465201" cy="308864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36829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Cami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591109" y="3714496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0,8%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7619810" y="3402584"/>
            <a:ext cx="465201" cy="849376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82650" y="4325112"/>
            <a:ext cx="73952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Disley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436930" y="3173984"/>
            <a:ext cx="83096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2,2%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641080" y="1188720"/>
            <a:ext cx="2423160" cy="4297680"/>
          </a:xfrm>
          <a:prstGeom prst="roundRect">
            <a:avLst>
              <a:gd name="adj" fmla="val 3019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87968" y="150876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Aprendizaje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887968" y="1965960"/>
            <a:ext cx="1901952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Skar sostiene interacción alta; Disley abre volumen nuevo con tono humorístico y cercano. Para próximos meses, combinar perfiles de alto alcance con micro-nichos de expertise.</a:t>
            </a:r>
          </a:p>
        </p:txBody>
      </p:sp>
      <p:sp>
        <p:nvSpPr>
          <p:cNvPr id="52" name="Text 50"/>
          <p:cNvSpPr/>
          <p:nvPr/>
        </p:nvSpPr>
        <p:spPr>
          <a:xfrm>
            <a:off x="88879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Regla 70/20/10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887968" y="4526280"/>
            <a:ext cx="1901952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70% creators de performance, 20% nichos estratégicos, 10% apuestas en tendencia.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8142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MMPP: buen recibimiento y aporte a construcción de valor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234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380744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VISUALIZACIONES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96112" y="164592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EB008B"/>
                </a:solidFill>
              </a:rPr>
              <a:t>3.336.786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1938528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campaña SAMY + otras menciones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12344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380744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ALCANCE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319272" y="16459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20294A"/>
                </a:solidFill>
              </a:rPr>
              <a:t>1.443.025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319272" y="193434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cuentas alcanzadas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949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59552" y="138074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INTERACCIONES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559552" y="1645920"/>
            <a:ext cx="1499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6C5CE7"/>
                </a:solidFill>
              </a:rPr>
              <a:t>13.463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59552" y="1934342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comentarios positivos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23444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16952" y="138074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E7280"/>
                </a:solidFill>
              </a:rPr>
              <a:t>E.R.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616952" y="1645920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A37A"/>
                </a:solidFill>
              </a:rPr>
              <a:t>1,0%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616952" y="1934342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engagement de campaña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2484495"/>
            <a:ext cx="3154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21426"/>
                </a:solidFill>
              </a:rPr>
              <a:t>Mix de 14 contenidos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13841" y="2880360"/>
            <a:ext cx="578358" cy="1645920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668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IG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830961" y="265176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Instagram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2065401" y="3429000"/>
            <a:ext cx="578358" cy="1097280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2824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FB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88252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Facebook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116961" y="3429000"/>
            <a:ext cx="578358" cy="1097280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9801" y="4599432"/>
            <a:ext cx="85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E7280"/>
                </a:solidFill>
              </a:rPr>
              <a:t>TikTok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934081" y="3200400"/>
            <a:ext cx="9441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121426"/>
                </a:solidFill>
              </a:rPr>
              <a:t>TikTok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343400" y="2743200"/>
            <a:ext cx="6172200" cy="1920240"/>
          </a:xfrm>
          <a:prstGeom prst="roundRect">
            <a:avLst>
              <a:gd name="adj" fmla="val 3810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063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1426"/>
                </a:solidFill>
              </a:rPr>
              <a:t>Lectura cualitativa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617720" y="3493008"/>
            <a:ext cx="5440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El mix permitió ampliar la presencia de productos, con comentarios positivos asociados a calidad y precios. El contenido tiene potencial para crecer si se empaqueta en series de beneficios concretos.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61772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2744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Calidad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715000" y="4434840"/>
            <a:ext cx="914400" cy="475488"/>
          </a:xfrm>
          <a:prstGeom prst="roundRect">
            <a:avLst>
              <a:gd name="adj" fmla="val 9615"/>
            </a:avLst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4728" y="4544568"/>
            <a:ext cx="694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Precio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12280" y="4434840"/>
            <a:ext cx="1371600" cy="475488"/>
          </a:xfrm>
          <a:prstGeom prst="roundRect">
            <a:avLst>
              <a:gd name="adj" fmla="val 9615"/>
            </a:avLst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922008" y="454456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Valor práctico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68680" y="5669280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1426"/>
                </a:solidFill>
              </a:rPr>
              <a:t>Próximo paso: convertir menciones de marca propia en “pruebas visuales” comparativas: antes/después, precio vs resultado, rutina completa.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Competencia: dónde ganamos y dónde hay espacio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Facebook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A37A"/>
                </a:solidFill>
              </a:rPr>
              <a:t>Liderazgo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Maicao lidera comunidad; crecimiento estable, oportunidad en oferta y contenido gráfico.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5196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Instagram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9A300"/>
                </a:solidFill>
              </a:rPr>
              <a:t>Posición intermedia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DBS domina estética; Maicao crece con contenido y creators.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18120" y="1234440"/>
            <a:ext cx="3063240" cy="2057400"/>
          </a:xfrm>
          <a:prstGeom prst="roundRect">
            <a:avLst>
              <a:gd name="adj" fmla="val 3556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15544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1426"/>
                </a:solidFill>
              </a:rPr>
              <a:t>TikTok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0" y="193852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74363"/>
                </a:solidFill>
              </a:rPr>
              <a:t>Brecha de crecimiento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2359152"/>
            <a:ext cx="251460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Dr. Simi y el contenido social/humano marcan la conversación; Maicao tiene el mayor espacio para posicionarse.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370332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</a:rPr>
              <a:t>SEÑALES DE LA COMPETENCIA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14223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Preunic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965960" y="417880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65960" y="4178808"/>
            <a:ext cx="2667000" cy="118872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41422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31520" y="450799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DBS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965960" y="454456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65960" y="4544568"/>
            <a:ext cx="2133600" cy="118872"/>
          </a:xfrm>
          <a:prstGeom prst="rect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57800" y="450799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31520" y="48737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Blush-Bar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65960" y="491032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4910328"/>
            <a:ext cx="2667000" cy="118872"/>
          </a:xfrm>
          <a:prstGeom prst="rect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57800" y="48737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1520" y="52395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21426"/>
                </a:solidFill>
              </a:rPr>
              <a:t>Beauty Plus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965960" y="5276088"/>
            <a:ext cx="3200400" cy="118872"/>
          </a:xfrm>
          <a:prstGeom prst="rect">
            <a:avLst/>
          </a:prstGeom>
          <a:solidFill>
            <a:srgbClr val="E6E7EB"/>
          </a:solidFill>
          <a:ln w="12700">
            <a:solidFill>
              <a:srgbClr val="E6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65960" y="5276088"/>
            <a:ext cx="1600200" cy="118872"/>
          </a:xfrm>
          <a:prstGeom prst="rect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57800" y="523951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E7280"/>
                </a:solidFill>
              </a:rPr>
              <a:t>3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06440" y="3886200"/>
            <a:ext cx="5074920" cy="1463040"/>
          </a:xfrm>
          <a:prstGeom prst="roundRect">
            <a:avLst>
              <a:gd name="adj" fmla="val 5000"/>
            </a:avLst>
          </a:prstGeom>
          <a:solidFill>
            <a:srgbClr val="121426"/>
          </a:solidFill>
          <a:ln w="12700">
            <a:solidFill>
              <a:srgbClr val="121426"/>
            </a:solidFill>
            <a:prstDash val="solid"/>
          </a:ln>
        </p:spPr>
        <p:txBody>
          <a:bodyPr/>
          <a:lstStyle/>
          <a:p>
            <a:endParaRPr lang="es-CL" dirty="0"/>
          </a:p>
        </p:txBody>
      </p:sp>
      <p:sp>
        <p:nvSpPr>
          <p:cNvPr id="37" name="Text 35"/>
          <p:cNvSpPr/>
          <p:nvPr/>
        </p:nvSpPr>
        <p:spPr>
          <a:xfrm>
            <a:off x="6080760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Benchmark útil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080760" y="4526280"/>
            <a:ext cx="4434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Competidores activan Pinterest-like, creators, eventos y contenido humano. Maicao puede diferenciarse con utilidad + cercanía + retail expertise.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B00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MARZO 2026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3035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214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 visual de próximos 30 días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378440" y="3657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008B"/>
                </a:solidFill>
              </a:rPr>
              <a:t>maicao+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545336"/>
            <a:ext cx="658368" cy="658368"/>
          </a:xfrm>
          <a:prstGeom prst="ellipse">
            <a:avLst/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0992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Retención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0992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Hooks de 3 segundos, captions con promesa clara y edición nativa para cada plataforma.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0992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008B"/>
                </a:solidFill>
              </a:rPr>
              <a:t>Meta: subir 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123444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545336"/>
            <a:ext cx="658368" cy="658368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700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50608" y="1490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Contenido útil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150608" y="185623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Series guardables: tutoriales, hacks, “precio vs resultado”, rutinas y comparativas.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50608" y="24688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C5CE7"/>
                </a:solidFill>
              </a:rPr>
              <a:t>Meta: más guardados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968" y="3694176"/>
            <a:ext cx="658368" cy="658368"/>
          </a:xfrm>
          <a:prstGeom prst="ellipse">
            <a:avLst/>
          </a:prstGeom>
          <a:solidFill>
            <a:srgbClr val="20294A"/>
          </a:solidFill>
          <a:ln w="12700">
            <a:solidFill>
              <a:srgbClr val="2029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70992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Conversación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70992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CTA de comentario y votación. Preguntas directas por edad, necesidad y ocasión de uso.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0992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0294A"/>
                </a:solidFill>
              </a:rPr>
              <a:t>Meta: interacción real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26480" y="3383280"/>
            <a:ext cx="4892040" cy="1691640"/>
          </a:xfrm>
          <a:prstGeom prst="roundRect">
            <a:avLst>
              <a:gd name="adj" fmla="val 4324"/>
            </a:avLst>
          </a:prstGeom>
          <a:solidFill>
            <a:srgbClr val="F7F7FA"/>
          </a:solidFill>
          <a:ln w="12700">
            <a:solidFill>
              <a:srgbClr val="F7F7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27648" y="3694176"/>
            <a:ext cx="658368" cy="658368"/>
          </a:xfrm>
          <a:prstGeom prst="ellipse">
            <a:avLst/>
          </a:prstGeom>
          <a:solidFill>
            <a:srgbClr val="E9A300"/>
          </a:solidFill>
          <a:ln w="12700">
            <a:solidFill>
              <a:srgbClr val="E9A3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849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50608" y="36393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1426"/>
                </a:solidFill>
              </a:rPr>
              <a:t>Nichos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50608" y="4005072"/>
            <a:ext cx="33375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21426"/>
                </a:solidFill>
              </a:rPr>
              <a:t>Talentos de skincare, maquillaje pro y Gen Z. Activaciones ocasionales con perfiles en tendencia.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50608" y="46177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9A300"/>
                </a:solidFill>
              </a:rPr>
              <a:t>Meta: relevancia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800" y="5742432"/>
            <a:ext cx="10195560" cy="475488"/>
          </a:xfrm>
          <a:prstGeom prst="roundRect">
            <a:avLst>
              <a:gd name="adj" fmla="val 11538"/>
            </a:avLst>
          </a:prstGeom>
          <a:solidFill>
            <a:srgbClr val="EB008B"/>
          </a:solidFill>
          <a:ln w="12700">
            <a:solidFill>
              <a:srgbClr val="EB00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5840" y="5897880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KPIs de control: ER por formato · guardados por contenido · retención de video · crecimiento de seguidores · ratio paid/orgánico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1297</Words>
  <Application>Microsoft Macintosh PowerPoint</Application>
  <PresentationFormat>Panorámica</PresentationFormat>
  <Paragraphs>361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FAMOSOS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Mensual Maicao Marzo 2026</dc:title>
  <dc:subject>Reporte Mensual Maicao Marzo 2026 - rediseño visual</dc:subject>
  <dc:creator>OpenAI</dc:creator>
  <cp:lastModifiedBy>Microsoft Office User</cp:lastModifiedBy>
  <cp:revision>4</cp:revision>
  <dcterms:created xsi:type="dcterms:W3CDTF">2026-05-12T11:56:18Z</dcterms:created>
  <dcterms:modified xsi:type="dcterms:W3CDTF">2026-05-12T19:13:12Z</dcterms:modified>
</cp:coreProperties>
</file>